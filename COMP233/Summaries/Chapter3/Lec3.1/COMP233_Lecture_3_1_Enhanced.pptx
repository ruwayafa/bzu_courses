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244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rrar.info/courses/DMath/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uwaYafa/BZU_Courses/tree/main/COMP23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— Discrete Mathematics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" y="2194560"/>
            <a:ext cx="96012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8680" y="2770632"/>
            <a:ext cx="10533888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Predicates and Quantified Statements I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96112" y="4133088"/>
            <a:ext cx="9966960" cy="0"/>
          </a:xfrm>
          <a:prstGeom prst="line">
            <a:avLst/>
          </a:prstGeom>
          <a:noFill/>
          <a:ln w="19050">
            <a:solidFill>
              <a:srgbClr val="D5CB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 we need first-order logic?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5340096" cy="3383280"/>
          </a:xfrm>
          <a:prstGeom prst="roundRect">
            <a:avLst>
              <a:gd name="adj" fmla="val 4054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1792224"/>
            <a:ext cx="4937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PROPOSITIONAL LOGIC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2203704"/>
            <a:ext cx="4937760" cy="2660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2 treats whole statements as p, q, r.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them using ¬, ∧, ∨, →, ↔.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63056" y="1664208"/>
            <a:ext cx="5340096" cy="3383280"/>
          </a:xfrm>
          <a:prstGeom prst="roundRect">
            <a:avLst>
              <a:gd name="adj" fmla="val 4054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64224" y="1792224"/>
            <a:ext cx="4937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FIRST-ORDER LOGIC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64224" y="2203704"/>
            <a:ext cx="4937760" cy="2660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Describes objects, their properties, and relationships.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P(x), R(x,y), ∀, ∃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552" y="5294376"/>
            <a:ext cx="102870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“All people are mortal; Socrates is a person; therefore Socrates is mortal.”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learning journey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10332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 properties with predicates and variables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7240" y="2322576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2322576"/>
            <a:ext cx="10332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Specify domains and evaluate truth sets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77240" y="2999232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2999232"/>
            <a:ext cx="10332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universal and existential quantifiers correctly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77240" y="3675888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3675888"/>
            <a:ext cx="10332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English ↔ mathematical notation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7240" y="4352544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43000" y="4352544"/>
            <a:ext cx="10332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conditionals and implicit quantification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43000" y="5029200"/>
            <a:ext cx="10332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statements in a finite Tarski world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Statements versus predicates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18488"/>
            <a:ext cx="5440680" cy="4434840"/>
          </a:xfrm>
          <a:prstGeom prst="roundRect">
            <a:avLst>
              <a:gd name="adj" fmla="val 309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" y="1746504"/>
            <a:ext cx="503834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 / PROPOSITION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" y="2157984"/>
            <a:ext cx="5038344" cy="3712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declarative sentence that is either true or false.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“2 + 3 = 5” → true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“7 + 3 = 5” → false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72200" y="1618488"/>
            <a:ext cx="5404104" cy="4434840"/>
          </a:xfrm>
          <a:prstGeom prst="roundRect">
            <a:avLst>
              <a:gd name="adj" fmla="val 309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3368" y="1746504"/>
            <a:ext cx="5001768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 / OPEN SENTENCE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73368" y="2157984"/>
            <a:ext cx="5001768" cy="3712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sentence with variable(s) that becomes a statement once the variables are assigned values or quantified.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P(x): “x is even”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 evaluation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10789920" cy="1152144"/>
          </a:xfrm>
          <a:prstGeom prst="roundRect">
            <a:avLst>
              <a:gd name="adj" fmla="val 11905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10195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P(x) :  x² &gt; x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10515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expression P(x) has an unspecified variable. Substitute an allowed value to obtain a proposition.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" y="3995928"/>
            <a:ext cx="7086600" cy="1920240"/>
          </a:xfrm>
          <a:prstGeom prst="roundRect">
            <a:avLst>
              <a:gd name="adj" fmla="val 714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4123944"/>
            <a:ext cx="66842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" y="4535424"/>
            <a:ext cx="6684264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P(2): 4 &gt; 2  → TRUE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P(1/2): 1/4 &gt; 1/2  → FALSE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0" y="3995928"/>
            <a:ext cx="3511296" cy="1920240"/>
          </a:xfrm>
          <a:prstGeom prst="roundRect">
            <a:avLst>
              <a:gd name="adj" fmla="val 714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4123944"/>
            <a:ext cx="3108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56448" y="4535424"/>
            <a:ext cx="3108960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is evaluated after input values are fixed.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Unary, binary, and n-ary predicates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18488"/>
            <a:ext cx="5440680" cy="4434840"/>
          </a:xfrm>
          <a:prstGeom prst="roundRect">
            <a:avLst>
              <a:gd name="adj" fmla="val 309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" y="1746504"/>
            <a:ext cx="503834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" y="2157984"/>
            <a:ext cx="5038344" cy="3712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arguments.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Unary: Student(x)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Binary: StudiesAt(x,y)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Ternary: Between(x,y,z)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172200" y="1618488"/>
            <a:ext cx="5404104" cy="4434840"/>
          </a:xfrm>
          <a:prstGeom prst="roundRect">
            <a:avLst>
              <a:gd name="adj" fmla="val 309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3368" y="1746504"/>
            <a:ext cx="5001768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73368" y="2157984"/>
            <a:ext cx="5001768" cy="3712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Student(Amjad)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StudiesAt(Amjad,BZU)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StudiesAt(Amjad,BZU,CS)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relation's name may be defined with different arities, but they are different predicates.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of a variable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10789920" cy="1152144"/>
          </a:xfrm>
          <a:prstGeom prst="roundRect">
            <a:avLst>
              <a:gd name="adj" fmla="val 11905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10195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set of admissible values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10515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predicate is interpreted relative to a specified domain D. Domain restriction can change truth sets and truth values.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" y="3995928"/>
            <a:ext cx="7086600" cy="1920240"/>
          </a:xfrm>
          <a:prstGeom prst="roundRect">
            <a:avLst>
              <a:gd name="adj" fmla="val 714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4123944"/>
            <a:ext cx="66842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" y="4535424"/>
            <a:ext cx="6684264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Q(n): “n divides 8”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positive integers  vs.  D = all integers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0" y="3995928"/>
            <a:ext cx="3511296" cy="1920240"/>
          </a:xfrm>
          <a:prstGeom prst="roundRect">
            <a:avLst>
              <a:gd name="adj" fmla="val 714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4123944"/>
            <a:ext cx="3108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56448" y="4535424"/>
            <a:ext cx="3108960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declare the domain, or make its context unambiguous.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sets depend on domains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36776"/>
            <a:ext cx="5330952" cy="3429000"/>
          </a:xfrm>
          <a:prstGeom prst="roundRect">
            <a:avLst>
              <a:gd name="adj" fmla="val 4000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7824" y="1764792"/>
            <a:ext cx="4928616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positive integers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" y="2176272"/>
            <a:ext cx="4928616" cy="2706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Q(n): n divides 8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set = {1, 2, 4, 8}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81344" y="1636776"/>
            <a:ext cx="5312664" cy="3429000"/>
          </a:xfrm>
          <a:prstGeom prst="roundRect">
            <a:avLst>
              <a:gd name="adj" fmla="val 4000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2512" y="1764792"/>
            <a:ext cx="4910328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all integers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82512" y="2176272"/>
            <a:ext cx="4910328" cy="2706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Q(n): n divides 8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set = {−8,−4,−2,−1,1,2,4,8}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5294376"/>
            <a:ext cx="1033272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set: {x ∈ D | P(x)}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Truth-set practice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645920"/>
            <a:ext cx="5715000" cy="4379976"/>
          </a:xfrm>
          <a:prstGeom prst="roundRect">
            <a:avLst>
              <a:gd name="adj" fmla="val 3132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773936"/>
            <a:ext cx="53126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P(x): x² &gt; 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185416"/>
            <a:ext cx="5312664" cy="365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{−1, 0, 1, 2, 3}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P(−1) TRUE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P(0) FALSE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P(1) FALSE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P(2) TRUE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P(3) TRUE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565392" y="1645920"/>
            <a:ext cx="4901184" cy="4379976"/>
          </a:xfrm>
          <a:prstGeom prst="roundRect">
            <a:avLst>
              <a:gd name="adj" fmla="val 3132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773936"/>
            <a:ext cx="4498848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ANSWER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2185416"/>
            <a:ext cx="4498848" cy="365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set = {−1, 2, 3}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a predicate need not be universally true to have a nonempty truth set.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quantifier: for all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10789920" cy="1152144"/>
          </a:xfrm>
          <a:prstGeom prst="roundRect">
            <a:avLst>
              <a:gd name="adj" fmla="val 11905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10195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D, P(x)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10515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statement: TRUE iff P(x) holds for every member of D.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" y="3995928"/>
            <a:ext cx="7086600" cy="1920240"/>
          </a:xfrm>
          <a:prstGeom prst="roundRect">
            <a:avLst>
              <a:gd name="adj" fmla="val 714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4123944"/>
            <a:ext cx="66842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" y="4535424"/>
            <a:ext cx="6684264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∀n ∈ ℤ, n² ≥ 0  → TRUE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0" y="3995928"/>
            <a:ext cx="3511296" cy="1920240"/>
          </a:xfrm>
          <a:prstGeom prst="roundRect">
            <a:avLst>
              <a:gd name="adj" fmla="val 714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4123944"/>
            <a:ext cx="3108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56448" y="4535424"/>
            <a:ext cx="3108960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counterexample is enough to make a universal statement false.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universal counterexample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10789920" cy="1152144"/>
          </a:xfrm>
          <a:prstGeom prst="roundRect">
            <a:avLst>
              <a:gd name="adj" fmla="val 11905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10195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ℝ, x² ≥ x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10515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disprove “for all,” identify ONE allowed input where the predicate is false.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" y="3995928"/>
            <a:ext cx="7086600" cy="1920240"/>
          </a:xfrm>
          <a:prstGeom prst="roundRect">
            <a:avLst>
              <a:gd name="adj" fmla="val 714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4123944"/>
            <a:ext cx="66842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" y="4535424"/>
            <a:ext cx="6684264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x = 1/2: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x² = 1/4, but 1/4 &lt; 1/2.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the claim is FALSE.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0" y="3995928"/>
            <a:ext cx="3511296" cy="1920240"/>
          </a:xfrm>
          <a:prstGeom prst="roundRect">
            <a:avLst>
              <a:gd name="adj" fmla="val 714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4123944"/>
            <a:ext cx="3108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56448" y="4535424"/>
            <a:ext cx="3108960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prove “for all” by checking only a few examples.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quantifier: there exists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10789920" cy="1152144"/>
          </a:xfrm>
          <a:prstGeom prst="roundRect">
            <a:avLst>
              <a:gd name="adj" fmla="val 11905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10195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D such that P(x)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10515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statement: TRUE iff at least one member of D satisfies P(x).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" y="3995928"/>
            <a:ext cx="7086600" cy="1920240"/>
          </a:xfrm>
          <a:prstGeom prst="roundRect">
            <a:avLst>
              <a:gd name="adj" fmla="val 714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4123944"/>
            <a:ext cx="66842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" y="4535424"/>
            <a:ext cx="6684264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∃m ∈ ℤ⁺ with m² = m.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Witness m = 1 gives 1² = 1.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0" y="3995928"/>
            <a:ext cx="3511296" cy="1920240"/>
          </a:xfrm>
          <a:prstGeom prst="roundRect">
            <a:avLst>
              <a:gd name="adj" fmla="val 714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4123944"/>
            <a:ext cx="3108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56448" y="4535424"/>
            <a:ext cx="3108960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witness proves a true existential claim.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Existential: contrasting cases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5349240" cy="3474720"/>
          </a:xfrm>
          <a:prstGeom prst="roundRect">
            <a:avLst>
              <a:gd name="adj" fmla="val 3947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1865376"/>
            <a:ext cx="494690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TRUE: CONSTRUCT A WITNESS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2276856"/>
            <a:ext cx="4946904" cy="27523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∃n ∈ ℤ with n² = n.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0 or n = 1 satisfies the claim.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81344" y="1737360"/>
            <a:ext cx="5349240" cy="3474720"/>
          </a:xfrm>
          <a:prstGeom prst="roundRect">
            <a:avLst>
              <a:gd name="adj" fmla="val 3947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2512" y="1865376"/>
            <a:ext cx="494690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FALSE: NO WITNESS EXISTS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82512" y="2276856"/>
            <a:ext cx="4946904" cy="27523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ℝ with x² = −1.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real x, x² ≥ 0, so no such x exists.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5404104"/>
            <a:ext cx="1033272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“Some” in mathematics means at least one, not necessarily two.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two quantifiers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5468112" cy="4434840"/>
          </a:xfrm>
          <a:prstGeom prst="roundRect">
            <a:avLst>
              <a:gd name="adj" fmla="val 309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1792224"/>
            <a:ext cx="5065776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  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2203704"/>
            <a:ext cx="5065776" cy="3712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Meaning: every x passes.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prove: justify all x.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disprove: find one counterexample.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∀x ∈ ℤ, x² ≥ 0.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236208" y="1664208"/>
            <a:ext cx="5303520" cy="4434840"/>
          </a:xfrm>
          <a:prstGeom prst="roundRect">
            <a:avLst>
              <a:gd name="adj" fmla="val 309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7376" y="1792224"/>
            <a:ext cx="4901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  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37376" y="2203704"/>
            <a:ext cx="4901184" cy="3712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Meaning: at least one x passes.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prove: exhibit one witness.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disprove: show none works.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∃x ∈ ℤ, x² = 1.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activity: decide and justify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1828800"/>
            <a:ext cx="10287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{1,2,3}, x² ≥ 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2770632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4440" y="2770632"/>
            <a:ext cx="10287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ℝ, x² ≥ x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3712464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3712464"/>
            <a:ext cx="10287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ℤ⁺, x² = x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4654296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4440" y="4654296"/>
            <a:ext cx="10287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ℤ, x² = −1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" y="5852160"/>
            <a:ext cx="1065276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claim: find either a justification, a witness, or a counterexample.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Verbalization: symbols → English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5440680" cy="4251960"/>
          </a:xfrm>
          <a:prstGeom prst="roundRect">
            <a:avLst>
              <a:gd name="adj" fmla="val 3226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1792224"/>
            <a:ext cx="503834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2203704"/>
            <a:ext cx="5038344" cy="35295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ℝ, x² ≥ 0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square of every real number is nonnegative.”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 real number has a square below zero.”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08776" y="1664208"/>
            <a:ext cx="5349240" cy="4251960"/>
          </a:xfrm>
          <a:prstGeom prst="roundRect">
            <a:avLst>
              <a:gd name="adj" fmla="val 3226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9944" y="1792224"/>
            <a:ext cx="494690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9944" y="2203704"/>
            <a:ext cx="4946904" cy="35295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∃m ∈ ℤ⁺, m² = m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“There is a positive integer equal to its own square.”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“Some positive integer equals its own square.”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Trailing quantifiers: equivalent English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64792"/>
            <a:ext cx="5394960" cy="3721608"/>
          </a:xfrm>
          <a:prstGeom prst="roundRect">
            <a:avLst>
              <a:gd name="adj" fmla="val 3686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1892808"/>
            <a:ext cx="499262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2304288"/>
            <a:ext cx="4992624" cy="2999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any integer n, 2n is even.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exists a real number x such that x² ≤ 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90488" y="1764792"/>
            <a:ext cx="5330952" cy="3721608"/>
          </a:xfrm>
          <a:prstGeom prst="roundRect">
            <a:avLst>
              <a:gd name="adj" fmla="val 3686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91656" y="1892808"/>
            <a:ext cx="4928616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TRAILING FORM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91656" y="2304288"/>
            <a:ext cx="4928616" cy="2999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 is even for any integer n.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x² ≤ 0 for some real number x.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5724144"/>
            <a:ext cx="10424160" cy="4480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wording changes; the logical claim does not.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Formalizing ordinary language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682496"/>
            <a:ext cx="5394960" cy="4526280"/>
          </a:xfrm>
          <a:prstGeom prst="roundRect">
            <a:avLst>
              <a:gd name="adj" fmla="val 3030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7824" y="1810512"/>
            <a:ext cx="499262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/ EVERY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" y="2221992"/>
            <a:ext cx="4992624" cy="3803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triangles have three sides.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(Triangle(x) → ThreeSides(x))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bytes contain eight bits.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(Byte(x) → EightBits(x))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08776" y="1682496"/>
            <a:ext cx="5303520" cy="4526280"/>
          </a:xfrm>
          <a:prstGeom prst="roundRect">
            <a:avLst>
              <a:gd name="adj" fmla="val 3030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9944" y="1810512"/>
            <a:ext cx="4901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/ THERE EXISTS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9944" y="2221992"/>
            <a:ext cx="4901184" cy="3803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programs are structured.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(Program(x) ∧ Structured(x))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exists an even prime.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∃n (Prime(n) ∧ Even(n))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Formalizing “No A is B”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73352"/>
            <a:ext cx="5486400" cy="4370832"/>
          </a:xfrm>
          <a:prstGeom prst="roundRect">
            <a:avLst>
              <a:gd name="adj" fmla="val 3138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1801368"/>
            <a:ext cx="50840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UNIVERSAL NEGATIVE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2212848"/>
            <a:ext cx="5084064" cy="3648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dogs have wings.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(Dog(x) → ¬HasWings(x))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“No” asserts an absence of counterexamples among the relevant objects.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36208" y="1673352"/>
            <a:ext cx="5266944" cy="4370832"/>
          </a:xfrm>
          <a:prstGeom prst="roundRect">
            <a:avLst>
              <a:gd name="adj" fmla="val 3138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7376" y="1801368"/>
            <a:ext cx="4864608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37376" y="2212848"/>
            <a:ext cx="4864608" cy="3648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fire trucks are green.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(FireTruck(x) → ¬Green(x))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claim about all fire trucks does NOT assert every object is a fire truck.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universal conditional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10789920" cy="1152144"/>
          </a:xfrm>
          <a:prstGeom prst="roundRect">
            <a:avLst>
              <a:gd name="adj" fmla="val 11905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10195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(P(x) → Q(x))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10515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universal conditional describes all objects satisfying a premise P(x) and asserts they also satisfy Q(x).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" y="3995928"/>
            <a:ext cx="7086600" cy="1920240"/>
          </a:xfrm>
          <a:prstGeom prst="roundRect">
            <a:avLst>
              <a:gd name="adj" fmla="val 714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4123944"/>
            <a:ext cx="66842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" y="4535424"/>
            <a:ext cx="6684264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“Every square is a rectangle.”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(Square(x) → Rectangle(x))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0" y="3995928"/>
            <a:ext cx="3511296" cy="1920240"/>
          </a:xfrm>
          <a:prstGeom prst="roundRect">
            <a:avLst>
              <a:gd name="adj" fmla="val 714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4123944"/>
            <a:ext cx="3108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56448" y="4535424"/>
            <a:ext cx="3108960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converse “Every rectangle is a square” is a DIFFERENT claim.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common translation error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1682496"/>
            <a:ext cx="5440680" cy="4160520"/>
          </a:xfrm>
          <a:prstGeom prst="roundRect">
            <a:avLst>
              <a:gd name="adj" fmla="val 3297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810512"/>
            <a:ext cx="503834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221992"/>
            <a:ext cx="5038344" cy="34381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“All Palestinians like za’atar.”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∀p (Palestinian(p) ∧ Likes(p,Zatar))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wrongly requires every domain object to be Palestinian.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236208" y="1682496"/>
            <a:ext cx="5248656" cy="4160520"/>
          </a:xfrm>
          <a:prstGeom prst="roundRect">
            <a:avLst>
              <a:gd name="adj" fmla="val 3297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7376" y="1810512"/>
            <a:ext cx="48463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37376" y="2221992"/>
            <a:ext cx="4846320" cy="34381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∀p (Palestinian(p) → Likes(p,Zatar))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specify the restricted domain: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∀p ∈ Palestinians, Likes(p,Zatar)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restrictions use conjunction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10789920" cy="1152144"/>
          </a:xfrm>
          <a:prstGeom prst="roundRect">
            <a:avLst>
              <a:gd name="adj" fmla="val 11905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10195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(A(x) ∧ B(x))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10515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A is B means that a single object satisfies BOTH A and B.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" y="3995928"/>
            <a:ext cx="7086600" cy="1920240"/>
          </a:xfrm>
          <a:prstGeom prst="roundRect">
            <a:avLst>
              <a:gd name="adj" fmla="val 7143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4123944"/>
            <a:ext cx="66842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" y="4535424"/>
            <a:ext cx="6684264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“Some person likes za’atar.”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∃p (Person(p) ∧ Likes(p,Zatar))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0" y="3995928"/>
            <a:ext cx="3511296" cy="1920240"/>
          </a:xfrm>
          <a:prstGeom prst="roundRect">
            <a:avLst>
              <a:gd name="adj" fmla="val 7143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4123944"/>
            <a:ext cx="3108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56448" y="4535424"/>
            <a:ext cx="3108960" cy="11978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switch ∧ and → merely because both predicates appear.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versus unrestricted notation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5440680" cy="4416552"/>
          </a:xfrm>
          <a:prstGeom prst="roundRect">
            <a:avLst>
              <a:gd name="adj" fmla="val 3106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1773936"/>
            <a:ext cx="503834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2185416"/>
            <a:ext cx="5038344" cy="36941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A, B(x)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∀x (A(x) → B(x))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∀x ∈ Squares, Rectangle(x).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227064" y="1645920"/>
            <a:ext cx="5285232" cy="4416552"/>
          </a:xfrm>
          <a:prstGeom prst="roundRect">
            <a:avLst>
              <a:gd name="adj" fmla="val 3106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773936"/>
            <a:ext cx="4882896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2185416"/>
            <a:ext cx="4882896" cy="36941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A, B(x)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∃x (A(x) ∧ B(x))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∃x ∈ Programs, Structured(x).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Quantifiers can be implicit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1691640"/>
            <a:ext cx="5449824" cy="4169664"/>
          </a:xfrm>
          <a:prstGeom prst="roundRect">
            <a:avLst>
              <a:gd name="adj" fmla="val 3289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047488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231136"/>
            <a:ext cx="5047488" cy="3447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“If a number is an integer, then it is rational.”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“Anyone who likes hummus is smart.” (logical form only; empirical claim not assumed true)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257800" cy="4169664"/>
          </a:xfrm>
          <a:prstGeom prst="roundRect">
            <a:avLst>
              <a:gd name="adj" fmla="val 3289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819656"/>
            <a:ext cx="48554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RECONSTRUCTION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231136"/>
            <a:ext cx="4855464" cy="3447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(Integer(x) → Rational(x))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(LikesHummus(x) → Smart(x))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context supplies the hidden “for every.”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Applications: computing and security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1700784"/>
            <a:ext cx="5440680" cy="4480560"/>
          </a:xfrm>
          <a:prstGeom prst="roundRect">
            <a:avLst>
              <a:gd name="adj" fmla="val 3061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503834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38344" cy="3758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“Every privileged account requires MFA.”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∀u (Privileged(u) → MFARequired(u))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privileged account lacking MFA is a counterexample.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36208" y="1700784"/>
            <a:ext cx="5276088" cy="4480560"/>
          </a:xfrm>
          <a:prstGeom prst="roundRect">
            <a:avLst>
              <a:gd name="adj" fmla="val 3061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7376" y="1828800"/>
            <a:ext cx="4873752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REPRESENTATION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37376" y="2240280"/>
            <a:ext cx="4873752" cy="3758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“At least one student studies AI.”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(Student(x) ∧ StudiesAI(x))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knowledge base needs one identifiable witness for a constructive demonstration.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Tarski’s World: evaluating a finite model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7282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99616" y="17282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21992" y="17282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44368" y="17282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66744" y="17282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24140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99616" y="24140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21992" y="24140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44368" y="24140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66744" y="24140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99616" y="30998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21992" y="30998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44368" y="30998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66744" y="30998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37856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99616" y="37856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21992" y="37856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44368" y="37856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66744" y="37856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7240" y="44714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99616" y="44714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21992" y="44714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44368" y="44714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66744" y="4471416"/>
            <a:ext cx="722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AB4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60120" y="1856232"/>
            <a:ext cx="347472" cy="393192"/>
          </a:xfrm>
          <a:prstGeom prst="triangle">
            <a:avLst/>
          </a:prstGeom>
          <a:solidFill>
            <a:srgbClr val="276B94"/>
          </a:solidFill>
          <a:ln w="1270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14984" y="19293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682496" y="1856232"/>
            <a:ext cx="347472" cy="393192"/>
          </a:xfrm>
          <a:prstGeom prst="ellipse">
            <a:avLst/>
          </a:prstGeom>
          <a:solidFill>
            <a:srgbClr val="5F6B77"/>
          </a:solidFill>
          <a:ln w="12700">
            <a:solidFill>
              <a:srgbClr val="5F6B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737360" y="19293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404872" y="2542032"/>
            <a:ext cx="347472" cy="393192"/>
          </a:xfrm>
          <a:prstGeom prst="triangle">
            <a:avLst/>
          </a:prstGeom>
          <a:solidFill>
            <a:srgbClr val="276B94"/>
          </a:solidFill>
          <a:ln w="1270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459736" y="26151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27248" y="2542032"/>
            <a:ext cx="347472" cy="393192"/>
          </a:xfrm>
          <a:prstGeom prst="ellipse">
            <a:avLst/>
          </a:prstGeom>
          <a:solidFill>
            <a:srgbClr val="B9C0C7"/>
          </a:solidFill>
          <a:ln w="12700">
            <a:solidFill>
              <a:srgbClr val="B9C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82112" y="26151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82496" y="3227832"/>
            <a:ext cx="347472" cy="393192"/>
          </a:xfrm>
          <a:prstGeom prst="rect">
            <a:avLst/>
          </a:prstGeom>
          <a:solidFill>
            <a:srgbClr val="276B94"/>
          </a:solidFill>
          <a:ln w="1270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737360" y="33009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404872" y="3227832"/>
            <a:ext cx="347472" cy="393192"/>
          </a:xfrm>
          <a:prstGeom prst="ellipse">
            <a:avLst/>
          </a:prstGeom>
          <a:solidFill>
            <a:srgbClr val="B9C0C7"/>
          </a:solidFill>
          <a:ln w="12700">
            <a:solidFill>
              <a:srgbClr val="B9C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459736" y="33009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682496" y="3913632"/>
            <a:ext cx="347472" cy="393192"/>
          </a:xfrm>
          <a:prstGeom prst="triangle">
            <a:avLst/>
          </a:prstGeom>
          <a:solidFill>
            <a:srgbClr val="276B94"/>
          </a:solidFill>
          <a:ln w="1270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737360" y="39867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404872" y="3913632"/>
            <a:ext cx="347472" cy="393192"/>
          </a:xfrm>
          <a:prstGeom prst="rect">
            <a:avLst/>
          </a:prstGeom>
          <a:solidFill>
            <a:srgbClr val="5F6B77"/>
          </a:solidFill>
          <a:ln w="12700">
            <a:solidFill>
              <a:srgbClr val="5F6B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459736" y="39867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127248" y="3913632"/>
            <a:ext cx="347472" cy="393192"/>
          </a:xfrm>
          <a:prstGeom prst="ellipse">
            <a:avLst/>
          </a:prstGeom>
          <a:solidFill>
            <a:srgbClr val="B9C0C7"/>
          </a:solidFill>
          <a:ln w="12700">
            <a:solidFill>
              <a:srgbClr val="B9C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82112" y="39867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127248" y="4599432"/>
            <a:ext cx="347472" cy="393192"/>
          </a:xfrm>
          <a:prstGeom prst="rect">
            <a:avLst/>
          </a:prstGeom>
          <a:solidFill>
            <a:srgbClr val="5F6B77"/>
          </a:solidFill>
          <a:ln w="12700">
            <a:solidFill>
              <a:srgbClr val="5F6B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182112" y="46725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849624" y="4599432"/>
            <a:ext cx="347472" cy="393192"/>
          </a:xfrm>
          <a:prstGeom prst="ellipse">
            <a:avLst/>
          </a:prstGeom>
          <a:solidFill>
            <a:srgbClr val="B9C0C7"/>
          </a:solidFill>
          <a:ln w="12700">
            <a:solidFill>
              <a:srgbClr val="B9C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904488" y="467258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82312" y="1682496"/>
            <a:ext cx="6684264" cy="4544568"/>
          </a:xfrm>
          <a:prstGeom prst="roundRect">
            <a:avLst>
              <a:gd name="adj" fmla="val 3018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83480" y="1810512"/>
            <a:ext cx="6281928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 TRUE OR FALSE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4983480" y="2221992"/>
            <a:ext cx="6281928" cy="3822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∀t (Triangle(t) → Blue(t))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TRUE: all triangles are blue.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(Blue(x) → Triangle(x))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FALSE: e is a blue square.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∃z (Square(z) ∧ Gray(z))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TRUE: h or j is a witness.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with Tarski’s World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00784"/>
            <a:ext cx="5486400" cy="4334256"/>
          </a:xfrm>
          <a:prstGeom prst="roundRect">
            <a:avLst>
              <a:gd name="adj" fmla="val 3165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50840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PREDICATE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5084064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RightOf(d,y): y lies to the right of d.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∃y (Square(y) ∧ RightOf(d,y))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Witness: j (to the right of d).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345936" y="1700784"/>
            <a:ext cx="5102352" cy="4334256"/>
          </a:xfrm>
          <a:prstGeom prst="roundRect">
            <a:avLst>
              <a:gd name="adj" fmla="val 3165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47104" y="1828800"/>
            <a:ext cx="4700016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47104" y="2240280"/>
            <a:ext cx="4700016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diagram supplies a finite domain.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each object’s shape, color, and position.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test the quantified claim against those facts.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3.1: synthesis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1636776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4712" y="1636776"/>
            <a:ext cx="10424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predicate becomes a proposition through substitution or quantification.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2350008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24712" y="2350008"/>
            <a:ext cx="10424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domain matters; truth sets depend on it.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8952" y="3063240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24712" y="3063240"/>
            <a:ext cx="10424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 requires every permitted object to satisfy the property.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8952" y="3776472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4712" y="3776472"/>
            <a:ext cx="10424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 requires at least one permitted witness.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8952" y="4489704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24712" y="4489704"/>
            <a:ext cx="10424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restrictions use →; existential restrictions use ∧.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8952" y="5202936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24712" y="5202936"/>
            <a:ext cx="10424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 English often contains hidden universal quantifiers.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 •  Essential takeaways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09344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06424" y="1609344"/>
            <a:ext cx="10515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 P(x): property with free variable x.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0664" y="2212848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06424" y="2212848"/>
            <a:ext cx="10515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set: {x ∈ D | P(x)}.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0664" y="2816352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06424" y="2816352"/>
            <a:ext cx="10515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Universal: ∀x ∈ D, P(x); counterexample falsifies it.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40664" y="3419856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06424" y="3419856"/>
            <a:ext cx="10515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Existential: ∃x ∈ D, P(x); witness establishes it.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0664" y="4023360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06424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 are B: ∀x(A(x) → B(x)).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40664" y="4626864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06424" y="4626864"/>
            <a:ext cx="10515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A are B: ∃x(A(x) ∧ B(x)).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40664" y="5230368"/>
            <a:ext cx="32004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106424" y="5230368"/>
            <a:ext cx="10515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 are B: ∀x(A(x) → ¬B(x)).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 •  Conceptual connections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1691640"/>
            <a:ext cx="5404104" cy="4379976"/>
          </a:xfrm>
          <a:prstGeom prst="roundRect">
            <a:avLst>
              <a:gd name="adj" fmla="val 3132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001768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CHAPTER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231136"/>
            <a:ext cx="5001768" cy="365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statements P → Q remain valid inside quantified expressions.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Converse Q → P is generally not equivalent.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208776" y="1691640"/>
            <a:ext cx="5303520" cy="4379976"/>
          </a:xfrm>
          <a:prstGeom prst="roundRect">
            <a:avLst>
              <a:gd name="adj" fmla="val 3132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9944" y="1819656"/>
            <a:ext cx="4901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TOWARD LECTURES 3.2 AND 3.3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9944" y="2231136"/>
            <a:ext cx="4901184" cy="365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negations of quantified statements and variants of universal conditionals.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Then: statements with multiple quantifiers, where quantifier order matters.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 •  Boundary cases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1664208"/>
            <a:ext cx="5440680" cy="4407408"/>
          </a:xfrm>
          <a:prstGeom prst="roundRect">
            <a:avLst>
              <a:gd name="adj" fmla="val 3112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792224"/>
            <a:ext cx="503834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THE DOMAIN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203704"/>
            <a:ext cx="5038344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{1,2,3}, x² ≥ x : TRUE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ℝ, x² ≥ x : FALSE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Witness/counterexample depends on D.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64208"/>
            <a:ext cx="5257800" cy="4407408"/>
          </a:xfrm>
          <a:prstGeom prst="roundRect">
            <a:avLst>
              <a:gd name="adj" fmla="val 3112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792224"/>
            <a:ext cx="48554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CAREFUL WITH EMPTY DOMAINS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203704"/>
            <a:ext cx="4855464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 = ∅, ∀x ∈ D, P(x) is true (vacuously), while ∃x ∈ D, P(x) is false.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preview: this topic is treated more fully in §3.2.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 •  Worked examples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" y="1664208"/>
            <a:ext cx="5440680" cy="4407408"/>
          </a:xfrm>
          <a:prstGeom prst="roundRect">
            <a:avLst>
              <a:gd name="adj" fmla="val 3112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1792224"/>
            <a:ext cx="503834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AND JUSTIFY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2203704"/>
            <a:ext cx="5038344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“All rational numbers are real.”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(Rational(x) → Real(x))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under the usual number-system definitions.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227064" y="1664208"/>
            <a:ext cx="5321808" cy="4407408"/>
          </a:xfrm>
          <a:prstGeom prst="roundRect">
            <a:avLst>
              <a:gd name="adj" fmla="val 3112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792224"/>
            <a:ext cx="4919472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DISPROVE BY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2203704"/>
            <a:ext cx="4919472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“Every real number is rational.”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(Real(x) → Rational(x))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False: √2 is real but not rational.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 •  Repair a logical formula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1709928"/>
            <a:ext cx="5431536" cy="4215384"/>
          </a:xfrm>
          <a:prstGeom prst="roundRect">
            <a:avLst>
              <a:gd name="adj" fmla="val 3254"/>
            </a:avLst>
          </a:prstGeom>
          <a:solidFill>
            <a:srgbClr val="F9EE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837944"/>
            <a:ext cx="50292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ANSWER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249424"/>
            <a:ext cx="5029200" cy="34930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“Some students own laptops.”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∃x(Student(x) → OwnsLaptop(x))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this a poor translation?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27064" y="1709928"/>
            <a:ext cx="5276088" cy="4215384"/>
          </a:xfrm>
          <a:prstGeom prst="roundRect">
            <a:avLst>
              <a:gd name="adj" fmla="val 3254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837944"/>
            <a:ext cx="4873752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ANSWER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2249424"/>
            <a:ext cx="4873752" cy="34930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∃x(Student(x) ∧ OwnsLaptop(x))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implication can be true for a nonstudent without requiring a student who owns a laptop.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 •  Questions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73352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Which expression is a predicate: 7 is prime; x is prime?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2221992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  |   Understand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15184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truth set of x² &gt; 1 over {−2,−1,0,1,2}?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4672" y="3163824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  |   Apply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57016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Is ∀x ∈ ℝ, x² ≥ 0 true? Justify.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672" y="4105656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  |   Analyze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498848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Disprove ∀x ∈ ℝ, x² ≥ x.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" y="5047488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  |   Analyze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 •  Questions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73352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True/false: ∃n ∈ ℤ⁺ with n² = n. Supply a witness.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2221992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  |   Apply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15184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Translate “No student is absent” into predicates.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4672" y="3163824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  |   Apply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57016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Repair ∀x(Student(x) ∧ HasID(x)) for “Every student has an ID.”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672" y="4105656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  |   Evaluate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498848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Formalize “Some administrator enabled MFA.”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" y="5047488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  |   Apply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 •  Questions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73352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Does “If a number is an integer, it is rational” hide a quantifier?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2221992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  |   Analyze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15184"/>
            <a:ext cx="108356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Write and justify a counterexample to “Every rectangle is a square.”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4672" y="3163824"/>
            <a:ext cx="91440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  |   Evaluate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  •  ANSWERS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 1–4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0934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" y="168249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47088" y="168249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“x is prime” is a predicate; “7 is prime” is a proposition.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66090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F4F6F7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" y="273405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47088" y="273405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{−2, 2}; these are the only domain values with squares greater than 1.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" y="378561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47088" y="378561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TRUE: every real square is nonnegative.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76402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F4F6F7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104" y="483717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47088" y="483717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1/2; then x² = 1/4 &lt; 1/2.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  •  ANSWERS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 5–8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0934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" y="168249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47088" y="168249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TRUE; n = 1 gives 1² = 1.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66090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F4F6F7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" y="273405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47088" y="273405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∀x(Student(x) → ¬Absent(x)); “no” describes every student.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" y="378561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47088" y="378561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∀x(Student(x) → HasID(x)); implication restricts the universal claim.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76402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F4F6F7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104" y="483717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47088" y="483717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∃x(Admin(x) ∧ EnabledMFA(x)); conjunction requires both attributes.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  •  ANSWERS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 9–10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0934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" y="168249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47088" y="168249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Yes: ∀x(Integer(x) → Rational(x)), with numbers as the domain.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660904"/>
            <a:ext cx="10936224" cy="914400"/>
          </a:xfrm>
          <a:prstGeom prst="roundRect">
            <a:avLst>
              <a:gd name="adj" fmla="val 15000"/>
            </a:avLst>
          </a:prstGeom>
          <a:solidFill>
            <a:srgbClr val="F4F6F7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" y="2734056"/>
            <a:ext cx="100584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47088" y="2734056"/>
            <a:ext cx="9372600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2-by-3 rectangle is not a square; it refutes ∀x(Rectangle(x) → Square(x)).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 •  Optional enrichment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" y="1709928"/>
            <a:ext cx="5431536" cy="4389120"/>
          </a:xfrm>
          <a:prstGeom prst="roundRect">
            <a:avLst>
              <a:gd name="adj" fmla="val 3125"/>
            </a:avLst>
          </a:prstGeom>
          <a:solidFill>
            <a:srgbClr val="EBF4F8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1837944"/>
            <a:ext cx="50292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AI: KNOWLEDGE GRAPHS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2249424"/>
            <a:ext cx="5029200" cy="3666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Predicates represent facts and rules; quantifiers specify whether a rule applies globally or an object exists.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∀x (Cat(x) → Animal(x)).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236208" y="1709928"/>
            <a:ext cx="5257800" cy="4389120"/>
          </a:xfrm>
          <a:prstGeom prst="roundRect">
            <a:avLst>
              <a:gd name="adj" fmla="val 3125"/>
            </a:avLst>
          </a:prstGeom>
          <a:solidFill>
            <a:srgbClr val="EBF5F4"/>
          </a:solidFill>
          <a:ln w="11430">
            <a:solidFill>
              <a:srgbClr val="DDE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7376" y="1837944"/>
            <a:ext cx="485546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CYBERSECURITY: POLICY AUDITS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37376" y="2249424"/>
            <a:ext cx="4855464" cy="3666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∀u (Admin(u) → UsesMFA(u)).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an administrator without MFA is a counterexample and therefore a policy violation.</a:t>
            </a:r>
            <a:endParaRPr lang="en-US" sz="2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40080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11201400" cy="612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 @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501384"/>
            <a:ext cx="3657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764792"/>
            <a:ext cx="91440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course materials</a:t>
            </a:r>
            <a:endParaRPr lang="en-US" sz="23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749808" y="2304288"/>
            <a:ext cx="100584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Prof. Mustafa Jarrar  •  https://www.jarrar.info/courses/DMath/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3236976"/>
            <a:ext cx="91440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course resources</a:t>
            </a:r>
            <a:endParaRPr lang="en-US" sz="2300" dirty="0"/>
          </a:p>
        </p:txBody>
      </p:sp>
      <p:sp>
        <p:nvSpPr>
          <p:cNvPr id="11" name="Text 9">
            <a:hlinkClick r:id="rId4"/>
          </p:cNvPr>
          <p:cNvSpPr/>
          <p:nvPr/>
        </p:nvSpPr>
        <p:spPr>
          <a:xfrm>
            <a:off x="749808" y="3776472"/>
            <a:ext cx="10698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u="sng" dirty="0">
                <a:solidFill>
                  <a:srgbClr val="27303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COMP233 GitHub  •  https://github.com/RuwaYafa/BZU_Courses/tree/main/COMP233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65192"/>
            <a:ext cx="1069848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Textbook: Susanna S. Epp, Discrete Mathematics with Applications, 4th ed., §3.1.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9808" y="5532120"/>
            <a:ext cx="1069848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Acknowledgment: Dr. Radi Jarrar contributed to the local lecture-note materials.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3213</Words>
  <Application>Microsoft Office PowerPoint</Application>
  <PresentationFormat>Widescreen</PresentationFormat>
  <Paragraphs>598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Quantified Statements I</dc:title>
  <dc:subject>COMP233 Discrete Mathematics Lecture 3.1</dc:subject>
  <dc:creator>Ruwa' AbuHweidi</dc:creator>
  <cp:lastModifiedBy>RUWA Al-Ru7</cp:lastModifiedBy>
  <cp:revision>2</cp:revision>
  <dcterms:created xsi:type="dcterms:W3CDTF">2026-10-14T23:32:09Z</dcterms:created>
  <dcterms:modified xsi:type="dcterms:W3CDTF">2026-10-19T16:59:43Z</dcterms:modified>
</cp:coreProperties>
</file>