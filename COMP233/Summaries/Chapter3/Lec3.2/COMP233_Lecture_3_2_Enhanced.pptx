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A. Quantifier changes to ∃ and implication negates to conjunction with ¬Q. B is too strong; C retains an implication.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P(2) is true, but P(1) is false.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False. It means at least one student did not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A. 2 is even yet not divisible by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A. B is the contrapositive; C is the negation.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Q requires P; necessity alone does not establish the reverse implication.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A. For real x, x² ≥ 0, so the antecedent is always false.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3 is divisible by 3 but not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arrar.info/courses/DMath/" TargetMode="External"/><Relationship Id="rId2" Type="http://schemas.openxmlformats.org/officeDocument/2006/relationships/hyperlink" Target="https://github.com/RuwaYafa/BZU_Courses/tree/main/COMP233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960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— Discrete Mathematics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58952" y="187452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58952" y="2633472"/>
            <a:ext cx="10607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Predicates and Quantified Statements II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58952" y="5120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a statement false?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“Every student in COMP233 submitted the assignment.”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822960" y="2788920"/>
            <a:ext cx="10424160" cy="1463040"/>
          </a:xfrm>
          <a:prstGeom prst="roundRect">
            <a:avLst>
              <a:gd name="adj" fmla="val 8125"/>
            </a:avLst>
          </a:prstGeom>
          <a:solidFill>
            <a:srgbClr val="FBEDF0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935224"/>
            <a:ext cx="10021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E43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counterexample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24128" y="3355848"/>
            <a:ext cx="10021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enrolled student who did not submit is enough to falsify the statement.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22960" y="46634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Today: formalize this reasoning using quantifiers, implication, and negation.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Prerequisites: predicates and domains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5394960" cy="1554480"/>
          </a:xfrm>
          <a:prstGeom prst="roundRect">
            <a:avLst>
              <a:gd name="adj" fmla="val 7647"/>
            </a:avLst>
          </a:prstGeom>
          <a:solidFill>
            <a:srgbClr val="EAF3F9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70078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66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Predicate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41248" y="2121408"/>
            <a:ext cx="49926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P(x) becomes a proposition once x is assigned an element of a specified domain D.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72200" y="1554480"/>
            <a:ext cx="5394960" cy="1554480"/>
          </a:xfrm>
          <a:prstGeom prst="roundRect">
            <a:avLst>
              <a:gd name="adj" fmla="val 7647"/>
            </a:avLst>
          </a:prstGeom>
          <a:solidFill>
            <a:srgbClr val="EAF3F9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73368" y="170078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66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Universal ∀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373368" y="2121408"/>
            <a:ext cx="49926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∈ D, P(x) means P(x) is true for every element of D.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3337560"/>
            <a:ext cx="5394960" cy="1554480"/>
          </a:xfrm>
          <a:prstGeom prst="roundRect">
            <a:avLst>
              <a:gd name="adj" fmla="val 7647"/>
            </a:avLst>
          </a:prstGeom>
          <a:solidFill>
            <a:srgbClr val="EDF7F1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48386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78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Existential ∃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41248" y="3904488"/>
            <a:ext cx="49926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∃x ∈ D, P(x) means at least one element of D satisfies P(x).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172200" y="3337560"/>
            <a:ext cx="5394960" cy="1554480"/>
          </a:xfrm>
          <a:prstGeom prst="roundRect">
            <a:avLst>
              <a:gd name="adj" fmla="val 7647"/>
            </a:avLst>
          </a:prstGeom>
          <a:solidFill>
            <a:srgbClr val="FBEDF0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3368" y="348386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E43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matters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373368" y="3904488"/>
            <a:ext cx="49926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∈ {2,4}, “x is even” is true; over {1,2,4} it is false.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Negation of quantified statements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600200"/>
            <a:ext cx="10789920" cy="1417320"/>
          </a:xfrm>
          <a:prstGeom prst="roundRect">
            <a:avLst>
              <a:gd name="adj" fmla="val 8387"/>
            </a:avLst>
          </a:prstGeom>
          <a:solidFill>
            <a:srgbClr val="EAF3F9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746504"/>
            <a:ext cx="10387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66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Universal → existential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86968" y="2167128"/>
            <a:ext cx="10387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¬(∀x ∈ D, P(x))  ≡  ∃x ∈ D, ¬P(x)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685800" y="3246120"/>
            <a:ext cx="10789920" cy="1417320"/>
          </a:xfrm>
          <a:prstGeom prst="roundRect">
            <a:avLst>
              <a:gd name="adj" fmla="val 8387"/>
            </a:avLst>
          </a:prstGeom>
          <a:solidFill>
            <a:srgbClr val="EDF7F1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3392424"/>
            <a:ext cx="10387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78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Existential → universal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86968" y="3813048"/>
            <a:ext cx="10387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¬(∃x ∈ D, P(x))  ≡  ∀x ∈ D, ¬P(x)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749808" y="519379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Negate the predicate AND swap the quantifier. Keep the domain unchanged.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“not all” does not mean “none”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10698480" cy="1005840"/>
          </a:xfrm>
          <a:prstGeom prst="roundRect">
            <a:avLst>
              <a:gd name="adj" fmla="val 11818"/>
            </a:avLst>
          </a:prstGeom>
          <a:solidFill>
            <a:srgbClr val="EAF3F9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700784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66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32688" y="2121408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mathematicians wear glasses.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31520" y="2788920"/>
            <a:ext cx="10698480" cy="1097280"/>
          </a:xfrm>
          <a:prstGeom prst="roundRect">
            <a:avLst>
              <a:gd name="adj" fmla="val 10833"/>
            </a:avLst>
          </a:prstGeom>
          <a:solidFill>
            <a:srgbClr val="EDF7F1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935224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78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negation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32688" y="3355848"/>
            <a:ext cx="10296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least one mathematician does not wear glasses.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731520" y="4160520"/>
            <a:ext cx="10698480" cy="1143000"/>
          </a:xfrm>
          <a:prstGeom prst="roundRect">
            <a:avLst>
              <a:gd name="adj" fmla="val 10400"/>
            </a:avLst>
          </a:prstGeom>
          <a:solidFill>
            <a:srgbClr val="FBEDF0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4306824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E43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Incorrect stronger statement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32688" y="4727448"/>
            <a:ext cx="10296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mathematician wears glasses. (This is not equivalent.)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example: universal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10698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D = {1, 2, 3, 4} and P(x): “x is a multiple of 3.”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85800" y="2468880"/>
            <a:ext cx="10789920" cy="1143000"/>
          </a:xfrm>
          <a:prstGeom prst="roundRect">
            <a:avLst>
              <a:gd name="adj" fmla="val 10400"/>
            </a:avLst>
          </a:prstGeom>
          <a:solidFill>
            <a:srgbClr val="EAF3F9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615184"/>
            <a:ext cx="10387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66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86968" y="3035808"/>
            <a:ext cx="103875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∈ D, P(x) is FALSE (e.g., P(1) is false).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85800" y="3794760"/>
            <a:ext cx="10789920" cy="1143000"/>
          </a:xfrm>
          <a:prstGeom prst="roundRect">
            <a:avLst>
              <a:gd name="adj" fmla="val 10400"/>
            </a:avLst>
          </a:prstGeom>
          <a:solidFill>
            <a:srgbClr val="EDF7F1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941064"/>
            <a:ext cx="10387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78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86968" y="4361688"/>
            <a:ext cx="103875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∃x ∈ D, ¬P(x) is TRUE. Witness: x = 1.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77240" y="5321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refute ∀: exhibit one counterexample.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example: existential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D = {1, 2, 3} and P(x): “x &gt; 5.”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85800" y="2514600"/>
            <a:ext cx="10789920" cy="1124712"/>
          </a:xfrm>
          <a:prstGeom prst="roundRect">
            <a:avLst>
              <a:gd name="adj" fmla="val 10569"/>
            </a:avLst>
          </a:prstGeom>
          <a:solidFill>
            <a:srgbClr val="FBEDF0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660904"/>
            <a:ext cx="10387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E43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86968" y="3081528"/>
            <a:ext cx="10387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∃x ∈ D, P(x) is FALSE; no element exceeds 5.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85800" y="3886200"/>
            <a:ext cx="10789920" cy="1124712"/>
          </a:xfrm>
          <a:prstGeom prst="roundRect">
            <a:avLst>
              <a:gd name="adj" fmla="val 10569"/>
            </a:avLst>
          </a:prstGeom>
          <a:solidFill>
            <a:srgbClr val="EDF7F1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4032504"/>
            <a:ext cx="10387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78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86968" y="4453128"/>
            <a:ext cx="10387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∈ D, ¬P(x) is TRUE: each element is at most 5.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77240" y="54132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refute ∃: establish that there is no witness.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Universal conditional: the key structure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0698480" cy="1234440"/>
          </a:xfrm>
          <a:prstGeom prst="roundRect">
            <a:avLst>
              <a:gd name="adj" fmla="val 9630"/>
            </a:avLst>
          </a:prstGeom>
          <a:solidFill>
            <a:srgbClr val="EAF3F9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655064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66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Statement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32688" y="2075688"/>
            <a:ext cx="1029614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∈ D, (P(x) → Q(x))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31520" y="2971800"/>
            <a:ext cx="10698480" cy="1234440"/>
          </a:xfrm>
          <a:prstGeom prst="roundRect">
            <a:avLst>
              <a:gd name="adj" fmla="val 9630"/>
            </a:avLst>
          </a:prstGeom>
          <a:solidFill>
            <a:srgbClr val="FBEDF0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118104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E43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32688" y="3538728"/>
            <a:ext cx="1029614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∃x ∈ D, (P(x) ∧ ¬Q(x))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822960" y="47548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counterexample must satisfy P but fail Q. Merely failing P does not disprove the implication.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Deriving the conditional negation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35608"/>
            <a:ext cx="10972800" cy="987552"/>
          </a:xfrm>
          <a:prstGeom prst="roundRect">
            <a:avLst>
              <a:gd name="adj" fmla="val 12037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45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1572768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¬∀x(P(x) → Q(x))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2560320"/>
            <a:ext cx="10972800" cy="987552"/>
          </a:xfrm>
          <a:prstGeom prst="roundRect">
            <a:avLst>
              <a:gd name="adj" fmla="val 12037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26974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≡ ∃x ¬(P(x) → Q(x))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3685032"/>
            <a:ext cx="10972800" cy="987552"/>
          </a:xfrm>
          <a:prstGeom prst="roundRect">
            <a:avLst>
              <a:gd name="adj" fmla="val 12037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0" y="382219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≡ ∃x (P(x) ∧ ¬Q(x))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5120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quantifier-negation law, then ¬(P → Q) ≡ P ∧ ¬Q.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Application: software correctness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Claim: Every program that compiles is bug-free.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10698480" cy="1234440"/>
          </a:xfrm>
          <a:prstGeom prst="roundRect">
            <a:avLst>
              <a:gd name="adj" fmla="val 9630"/>
            </a:avLst>
          </a:prstGeom>
          <a:solidFill>
            <a:srgbClr val="EAF3F9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615184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66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Predicates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32688" y="3035808"/>
            <a:ext cx="1029614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P(x): x compiles successfully.   Q(x): x is bug-free.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10698480" cy="1234440"/>
          </a:xfrm>
          <a:prstGeom prst="roundRect">
            <a:avLst>
              <a:gd name="adj" fmla="val 9630"/>
            </a:avLst>
          </a:prstGeom>
          <a:solidFill>
            <a:srgbClr val="FBEDF0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78224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E43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Refutation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32688" y="4498848"/>
            <a:ext cx="1029614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a program that compiles AND contains a bug.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31520" y="55321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Compiling successfully is not, by itself, evidence of correctness.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Quantifiers over finite domains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Suppose D = {a, b, c}.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685800" y="2423160"/>
            <a:ext cx="10789920" cy="1371600"/>
          </a:xfrm>
          <a:prstGeom prst="roundRect">
            <a:avLst>
              <a:gd name="adj" fmla="val 8667"/>
            </a:avLst>
          </a:prstGeom>
          <a:solidFill>
            <a:srgbClr val="EAF3F9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569464"/>
            <a:ext cx="10387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66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Universal behaves like AND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86968" y="2990088"/>
            <a:ext cx="10387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∈ D, P(x)  ≡  P(a) ∧ P(b) ∧ P(c)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85800" y="4041648"/>
            <a:ext cx="10789920" cy="1371600"/>
          </a:xfrm>
          <a:prstGeom prst="roundRect">
            <a:avLst>
              <a:gd name="adj" fmla="val 8667"/>
            </a:avLst>
          </a:prstGeom>
          <a:solidFill>
            <a:srgbClr val="EDF7F1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4187952"/>
            <a:ext cx="10387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78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Existential behaves like OR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86968" y="4608576"/>
            <a:ext cx="10387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∃x ∈ D, P(x)  ≡  P(a) ∨ P(b) ∨ P(c)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finite-domain evaluation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= {1, 2, 3};   P(x): x is even.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685800" y="2514600"/>
            <a:ext cx="10789920" cy="1234440"/>
          </a:xfrm>
          <a:prstGeom prst="roundRect">
            <a:avLst>
              <a:gd name="adj" fmla="val 9630"/>
            </a:avLst>
          </a:prstGeom>
          <a:solidFill>
            <a:srgbClr val="FBEDF0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660904"/>
            <a:ext cx="10387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E43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Universal = FALSE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86968" y="3081528"/>
            <a:ext cx="10387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P(1) ∧ P(2) ∧ P(3) = F ∧ T ∧ F = F.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85800" y="3977640"/>
            <a:ext cx="10789920" cy="1234440"/>
          </a:xfrm>
          <a:prstGeom prst="roundRect">
            <a:avLst>
              <a:gd name="adj" fmla="val 9630"/>
            </a:avLst>
          </a:prstGeom>
          <a:solidFill>
            <a:srgbClr val="EDF7F1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4123944"/>
            <a:ext cx="10387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78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Existential = TRUE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86968" y="4544568"/>
            <a:ext cx="10387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P(1) ∨ P(2) ∨ P(3) = F ∨ T ∨ F = T.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Vacuous truth: a surprising boundary case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Statement: “All balls in the empty box are blue.”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10607040" cy="1188720"/>
          </a:xfrm>
          <a:prstGeom prst="roundRect">
            <a:avLst>
              <a:gd name="adj" fmla="val 10000"/>
            </a:avLst>
          </a:prstGeom>
          <a:solidFill>
            <a:srgbClr val="FBEDF0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660904"/>
            <a:ext cx="10204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E43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Negation test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32688" y="3081528"/>
            <a:ext cx="10204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“There exists a ball in the box that is not blue.”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731520" y="3886200"/>
            <a:ext cx="10607040" cy="1371600"/>
          </a:xfrm>
          <a:prstGeom prst="roundRect">
            <a:avLst>
              <a:gd name="adj" fmla="val 8667"/>
            </a:avLst>
          </a:prstGeom>
          <a:solidFill>
            <a:srgbClr val="EDF7F1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32504"/>
            <a:ext cx="10204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78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32688" y="4453128"/>
            <a:ext cx="10204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negation is false: no ball exists. Therefore, the universal statement is TRUE.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Vacuous truth does not require an empty domain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 real numbers, consider: ∀x (x &lt; 0 → x² ≥ 0).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10607040" cy="1234440"/>
          </a:xfrm>
          <a:prstGeom prst="roundRect">
            <a:avLst>
              <a:gd name="adj" fmla="val 9630"/>
            </a:avLst>
          </a:prstGeom>
          <a:solidFill>
            <a:srgbClr val="FBEDF0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660904"/>
            <a:ext cx="10204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E43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distinction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32688" y="3081528"/>
            <a:ext cx="102047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statement is true, but NOT vacuously true: negative real numbers exist.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1520" y="4069080"/>
            <a:ext cx="10607040" cy="1417320"/>
          </a:xfrm>
          <a:prstGeom prst="roundRect">
            <a:avLst>
              <a:gd name="adj" fmla="val 8387"/>
            </a:avLst>
          </a:prstGeom>
          <a:solidFill>
            <a:srgbClr val="EDF7F1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215384"/>
            <a:ext cx="10204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78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Genuine vacuous case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32688" y="4636008"/>
            <a:ext cx="1020470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∈ ℝ, (x² &lt; 0 → x &gt; 10) is vacuously true because x² &lt; 0 never holds.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variants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35608"/>
            <a:ext cx="10972800" cy="987552"/>
          </a:xfrm>
          <a:prstGeom prst="roundRect">
            <a:avLst>
              <a:gd name="adj" fmla="val 12037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45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1572768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(P(x) → Q(x))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2560320"/>
            <a:ext cx="10972800" cy="987552"/>
          </a:xfrm>
          <a:prstGeom prst="roundRect">
            <a:avLst>
              <a:gd name="adj" fmla="val 12037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26974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(Q(x) → P(x))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3685032"/>
            <a:ext cx="10972800" cy="987552"/>
          </a:xfrm>
          <a:prstGeom prst="roundRect">
            <a:avLst>
              <a:gd name="adj" fmla="val 12037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0" y="382219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(¬P(x) → ¬Q(x))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94360" y="4809744"/>
            <a:ext cx="10972800" cy="987552"/>
          </a:xfrm>
          <a:prstGeom prst="roundRect">
            <a:avLst>
              <a:gd name="adj" fmla="val 12037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919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Contrapositive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57600" y="4946904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∀x (¬Q(x) → ¬P(x))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related statements are equivalent?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10698480" cy="1234440"/>
          </a:xfrm>
          <a:prstGeom prst="roundRect">
            <a:avLst>
              <a:gd name="adj" fmla="val 9630"/>
            </a:avLst>
          </a:prstGeom>
          <a:solidFill>
            <a:srgbClr val="EDF7F1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700784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78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equivalence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32688" y="2121408"/>
            <a:ext cx="1029614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≡ Contrapositive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731520" y="2980944"/>
            <a:ext cx="10698480" cy="1234440"/>
          </a:xfrm>
          <a:prstGeom prst="roundRect">
            <a:avLst>
              <a:gd name="adj" fmla="val 9630"/>
            </a:avLst>
          </a:prstGeom>
          <a:solidFill>
            <a:srgbClr val="EAF3F9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127248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66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equivalence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32688" y="3547872"/>
            <a:ext cx="1029614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Converse ≡ Inverse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731520" y="4389120"/>
            <a:ext cx="10698480" cy="1188720"/>
          </a:xfrm>
          <a:prstGeom prst="roundRect">
            <a:avLst>
              <a:gd name="adj" fmla="val 10000"/>
            </a:avLst>
          </a:prstGeom>
          <a:solidFill>
            <a:srgbClr val="FBEDF0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4535424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E43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generally equivalent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32688" y="4956048"/>
            <a:ext cx="10296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is NOT generally equivalent to its converse or inverse.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Counterexample: converse error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4447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Original: Every multiple of 4 is even.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31520" y="2423160"/>
            <a:ext cx="10698480" cy="1097280"/>
          </a:xfrm>
          <a:prstGeom prst="roundRect">
            <a:avLst>
              <a:gd name="adj" fmla="val 10833"/>
            </a:avLst>
          </a:prstGeom>
          <a:solidFill>
            <a:srgbClr val="EDF7F1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569464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78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Original: TRUE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32688" y="2990088"/>
            <a:ext cx="10296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∀n ∈ ℤ, (4 | n → 2 | n).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10698480" cy="1188720"/>
          </a:xfrm>
          <a:prstGeom prst="roundRect">
            <a:avLst>
              <a:gd name="adj" fmla="val 10000"/>
            </a:avLst>
          </a:prstGeom>
          <a:solidFill>
            <a:srgbClr val="FBEDF0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941064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E43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Converse: FALSE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32688" y="4361688"/>
            <a:ext cx="10296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∀n ∈ ℤ, (2 | n → 4 | n). Counterexample: n = 2.</a:t>
            </a:r>
            <a:endParaRPr lang="en-US" sz="2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Necessary, sufficient, and “only if”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35608"/>
            <a:ext cx="10972800" cy="987552"/>
          </a:xfrm>
          <a:prstGeom prst="roundRect">
            <a:avLst>
              <a:gd name="adj" fmla="val 12037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45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sufficient for Q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1572768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→ Q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2560320"/>
            <a:ext cx="10972800" cy="987552"/>
          </a:xfrm>
          <a:prstGeom prst="roundRect">
            <a:avLst>
              <a:gd name="adj" fmla="val 12037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necessary for Q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26974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→ P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3685032"/>
            <a:ext cx="10972800" cy="987552"/>
          </a:xfrm>
          <a:prstGeom prst="roundRect">
            <a:avLst>
              <a:gd name="adj" fmla="val 12037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only if Q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0" y="382219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→ Q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94360" y="4809744"/>
            <a:ext cx="10972800" cy="987552"/>
          </a:xfrm>
          <a:prstGeom prst="roundRect">
            <a:avLst>
              <a:gd name="adj" fmla="val 12037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919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if Q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57600" y="4946904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→ P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Necessary and sufficient: worked example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Policy: If an account is an administrator, it may view the dashboard.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10698480" cy="1188720"/>
          </a:xfrm>
          <a:prstGeom prst="roundRect">
            <a:avLst>
              <a:gd name="adj" fmla="val 10000"/>
            </a:avLst>
          </a:prstGeom>
          <a:solidFill>
            <a:srgbClr val="EAF3F9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706624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66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→ Q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32688" y="3127248"/>
            <a:ext cx="10296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P: account is an administrator. Q: account may view dashboard.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1520" y="4069080"/>
            <a:ext cx="10698480" cy="1417320"/>
          </a:xfrm>
          <a:prstGeom prst="roundRect">
            <a:avLst>
              <a:gd name="adj" fmla="val 8387"/>
            </a:avLst>
          </a:prstGeom>
          <a:solidFill>
            <a:srgbClr val="EDF7F1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215384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78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32688" y="4636008"/>
            <a:ext cx="1029614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Administrator status is sufficient for access; access is necessary for administrator status.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 we know—and what do we NOT know?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10698480" cy="1325880"/>
          </a:xfrm>
          <a:prstGeom prst="roundRect">
            <a:avLst>
              <a:gd name="adj" fmla="val 8966"/>
            </a:avLst>
          </a:prstGeom>
          <a:solidFill>
            <a:srgbClr val="EDF7F1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746504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78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P → Q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32688" y="2167128"/>
            <a:ext cx="10296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is sufficient for Q and Q is necessary for P.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731520" y="3246120"/>
            <a:ext cx="10698480" cy="1371600"/>
          </a:xfrm>
          <a:prstGeom prst="roundRect">
            <a:avLst>
              <a:gd name="adj" fmla="val 8667"/>
            </a:avLst>
          </a:prstGeom>
          <a:solidFill>
            <a:srgbClr val="FBEDF0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392424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E43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licensed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32688" y="3813048"/>
            <a:ext cx="10296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cannot conclude Q → P. Other users may also have dashboard access.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" y="51663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biconditional P ↔ Q requires BOTH directions.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APPENDIX 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concepts &amp; misconceptions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35608"/>
            <a:ext cx="10972800" cy="987552"/>
          </a:xfrm>
          <a:prstGeom prst="roundRect">
            <a:avLst>
              <a:gd name="adj" fmla="val 12037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45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1572768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 only if every domain element satisfies P.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2560320"/>
            <a:ext cx="10972800" cy="987552"/>
          </a:xfrm>
          <a:prstGeom prst="roundRect">
            <a:avLst>
              <a:gd name="adj" fmla="val 12037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Existential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26974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 if at least one witness satisfies P.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3685032"/>
            <a:ext cx="10972800" cy="987552"/>
          </a:xfrm>
          <a:prstGeom prst="roundRect">
            <a:avLst>
              <a:gd name="adj" fmla="val 12037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0" y="382219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∀/∃ and negate the predicate.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94360" y="4809744"/>
            <a:ext cx="10972800" cy="987552"/>
          </a:xfrm>
          <a:prstGeom prst="roundRect">
            <a:avLst>
              <a:gd name="adj" fmla="val 12037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919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Counterexample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57600" y="4946904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P(x) true and Q(x) false to refute ∀x(P→Q).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APPENDIX 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Conceptual connections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10698480" cy="1234440"/>
          </a:xfrm>
          <a:prstGeom prst="roundRect">
            <a:avLst>
              <a:gd name="adj" fmla="val 9630"/>
            </a:avLst>
          </a:prstGeom>
          <a:solidFill>
            <a:srgbClr val="EAF3F9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700784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66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Negation ↔ De Morgan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32688" y="2121408"/>
            <a:ext cx="1029614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 behaves like AND; ∃ behaves like OR over finite domains.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10698480" cy="1234440"/>
          </a:xfrm>
          <a:prstGeom prst="roundRect">
            <a:avLst>
              <a:gd name="adj" fmla="val 9630"/>
            </a:avLst>
          </a:prstGeom>
          <a:solidFill>
            <a:srgbClr val="EDF7F1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163824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78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Implication ↔ proof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32688" y="3584448"/>
            <a:ext cx="1029614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universal implication is false precisely when a P ∧ ¬Q witness exists.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31520" y="4480560"/>
            <a:ext cx="10698480" cy="1143000"/>
          </a:xfrm>
          <a:prstGeom prst="roundRect">
            <a:avLst>
              <a:gd name="adj" fmla="val 10400"/>
            </a:avLst>
          </a:prstGeom>
          <a:solidFill>
            <a:srgbClr val="EAF3F9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4626864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66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variants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32688" y="5047488"/>
            <a:ext cx="10296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≡ contrapositive; converse ≡ inverse.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APPENDIX 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cases: valid, invalid, boundary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35608"/>
            <a:ext cx="10972800" cy="987552"/>
          </a:xfrm>
          <a:prstGeom prst="roundRect">
            <a:avLst>
              <a:gd name="adj" fmla="val 12037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45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 universal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1572768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∀n ∈ ℤ, n² ≥ 0.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2560320"/>
            <a:ext cx="10972800" cy="987552"/>
          </a:xfrm>
          <a:prstGeom prst="roundRect">
            <a:avLst>
              <a:gd name="adj" fmla="val 12037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universal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26974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∀n ∈ ℤ, n &gt; 0; counterexample n = 0.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3685032"/>
            <a:ext cx="10972800" cy="987552"/>
          </a:xfrm>
          <a:prstGeom prst="roundRect">
            <a:avLst>
              <a:gd name="adj" fmla="val 12037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 existential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0" y="382219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∃n ∈ ℤ, n² = 4; witness n = 2.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94360" y="4809744"/>
            <a:ext cx="10972800" cy="987552"/>
          </a:xfrm>
          <a:prstGeom prst="roundRect">
            <a:avLst>
              <a:gd name="adj" fmla="val 12037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919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existential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57600" y="4946904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∃n ∈ ℤ, n² = −1; no integer witness.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CHECK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1 / 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463040"/>
            <a:ext cx="10835640" cy="1417320"/>
          </a:xfrm>
          <a:prstGeom prst="roundRect">
            <a:avLst>
              <a:gd name="adj" fmla="val 8387"/>
            </a:avLst>
          </a:prstGeom>
          <a:solidFill>
            <a:srgbClr val="EAF3F9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609344"/>
            <a:ext cx="10433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66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86968" y="2029968"/>
            <a:ext cx="1043330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Negate: ∀x ∈ D, (Student(x) → Passed(x)).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60120" y="3154680"/>
            <a:ext cx="10287000" cy="475488"/>
          </a:xfrm>
          <a:prstGeom prst="roundRect">
            <a:avLst>
              <a:gd name="adj" fmla="val 25000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255264"/>
            <a:ext cx="9738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  ∃x ∈ D, (Student(x) ∧ ¬Passed(x))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960120" y="3758184"/>
            <a:ext cx="1028700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858768"/>
            <a:ext cx="9738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  ∀x ∈ D, (Student(x) ∧ ¬Passed(x))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60120" y="4361688"/>
            <a:ext cx="1028700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462272"/>
            <a:ext cx="9738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  ∃x ∈ D, (Student(x) → ¬Passed(x))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CHECK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2 / 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463040"/>
            <a:ext cx="10835640" cy="1417320"/>
          </a:xfrm>
          <a:prstGeom prst="roundRect">
            <a:avLst>
              <a:gd name="adj" fmla="val 8387"/>
            </a:avLst>
          </a:prstGeom>
          <a:solidFill>
            <a:srgbClr val="EAF3F9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609344"/>
            <a:ext cx="10433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66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86968" y="2029968"/>
            <a:ext cx="1043330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 D = {1,2,3}, which is true for P(x): “x is even”?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60120" y="3154680"/>
            <a:ext cx="10287000" cy="475488"/>
          </a:xfrm>
          <a:prstGeom prst="roundRect">
            <a:avLst>
              <a:gd name="adj" fmla="val 25000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255264"/>
            <a:ext cx="9738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  ∀x P(x) only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960120" y="3758184"/>
            <a:ext cx="1028700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858768"/>
            <a:ext cx="9738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  ∃x P(x) only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60120" y="4361688"/>
            <a:ext cx="1028700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462272"/>
            <a:ext cx="9738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  Both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960120" y="4965192"/>
            <a:ext cx="1028700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5065776"/>
            <a:ext cx="9738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  Neither</a:t>
            </a:r>
            <a:endParaRPr lang="en-US"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CHECK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3 / 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463040"/>
            <a:ext cx="10835640" cy="1417320"/>
          </a:xfrm>
          <a:prstGeom prst="roundRect">
            <a:avLst>
              <a:gd name="adj" fmla="val 8387"/>
            </a:avLst>
          </a:prstGeom>
          <a:solidFill>
            <a:srgbClr val="EAF3F9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609344"/>
            <a:ext cx="10433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66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86968" y="2029968"/>
            <a:ext cx="1043330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 or false: “Not all students passed” means “No students passed.”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60120" y="3154680"/>
            <a:ext cx="10287000" cy="475488"/>
          </a:xfrm>
          <a:prstGeom prst="roundRect">
            <a:avLst>
              <a:gd name="adj" fmla="val 25000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255264"/>
            <a:ext cx="9738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  True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960120" y="3758184"/>
            <a:ext cx="1028700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858768"/>
            <a:ext cx="9738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  False</a:t>
            </a:r>
            <a:endParaRPr lang="en-US" sz="1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CHECK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4 / 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463040"/>
            <a:ext cx="10835640" cy="1417320"/>
          </a:xfrm>
          <a:prstGeom prst="roundRect">
            <a:avLst>
              <a:gd name="adj" fmla="val 8387"/>
            </a:avLst>
          </a:prstGeom>
          <a:solidFill>
            <a:srgbClr val="EAF3F9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609344"/>
            <a:ext cx="10433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66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86968" y="2029968"/>
            <a:ext cx="1043330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a counterexample: ∀n ∈ ℤ, (n is even → n is a multiple of 4).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60120" y="3154680"/>
            <a:ext cx="10287000" cy="475488"/>
          </a:xfrm>
          <a:prstGeom prst="roundRect">
            <a:avLst>
              <a:gd name="adj" fmla="val 25000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255264"/>
            <a:ext cx="9738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  n = 2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960120" y="3758184"/>
            <a:ext cx="1028700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858768"/>
            <a:ext cx="9738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  n = 4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60120" y="4361688"/>
            <a:ext cx="1028700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462272"/>
            <a:ext cx="9738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  n = 8</a:t>
            </a:r>
            <a:endParaRPr lang="en-US" sz="1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CHECK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5 / 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463040"/>
            <a:ext cx="10835640" cy="1417320"/>
          </a:xfrm>
          <a:prstGeom prst="roundRect">
            <a:avLst>
              <a:gd name="adj" fmla="val 8387"/>
            </a:avLst>
          </a:prstGeom>
          <a:solidFill>
            <a:srgbClr val="EAF3F9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609344"/>
            <a:ext cx="10433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66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86968" y="2029968"/>
            <a:ext cx="1043330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converse of ∀x(P(x) → Q(x))?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60120" y="3154680"/>
            <a:ext cx="10287000" cy="475488"/>
          </a:xfrm>
          <a:prstGeom prst="roundRect">
            <a:avLst>
              <a:gd name="adj" fmla="val 25000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255264"/>
            <a:ext cx="9738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  ∀x(Q(x) → P(x))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960120" y="3758184"/>
            <a:ext cx="1028700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858768"/>
            <a:ext cx="9738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  ∀x(¬Q(x) → ¬P(x))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60120" y="4361688"/>
            <a:ext cx="1028700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462272"/>
            <a:ext cx="9738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  ∃x(P(x) ∧ ¬Q(x))</a:t>
            </a:r>
            <a:endParaRPr lang="en-US" sz="1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CHECK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6 / 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463040"/>
            <a:ext cx="10835640" cy="1417320"/>
          </a:xfrm>
          <a:prstGeom prst="roundRect">
            <a:avLst>
              <a:gd name="adj" fmla="val 8387"/>
            </a:avLst>
          </a:prstGeom>
          <a:solidFill>
            <a:srgbClr val="EAF3F9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609344"/>
            <a:ext cx="10433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66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86968" y="2029968"/>
            <a:ext cx="1043330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P is necessary for Q, what follows?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60120" y="3154680"/>
            <a:ext cx="10287000" cy="475488"/>
          </a:xfrm>
          <a:prstGeom prst="roundRect">
            <a:avLst>
              <a:gd name="adj" fmla="val 25000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255264"/>
            <a:ext cx="9738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  P → Q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960120" y="3758184"/>
            <a:ext cx="1028700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858768"/>
            <a:ext cx="9738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  Q → P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60120" y="4361688"/>
            <a:ext cx="1028700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462272"/>
            <a:ext cx="9738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  P ↔ Q</a:t>
            </a:r>
            <a:endParaRPr lang="en-US" sz="1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CHECK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7 / 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463040"/>
            <a:ext cx="10835640" cy="1417320"/>
          </a:xfrm>
          <a:prstGeom prst="roundRect">
            <a:avLst>
              <a:gd name="adj" fmla="val 8387"/>
            </a:avLst>
          </a:prstGeom>
          <a:solidFill>
            <a:srgbClr val="EAF3F9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609344"/>
            <a:ext cx="10433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66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86968" y="2029968"/>
            <a:ext cx="1043330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Justify: ∀x ∈ ℝ, (x² &lt; 0 → x &gt; 100).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60120" y="3154680"/>
            <a:ext cx="10287000" cy="475488"/>
          </a:xfrm>
          <a:prstGeom prst="roundRect">
            <a:avLst>
              <a:gd name="adj" fmla="val 25000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255264"/>
            <a:ext cx="9738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  Vacuously true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960120" y="3758184"/>
            <a:ext cx="1028700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858768"/>
            <a:ext cx="9738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  False: x = 0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60120" y="4361688"/>
            <a:ext cx="1028700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462272"/>
            <a:ext cx="9738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  False: x = −1</a:t>
            </a:r>
            <a:endParaRPr lang="en-US" sz="1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CHECK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8 / 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463040"/>
            <a:ext cx="10835640" cy="1417320"/>
          </a:xfrm>
          <a:prstGeom prst="roundRect">
            <a:avLst>
              <a:gd name="adj" fmla="val 8387"/>
            </a:avLst>
          </a:prstGeom>
          <a:solidFill>
            <a:srgbClr val="EAF3F9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609344"/>
            <a:ext cx="10433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66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86968" y="2029968"/>
            <a:ext cx="1043330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Disprove or prove: ∀n ∈ ℤ, (3 | n → 6 | n).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60120" y="3154680"/>
            <a:ext cx="10287000" cy="475488"/>
          </a:xfrm>
          <a:prstGeom prst="roundRect">
            <a:avLst>
              <a:gd name="adj" fmla="val 25000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255264"/>
            <a:ext cx="9738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  True by divisibility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960120" y="3758184"/>
            <a:ext cx="1028700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858768"/>
            <a:ext cx="9738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  False; n = 3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60120" y="4361688"/>
            <a:ext cx="1028700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462272"/>
            <a:ext cx="9738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  False; n = 6</a:t>
            </a:r>
            <a:endParaRPr lang="en-US" sz="1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APPENDIX 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 with reasoning — 1 to 4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35608"/>
            <a:ext cx="10972800" cy="987552"/>
          </a:xfrm>
          <a:prstGeom prst="roundRect">
            <a:avLst>
              <a:gd name="adj" fmla="val 12037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45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 — 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1572768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¬∀(P→Q) ≡ ∃(P∧¬Q). B is overly strong; C fails to negate the conditional.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2560320"/>
            <a:ext cx="10972800" cy="987552"/>
          </a:xfrm>
          <a:prstGeom prst="roundRect">
            <a:avLst>
              <a:gd name="adj" fmla="val 12037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— 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26974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is an even element (2), but not all elements are even.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3685032"/>
            <a:ext cx="10972800" cy="987552"/>
          </a:xfrm>
          <a:prstGeom prst="roundRect">
            <a:avLst>
              <a:gd name="adj" fmla="val 12037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 — False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0" y="382219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all means at least one exception; it does not mean none.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94360" y="4809744"/>
            <a:ext cx="10972800" cy="987552"/>
          </a:xfrm>
          <a:prstGeom prst="roundRect">
            <a:avLst>
              <a:gd name="adj" fmla="val 12037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919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 — n = 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57600" y="4946904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antecedent is true (even) while the consequent is false (not divisible by 4).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APPENDIX 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 with reasoning — 5 to 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35608"/>
            <a:ext cx="10972800" cy="987552"/>
          </a:xfrm>
          <a:prstGeom prst="roundRect">
            <a:avLst>
              <a:gd name="adj" fmla="val 12037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45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— 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1572768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Converse reverses P and Q. The contrapositive negates and reverses.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2560320"/>
            <a:ext cx="10972800" cy="987552"/>
          </a:xfrm>
          <a:prstGeom prst="roundRect">
            <a:avLst>
              <a:gd name="adj" fmla="val 12037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 — 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26974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is necessary for Q means Q cannot hold without P: Q→P.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3685032"/>
            <a:ext cx="10972800" cy="987552"/>
          </a:xfrm>
          <a:prstGeom prst="roundRect">
            <a:avLst>
              <a:gd name="adj" fmla="val 12037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 — 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0" y="382219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real number has a negative square; the antecedent is always false.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94360" y="4809744"/>
            <a:ext cx="10972800" cy="987552"/>
          </a:xfrm>
          <a:prstGeom prst="roundRect">
            <a:avLst>
              <a:gd name="adj" fmla="val 12037"/>
            </a:avLst>
          </a:prstGeom>
          <a:solidFill>
            <a:srgbClr val="F6F4F7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919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 — 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57600" y="4946904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3 is a counterexample: 3|3 but 6 does not divide 3.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APPENDIX 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enrichment: computing and logic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10698480" cy="1417320"/>
          </a:xfrm>
          <a:prstGeom prst="roundRect">
            <a:avLst>
              <a:gd name="adj" fmla="val 8387"/>
            </a:avLst>
          </a:prstGeom>
          <a:solidFill>
            <a:srgbClr val="EAF3F9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700784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66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verification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32688" y="2121408"/>
            <a:ext cx="1029614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Correctness conditions can be formalized as universal implications; failing tests provide counterexamples.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31520" y="3246120"/>
            <a:ext cx="10698480" cy="1417320"/>
          </a:xfrm>
          <a:prstGeom prst="roundRect">
            <a:avLst>
              <a:gd name="adj" fmla="val 8387"/>
            </a:avLst>
          </a:prstGeom>
          <a:solidFill>
            <a:srgbClr val="EDF7F1"/>
          </a:solidFill>
          <a:ln w="12700">
            <a:solidFill>
              <a:srgbClr val="E5DA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392424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778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representation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32688" y="3813048"/>
            <a:ext cx="1029614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Quantifiers encode general rules and existential claims in first-order logical systems.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" y="53492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lecture: nested quantifiers and why their order matters.</a:t>
            </a:r>
            <a:endParaRPr lang="en-US" sz="2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MATERIALS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&amp; course resources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5240">
            <a:solidFill>
              <a:srgbClr val="E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•  Ruwa' AbuHweidi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text: Susanna S. Epp, Discrete Mathematics with Applications, 4th ed., §3.2 (pp. 108–116).</a:t>
            </a:r>
            <a:endParaRPr lang="en-US" sz="21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731520" y="29260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u="sng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Original course materials — Prof. Mustafa Jarrar</a:t>
            </a:r>
            <a:endParaRPr lang="en-US" sz="2200" dirty="0"/>
          </a:p>
        </p:txBody>
      </p:sp>
      <p:sp>
        <p:nvSpPr>
          <p:cNvPr id="10" name="Text 8">
            <a:hlinkClick r:id="rId2" tooltip=""/>
          </p:cNvPr>
          <p:cNvSpPr/>
          <p:nvPr/>
        </p:nvSpPr>
        <p:spPr>
          <a:xfrm>
            <a:off x="731520" y="376732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u="sng" dirty="0">
                <a:solidFill>
                  <a:srgbClr val="26618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Updated course resources — COMP233 GitHub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4956048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appreciation for subsequent course-material contributions, including Dr. Radi Jarrar.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Predicates and Quantified Statements II</dc:title>
  <dc:subject>COMP233 Lecture 3.2</dc:subject>
  <dc:creator>Ruwa' AbuHweidi</dc:creator>
  <cp:lastModifiedBy>Ruwa' AbuHweidi</cp:lastModifiedBy>
  <cp:revision>1</cp:revision>
  <dcterms:created xsi:type="dcterms:W3CDTF">2026-10-21T21:41:39Z</dcterms:created>
  <dcterms:modified xsi:type="dcterms:W3CDTF">2026-10-21T21:41:39Z</dcterms:modified>
</cp:coreProperties>
</file>