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COMP233 course outline, Chapter 3 scope: Sections 3.1-3.3.
- Jarrar &amp; Jarrar, Lecture Notes 3.3, title slide.
- Epp, Discrete Mathematics with Applications, 4th ed., Section 3.3.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 3 learning agenda.
- Epp 4e, Section 3.3 topics: translation, ambiguity, negation, quantifier order, formal notation, Prolog.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Epp 4e, Section 3.3, pp. 117-118: ambiguous factory-supervisor statement and software specification motivation.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Lectures 3.1-3.2 prerequisites.
- Epp 4e, Sections 3.1-3.2: predicates, domains, universal and existential quantifiers.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Epp 4e, pp. 118-119: challenge interpretation for ∀x∃y and ∃x∀y statements.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server-responsibility example based on the quantifier-order principle in Epp 4e, pp. 118-119.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integer example illustrating the order-of-quantifiers rule in Epp 4e, pp. 124-125.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Epp 4e, p. 125: mixed quantifier order usually changes meaning; consecutive same-type quantifiers can be reordered.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verbalization and formalization sections.
- Epp 4e, pp. 120-122: translating multiply quantified statements.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4-5: multiple and order of quantifiers using Loves.
- Epp 4e, pp. 124-125: order-of-quantifiers love examples.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 7: negated-predicate forms.
[/Sources]
[Instructor notes]
- Substantive correction: the original slides use some ambiguous English paraphrases. In particular, ∃x∀y¬Loves(x,y) means one person loves nobody, not merely that someone does not love everyone.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finite relation model illustrating the witness/counterexample procedure from Epp 4e, pp. 118-120.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8-12.
- Epp 4e, Example 3.3.3, p. 120.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8-10.
- Epp 4e, Example 3.3.3(a)-(b), p. 120.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8-12.
- Epp 4e, Example 3.3.3(c)-(d), p. 120.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 13.
- Epp 4e, Figure 3.3.1 and Example 3.3.10, pp. 118 and 126.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 13.
- Epp 4e, Example 3.3.10, pp. 126-127.
[/Sources]
[Instructor notes]
- Terminology correction: the original slide says “external quantifiers”; the correct term is “existential quantifiers.”
- The formulas are typeset with explicit parentheses to preserve the intended scope.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Epp 4e, p. 125: formal logical notation for restricted universal and existential statements.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14-15.
- Epp 4e, Example 3.3.4, p. 121.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16-17.
- Epp 4e, Examples 3.3.5-3.3.6, pp. 121-122.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19-21.
- Epp 4e, pp. 123-124: negations of multiply quantified statements.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19-22.
- Epp 4e, p. 123: negation patterns.
[/Sources]
[Instructor notes]
- Substantive correction: the original slide paraphrase “Some people do not love everyone” is too weak for ∃x∀y¬Loves(x,y). The correct reading is “There is a person who loves nobody.”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Epp 4e, Example 3.3.10(c), pp. 126-127.
[/Sources]
[Instructor notes]
- The derivation is written with corrected variable scope and explicit parentheses. A likely x/y typographical inconsistency in the printed intermediate line is not reproduced.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Misconceptions synthesized from Epp 4e, Section 3.3 and the original Lecture 3.3 examples.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computing application of the quantifier-order and negation rules.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slides 23-24; scenario attributed there to Russell &amp; Norvig.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Jarrar &amp; Jarrar, Lecture Notes 3.3, slide 24; scenario attributed there to Russell &amp; Norvig.
[/Sources]
[Instructor notes]
- Substantive correction: implication antecedents are enclosed in brackets to remove scope ambiguity.
- The final inference Criminal(West) is an instructor-added completion of the knowledge-representation example.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Synthesis of the original lecture scope and Epp 4e, Section 3.3.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appendix aligned to the lecture objectives and Quiz 1 scope.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Appendix summary based on the lecture content and Epp 4e, Section 3.3.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Appendix comparison matrix based on Epp 4e, Section 3.3.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Appendix examples synthesized from lecture examples and instructor-created applications.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knowledge check aligned to Lecture 3.3 outcomes.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knowledge check aligned to Lecture 3.3 outcomes.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Instructor-created knowledge check aligned to Lecture 3.3 outcomes.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Verified answer key based on Epp 4e, Section 3.3.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Verified answer key based on Epp 4e, Section 3.3 and the lecture applications.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Epp 4e, Example 3.3.7, p. 122: definition of a sequence limit.
- Epp 4e, pp. 127-131: Prolog application.
- Database examples are instructor-created.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COMP233 official course outline.
- Jarrar &amp; Jarrar, Lecture Notes 3.3.
- Epp, Discrete Mathematics with Applications, 4th ed., Section 3.3.
[/Sources]
[Instructor notes]
- Mathematical corrections and pedagogical additions are recorded in speaker notes on the relevant slides.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www.jarrar.info/courses/DMath/" TargetMode="External"/><Relationship Id="rId2" Type="http://schemas.openxmlformats.org/officeDocument/2006/relationships/hyperlink" Target="https://github.com/RuwaYafa/BZU_Courses/tree/main/COMP233" TargetMode="Externa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A52A75"/>
          </a:solidFill>
          <a:ln w="12700">
            <a:solidFill>
              <a:srgbClr val="A52A75">
                <a:alpha val="0"/>
              </a:srgbClr>
            </a:solidFill>
            <a:prstDash val="solid"/>
          </a:ln>
        </p:spPr>
      </p:sp>
      <p:sp>
        <p:nvSpPr>
          <p:cNvPr id="3" name="Text 1"/>
          <p:cNvSpPr/>
          <p:nvPr/>
        </p:nvSpPr>
        <p:spPr>
          <a:xfrm>
            <a:off x="713232" y="658368"/>
            <a:ext cx="5577840" cy="320040"/>
          </a:xfrm>
          <a:prstGeom prst="rect">
            <a:avLst/>
          </a:prstGeom>
          <a:noFill/>
          <a:ln/>
        </p:spPr>
        <p:txBody>
          <a:bodyPr wrap="square" lIns="0" tIns="0" rIns="0" bIns="0" rtlCol="0" anchor="ctr"/>
          <a:lstStyle/>
          <a:p>
            <a:pPr indent="0" marL="0">
              <a:buNone/>
            </a:pPr>
            <a:r>
              <a:rPr lang="en-US" sz="1600" b="1" spc="160" kern="0" dirty="0">
                <a:solidFill>
                  <a:srgbClr val="A52A75"/>
                </a:solidFill>
                <a:latin typeface="Arial" pitchFamily="34" charset="0"/>
                <a:ea typeface="Arial" pitchFamily="34" charset="-122"/>
                <a:cs typeface="Arial" pitchFamily="34" charset="-120"/>
              </a:rPr>
              <a:t>COMP233 - DISCRETE MATHEMATICS</a:t>
            </a:r>
            <a:endParaRPr lang="en-US" sz="1600" dirty="0"/>
          </a:p>
        </p:txBody>
      </p:sp>
      <p:sp>
        <p:nvSpPr>
          <p:cNvPr id="4" name="Text 2"/>
          <p:cNvSpPr/>
          <p:nvPr/>
        </p:nvSpPr>
        <p:spPr>
          <a:xfrm>
            <a:off x="713232" y="1325880"/>
            <a:ext cx="3657600" cy="411480"/>
          </a:xfrm>
          <a:prstGeom prst="rect">
            <a:avLst/>
          </a:prstGeom>
          <a:noFill/>
          <a:ln/>
        </p:spPr>
        <p:txBody>
          <a:bodyPr wrap="square" lIns="0" tIns="0" rIns="0" bIns="0" rtlCol="0" anchor="ctr"/>
          <a:lstStyle/>
          <a:p>
            <a:pPr indent="0" marL="0">
              <a:buNone/>
            </a:pPr>
            <a:r>
              <a:rPr lang="en-US" sz="2600" b="1" dirty="0">
                <a:solidFill>
                  <a:srgbClr val="5E626B"/>
                </a:solidFill>
                <a:latin typeface="Arial" pitchFamily="34" charset="0"/>
                <a:ea typeface="Arial" pitchFamily="34" charset="-122"/>
                <a:cs typeface="Arial" pitchFamily="34" charset="-120"/>
              </a:rPr>
              <a:t>Lecture 3.3</a:t>
            </a:r>
            <a:endParaRPr lang="en-US" sz="2600" dirty="0"/>
          </a:p>
        </p:txBody>
      </p:sp>
      <p:sp>
        <p:nvSpPr>
          <p:cNvPr id="5" name="Text 3"/>
          <p:cNvSpPr/>
          <p:nvPr/>
        </p:nvSpPr>
        <p:spPr>
          <a:xfrm>
            <a:off x="685800" y="1783080"/>
            <a:ext cx="6858000" cy="1600200"/>
          </a:xfrm>
          <a:prstGeom prst="rect">
            <a:avLst/>
          </a:prstGeom>
          <a:noFill/>
          <a:ln/>
        </p:spPr>
        <p:txBody>
          <a:bodyPr wrap="square" lIns="0" tIns="0" rIns="0" bIns="0" rtlCol="0" anchor="ctr"/>
          <a:lstStyle/>
          <a:p>
            <a:pPr indent="0" marL="0">
              <a:buNone/>
            </a:pPr>
            <a:r>
              <a:rPr lang="en-US" sz="4000" b="1" dirty="0">
                <a:solidFill>
                  <a:srgbClr val="25252B"/>
                </a:solidFill>
                <a:latin typeface="Arial" pitchFamily="34" charset="0"/>
                <a:ea typeface="Arial" pitchFamily="34" charset="-122"/>
                <a:cs typeface="Arial" pitchFamily="34" charset="-120"/>
              </a:rPr>
              <a:t>Statements with</a:t>
            </a:r>
            <a:endParaRPr lang="en-US" sz="4000" dirty="0"/>
          </a:p>
          <a:p>
            <a:pPr indent="0" marL="0">
              <a:buNone/>
            </a:pPr>
            <a:r>
              <a:rPr lang="en-US" sz="4000" b="1" dirty="0">
                <a:solidFill>
                  <a:srgbClr val="25252B"/>
                </a:solidFill>
                <a:latin typeface="Arial" pitchFamily="34" charset="0"/>
                <a:ea typeface="Arial" pitchFamily="34" charset="-122"/>
                <a:cs typeface="Arial" pitchFamily="34" charset="-120"/>
              </a:rPr>
              <a:t>Multiple Quantifiers</a:t>
            </a:r>
            <a:endParaRPr lang="en-US" sz="4000" dirty="0"/>
          </a:p>
        </p:txBody>
      </p:sp>
      <p:sp>
        <p:nvSpPr>
          <p:cNvPr id="6" name="Shape 4"/>
          <p:cNvSpPr/>
          <p:nvPr/>
        </p:nvSpPr>
        <p:spPr>
          <a:xfrm>
            <a:off x="713232" y="3547872"/>
            <a:ext cx="5669280" cy="0"/>
          </a:xfrm>
          <a:prstGeom prst="line">
            <a:avLst/>
          </a:prstGeom>
          <a:noFill/>
          <a:ln w="31750">
            <a:solidFill>
              <a:srgbClr val="A52A75"/>
            </a:solidFill>
            <a:prstDash val="solid"/>
          </a:ln>
        </p:spPr>
      </p:sp>
      <p:sp>
        <p:nvSpPr>
          <p:cNvPr id="7" name="Text 5"/>
          <p:cNvSpPr/>
          <p:nvPr/>
        </p:nvSpPr>
        <p:spPr>
          <a:xfrm>
            <a:off x="713232" y="3822192"/>
            <a:ext cx="4389120" cy="320040"/>
          </a:xfrm>
          <a:prstGeom prst="rect">
            <a:avLst/>
          </a:prstGeom>
          <a:noFill/>
          <a:ln/>
        </p:spPr>
        <p:txBody>
          <a:bodyPr wrap="square" lIns="0" tIns="0" rIns="0" bIns="0" rtlCol="0" anchor="ctr"/>
          <a:lstStyle/>
          <a:p>
            <a:pPr indent="0" marL="0">
              <a:buNone/>
            </a:pPr>
            <a:r>
              <a:rPr lang="en-US" sz="1900" dirty="0">
                <a:solidFill>
                  <a:srgbClr val="25252B"/>
                </a:solidFill>
                <a:latin typeface="Arial" pitchFamily="34" charset="0"/>
                <a:ea typeface="Arial" pitchFamily="34" charset="-122"/>
                <a:cs typeface="Arial" pitchFamily="34" charset="-120"/>
              </a:rPr>
              <a:t>Ruwa' AbuHweidi @ 2026</a:t>
            </a:r>
            <a:endParaRPr lang="en-US" sz="1900" dirty="0"/>
          </a:p>
        </p:txBody>
      </p:sp>
      <p:sp>
        <p:nvSpPr>
          <p:cNvPr id="8" name="Text 6"/>
          <p:cNvSpPr/>
          <p:nvPr/>
        </p:nvSpPr>
        <p:spPr>
          <a:xfrm>
            <a:off x="7772400" y="1051560"/>
            <a:ext cx="1554480" cy="1691640"/>
          </a:xfrm>
          <a:prstGeom prst="rect">
            <a:avLst/>
          </a:prstGeom>
          <a:noFill/>
          <a:ln/>
        </p:spPr>
        <p:txBody>
          <a:bodyPr wrap="square" lIns="0" tIns="0" rIns="0" bIns="0" rtlCol="0" anchor="ctr"/>
          <a:lstStyle/>
          <a:p>
            <a:pPr algn="ctr" indent="0" marL="0">
              <a:buNone/>
            </a:pPr>
            <a:r>
              <a:rPr lang="en-US" sz="10000" b="1" dirty="0">
                <a:solidFill>
                  <a:srgbClr val="F3DFEA"/>
                </a:solidFill>
                <a:latin typeface="Cambria Math" pitchFamily="34" charset="0"/>
                <a:ea typeface="Cambria Math" pitchFamily="34" charset="-122"/>
                <a:cs typeface="Cambria Math" pitchFamily="34" charset="-120"/>
              </a:rPr>
              <a:t>∀</a:t>
            </a:r>
            <a:endParaRPr lang="en-US" sz="10000" dirty="0"/>
          </a:p>
        </p:txBody>
      </p:sp>
      <p:sp>
        <p:nvSpPr>
          <p:cNvPr id="9" name="Text 7"/>
          <p:cNvSpPr/>
          <p:nvPr/>
        </p:nvSpPr>
        <p:spPr>
          <a:xfrm>
            <a:off x="9738360" y="2788920"/>
            <a:ext cx="1554480" cy="1691640"/>
          </a:xfrm>
          <a:prstGeom prst="rect">
            <a:avLst/>
          </a:prstGeom>
          <a:noFill/>
          <a:ln/>
        </p:spPr>
        <p:txBody>
          <a:bodyPr wrap="square" lIns="0" tIns="0" rIns="0" bIns="0" rtlCol="0" anchor="ctr"/>
          <a:lstStyle/>
          <a:p>
            <a:pPr algn="ctr" indent="0" marL="0">
              <a:buNone/>
            </a:pPr>
            <a:r>
              <a:rPr lang="en-US" sz="10000" b="1" dirty="0">
                <a:solidFill>
                  <a:srgbClr val="E8F2F8"/>
                </a:solidFill>
                <a:latin typeface="Cambria Math" pitchFamily="34" charset="0"/>
                <a:ea typeface="Cambria Math" pitchFamily="34" charset="-122"/>
                <a:cs typeface="Cambria Math" pitchFamily="34" charset="-120"/>
              </a:rPr>
              <a:t>∃</a:t>
            </a:r>
            <a:endParaRPr lang="en-US" sz="10000" dirty="0"/>
          </a:p>
        </p:txBody>
      </p:sp>
      <p:sp>
        <p:nvSpPr>
          <p:cNvPr id="10" name="Text 8"/>
          <p:cNvSpPr/>
          <p:nvPr/>
        </p:nvSpPr>
        <p:spPr>
          <a:xfrm>
            <a:off x="7086600" y="4828032"/>
            <a:ext cx="4297680" cy="548640"/>
          </a:xfrm>
          <a:prstGeom prst="rect">
            <a:avLst/>
          </a:prstGeom>
          <a:noFill/>
          <a:ln/>
        </p:spPr>
        <p:txBody>
          <a:bodyPr wrap="square" lIns="0" tIns="0" rIns="0" bIns="0" rtlCol="0" anchor="ctr"/>
          <a:lstStyle/>
          <a:p>
            <a:pPr algn="ctr" indent="0" marL="0">
              <a:buNone/>
            </a:pPr>
            <a:r>
              <a:rPr lang="en-US" sz="2200" b="1" dirty="0">
                <a:solidFill>
                  <a:srgbClr val="7D1F58"/>
                </a:solidFill>
                <a:latin typeface="Arial" pitchFamily="34" charset="0"/>
                <a:ea typeface="Arial" pitchFamily="34" charset="-122"/>
                <a:cs typeface="Arial" pitchFamily="34" charset="-120"/>
              </a:rPr>
              <a:t>Order determines dependency.</a:t>
            </a:r>
            <a:endParaRPr lang="en-US" sz="2200" dirty="0"/>
          </a:p>
        </p:txBody>
      </p:sp>
      <p:sp>
        <p:nvSpPr>
          <p:cNvPr id="11" name="Text 9"/>
          <p:cNvSpPr/>
          <p:nvPr/>
        </p:nvSpPr>
        <p:spPr>
          <a:xfrm>
            <a:off x="7040880" y="5440680"/>
            <a:ext cx="4389120" cy="274320"/>
          </a:xfrm>
          <a:prstGeom prst="rect">
            <a:avLst/>
          </a:prstGeom>
          <a:noFill/>
          <a:ln/>
        </p:spPr>
        <p:txBody>
          <a:bodyPr wrap="square" lIns="0" tIns="0" rIns="0" bIns="0" rtlCol="0" anchor="ctr"/>
          <a:lstStyle/>
          <a:p>
            <a:pPr algn="ctr" indent="0" marL="0">
              <a:buNone/>
            </a:pPr>
            <a:r>
              <a:rPr lang="en-US" sz="1400" dirty="0">
                <a:solidFill>
                  <a:srgbClr val="5E626B"/>
                </a:solidFill>
                <a:latin typeface="Arial" pitchFamily="34" charset="0"/>
                <a:ea typeface="Arial" pitchFamily="34" charset="-122"/>
                <a:cs typeface="Arial" pitchFamily="34" charset="-120"/>
              </a:rPr>
              <a:t>First-Order Logic  |  Epp 4e, Section 3.3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ORIENTATION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Learning goals and lecture map</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LECTURE 3.3</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a:t>
            </a:r>
            <a:endParaRPr lang="en-US" sz="1000" dirty="0"/>
          </a:p>
        </p:txBody>
      </p:sp>
      <p:sp>
        <p:nvSpPr>
          <p:cNvPr id="9" name="Text 7"/>
          <p:cNvSpPr/>
          <p:nvPr/>
        </p:nvSpPr>
        <p:spPr>
          <a:xfrm>
            <a:off x="640080" y="1289304"/>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0" name="Text 8"/>
          <p:cNvSpPr/>
          <p:nvPr/>
        </p:nvSpPr>
        <p:spPr>
          <a:xfrm>
            <a:off x="1207008" y="1234440"/>
            <a:ext cx="2651760" cy="320040"/>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Interpret</a:t>
            </a:r>
            <a:endParaRPr lang="en-US" sz="2100" dirty="0"/>
          </a:p>
        </p:txBody>
      </p:sp>
      <p:sp>
        <p:nvSpPr>
          <p:cNvPr id="11" name="Text 9"/>
          <p:cNvSpPr/>
          <p:nvPr/>
        </p:nvSpPr>
        <p:spPr>
          <a:xfrm>
            <a:off x="1207008" y="1673352"/>
            <a:ext cx="2788920" cy="685800"/>
          </a:xfrm>
          <a:prstGeom prst="rect">
            <a:avLst/>
          </a:prstGeom>
          <a:noFill/>
          <a:ln/>
        </p:spPr>
        <p:txBody>
          <a:bodyPr wrap="square" lIns="0" tIns="0" rIns="0" bIns="0" rtlCol="0" anchor="ctr">
            <a:normAutofit/>
          </a:bodyPr>
          <a:lstStyle/>
          <a:p>
            <a:pPr indent="0" marL="0">
              <a:buNone/>
            </a:pPr>
            <a:r>
              <a:rPr lang="en-US" sz="1700" dirty="0">
                <a:solidFill>
                  <a:srgbClr val="5E626B"/>
                </a:solidFill>
                <a:latin typeface="Arial" pitchFamily="34" charset="0"/>
                <a:ea typeface="Arial" pitchFamily="34" charset="-122"/>
                <a:cs typeface="Arial" pitchFamily="34" charset="-120"/>
              </a:rPr>
              <a:t>Read nested quantifiers as ordered choices.</a:t>
            </a:r>
            <a:endParaRPr lang="en-US" sz="1700" dirty="0"/>
          </a:p>
        </p:txBody>
      </p:sp>
      <p:sp>
        <p:nvSpPr>
          <p:cNvPr id="12" name="Text 10"/>
          <p:cNvSpPr/>
          <p:nvPr/>
        </p:nvSpPr>
        <p:spPr>
          <a:xfrm>
            <a:off x="4434840" y="1289304"/>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1"/>
          <p:cNvSpPr/>
          <p:nvPr/>
        </p:nvSpPr>
        <p:spPr>
          <a:xfrm>
            <a:off x="5001768" y="1234440"/>
            <a:ext cx="2651760" cy="320040"/>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Compare</a:t>
            </a:r>
            <a:endParaRPr lang="en-US" sz="2100" dirty="0"/>
          </a:p>
        </p:txBody>
      </p:sp>
      <p:sp>
        <p:nvSpPr>
          <p:cNvPr id="14" name="Text 12"/>
          <p:cNvSpPr/>
          <p:nvPr/>
        </p:nvSpPr>
        <p:spPr>
          <a:xfrm>
            <a:off x="5001768" y="1673352"/>
            <a:ext cx="2788920" cy="685800"/>
          </a:xfrm>
          <a:prstGeom prst="rect">
            <a:avLst/>
          </a:prstGeom>
          <a:noFill/>
          <a:ln/>
        </p:spPr>
        <p:txBody>
          <a:bodyPr wrap="square" lIns="0" tIns="0" rIns="0" bIns="0" rtlCol="0" anchor="ctr">
            <a:normAutofit/>
          </a:bodyPr>
          <a:lstStyle/>
          <a:p>
            <a:pPr indent="0" marL="0">
              <a:buNone/>
            </a:pPr>
            <a:r>
              <a:rPr lang="en-US" sz="1700" dirty="0">
                <a:solidFill>
                  <a:srgbClr val="5E626B"/>
                </a:solidFill>
                <a:latin typeface="Arial" pitchFamily="34" charset="0"/>
                <a:ea typeface="Arial" pitchFamily="34" charset="-122"/>
                <a:cs typeface="Arial" pitchFamily="34" charset="-120"/>
              </a:rPr>
              <a:t>Distinguish ∀∃ from ∃∀ and same-type orders.</a:t>
            </a:r>
            <a:endParaRPr lang="en-US" sz="1700" dirty="0"/>
          </a:p>
        </p:txBody>
      </p:sp>
      <p:sp>
        <p:nvSpPr>
          <p:cNvPr id="15" name="Text 13"/>
          <p:cNvSpPr/>
          <p:nvPr/>
        </p:nvSpPr>
        <p:spPr>
          <a:xfrm>
            <a:off x="8229600" y="1289304"/>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8796528" y="1234440"/>
            <a:ext cx="2651760" cy="320040"/>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Translate</a:t>
            </a:r>
            <a:endParaRPr lang="en-US" sz="2100" dirty="0"/>
          </a:p>
        </p:txBody>
      </p:sp>
      <p:sp>
        <p:nvSpPr>
          <p:cNvPr id="17" name="Text 15"/>
          <p:cNvSpPr/>
          <p:nvPr/>
        </p:nvSpPr>
        <p:spPr>
          <a:xfrm>
            <a:off x="8796528" y="1673352"/>
            <a:ext cx="2788920" cy="685800"/>
          </a:xfrm>
          <a:prstGeom prst="rect">
            <a:avLst/>
          </a:prstGeom>
          <a:noFill/>
          <a:ln/>
        </p:spPr>
        <p:txBody>
          <a:bodyPr wrap="square" lIns="0" tIns="0" rIns="0" bIns="0" rtlCol="0" anchor="ctr">
            <a:normAutofit/>
          </a:bodyPr>
          <a:lstStyle/>
          <a:p>
            <a:pPr indent="0" marL="0">
              <a:buNone/>
            </a:pPr>
            <a:r>
              <a:rPr lang="en-US" sz="1700" dirty="0">
                <a:solidFill>
                  <a:srgbClr val="5E626B"/>
                </a:solidFill>
                <a:latin typeface="Arial" pitchFamily="34" charset="0"/>
                <a:ea typeface="Arial" pitchFamily="34" charset="-122"/>
                <a:cs typeface="Arial" pitchFamily="34" charset="-120"/>
              </a:rPr>
              <a:t>Move accurately between English and FOL.</a:t>
            </a:r>
            <a:endParaRPr lang="en-US" sz="1700" dirty="0"/>
          </a:p>
        </p:txBody>
      </p:sp>
      <p:sp>
        <p:nvSpPr>
          <p:cNvPr id="18" name="Text 16"/>
          <p:cNvSpPr/>
          <p:nvPr/>
        </p:nvSpPr>
        <p:spPr>
          <a:xfrm>
            <a:off x="640080" y="3300984"/>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1207008" y="3246120"/>
            <a:ext cx="2651760" cy="320040"/>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Test truth</a:t>
            </a:r>
            <a:endParaRPr lang="en-US" sz="2100" dirty="0"/>
          </a:p>
        </p:txBody>
      </p:sp>
      <p:sp>
        <p:nvSpPr>
          <p:cNvPr id="20" name="Text 18"/>
          <p:cNvSpPr/>
          <p:nvPr/>
        </p:nvSpPr>
        <p:spPr>
          <a:xfrm>
            <a:off x="1207008" y="3685032"/>
            <a:ext cx="2788920" cy="685800"/>
          </a:xfrm>
          <a:prstGeom prst="rect">
            <a:avLst/>
          </a:prstGeom>
          <a:noFill/>
          <a:ln/>
        </p:spPr>
        <p:txBody>
          <a:bodyPr wrap="square" lIns="0" tIns="0" rIns="0" bIns="0" rtlCol="0" anchor="ctr">
            <a:normAutofit/>
          </a:bodyPr>
          <a:lstStyle/>
          <a:p>
            <a:pPr indent="0" marL="0">
              <a:buNone/>
            </a:pPr>
            <a:r>
              <a:rPr lang="en-US" sz="1700" dirty="0">
                <a:solidFill>
                  <a:srgbClr val="5E626B"/>
                </a:solidFill>
                <a:latin typeface="Arial" pitchFamily="34" charset="0"/>
                <a:ea typeface="Arial" pitchFamily="34" charset="-122"/>
                <a:cs typeface="Arial" pitchFamily="34" charset="-120"/>
              </a:rPr>
              <a:t>Use witnesses and counterexamples in finite models.</a:t>
            </a:r>
            <a:endParaRPr lang="en-US" sz="1700" dirty="0"/>
          </a:p>
        </p:txBody>
      </p:sp>
      <p:sp>
        <p:nvSpPr>
          <p:cNvPr id="21" name="Text 19"/>
          <p:cNvSpPr/>
          <p:nvPr/>
        </p:nvSpPr>
        <p:spPr>
          <a:xfrm>
            <a:off x="4434840" y="3300984"/>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2" name="Text 20"/>
          <p:cNvSpPr/>
          <p:nvPr/>
        </p:nvSpPr>
        <p:spPr>
          <a:xfrm>
            <a:off x="5001768" y="3246120"/>
            <a:ext cx="2651760" cy="320040"/>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Negate</a:t>
            </a:r>
            <a:endParaRPr lang="en-US" sz="2100" dirty="0"/>
          </a:p>
        </p:txBody>
      </p:sp>
      <p:sp>
        <p:nvSpPr>
          <p:cNvPr id="23" name="Text 21"/>
          <p:cNvSpPr/>
          <p:nvPr/>
        </p:nvSpPr>
        <p:spPr>
          <a:xfrm>
            <a:off x="5001768" y="3685032"/>
            <a:ext cx="2788920" cy="685800"/>
          </a:xfrm>
          <a:prstGeom prst="rect">
            <a:avLst/>
          </a:prstGeom>
          <a:noFill/>
          <a:ln/>
        </p:spPr>
        <p:txBody>
          <a:bodyPr wrap="square" lIns="0" tIns="0" rIns="0" bIns="0" rtlCol="0" anchor="ctr">
            <a:normAutofit/>
          </a:bodyPr>
          <a:lstStyle/>
          <a:p>
            <a:pPr indent="0" marL="0">
              <a:buNone/>
            </a:pPr>
            <a:r>
              <a:rPr lang="en-US" sz="1700" dirty="0">
                <a:solidFill>
                  <a:srgbClr val="5E626B"/>
                </a:solidFill>
                <a:latin typeface="Arial" pitchFamily="34" charset="0"/>
                <a:ea typeface="Arial" pitchFamily="34" charset="-122"/>
                <a:cs typeface="Arial" pitchFamily="34" charset="-120"/>
              </a:rPr>
              <a:t>Flip every quantifier and negate the final condition.</a:t>
            </a:r>
            <a:endParaRPr lang="en-US" sz="1700" dirty="0"/>
          </a:p>
        </p:txBody>
      </p:sp>
      <p:sp>
        <p:nvSpPr>
          <p:cNvPr id="24" name="Text 22"/>
          <p:cNvSpPr/>
          <p:nvPr/>
        </p:nvSpPr>
        <p:spPr>
          <a:xfrm>
            <a:off x="8229600" y="3300984"/>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5" name="Text 23"/>
          <p:cNvSpPr/>
          <p:nvPr/>
        </p:nvSpPr>
        <p:spPr>
          <a:xfrm>
            <a:off x="8796528" y="3246120"/>
            <a:ext cx="2651760" cy="320040"/>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Apply</a:t>
            </a:r>
            <a:endParaRPr lang="en-US" sz="2100" dirty="0"/>
          </a:p>
        </p:txBody>
      </p:sp>
      <p:sp>
        <p:nvSpPr>
          <p:cNvPr id="26" name="Text 24"/>
          <p:cNvSpPr/>
          <p:nvPr/>
        </p:nvSpPr>
        <p:spPr>
          <a:xfrm>
            <a:off x="8796528" y="3685032"/>
            <a:ext cx="2788920" cy="685800"/>
          </a:xfrm>
          <a:prstGeom prst="rect">
            <a:avLst/>
          </a:prstGeom>
          <a:noFill/>
          <a:ln/>
        </p:spPr>
        <p:txBody>
          <a:bodyPr wrap="square" lIns="0" tIns="0" rIns="0" bIns="0" rtlCol="0" anchor="ctr">
            <a:normAutofit/>
          </a:bodyPr>
          <a:lstStyle/>
          <a:p>
            <a:pPr indent="0" marL="0">
              <a:buNone/>
            </a:pPr>
            <a:r>
              <a:rPr lang="en-US" sz="1700" dirty="0">
                <a:solidFill>
                  <a:srgbClr val="5E626B"/>
                </a:solidFill>
                <a:latin typeface="Arial" pitchFamily="34" charset="0"/>
                <a:ea typeface="Arial" pitchFamily="34" charset="-122"/>
                <a:cs typeface="Arial" pitchFamily="34" charset="-120"/>
              </a:rPr>
              <a:t>Express access-control and AI knowledge rules.</a:t>
            </a:r>
            <a:endParaRPr lang="en-US" sz="1700" dirty="0"/>
          </a:p>
        </p:txBody>
      </p:sp>
      <p:sp>
        <p:nvSpPr>
          <p:cNvPr id="27" name="Text 25"/>
          <p:cNvSpPr/>
          <p:nvPr/>
        </p:nvSpPr>
        <p:spPr>
          <a:xfrm>
            <a:off x="658368" y="5440680"/>
            <a:ext cx="1143000" cy="274320"/>
          </a:xfrm>
          <a:prstGeom prst="rect">
            <a:avLst/>
          </a:prstGeom>
          <a:noFill/>
          <a:ln/>
        </p:spPr>
        <p:txBody>
          <a:bodyPr wrap="square" lIns="0" tIns="0" rIns="0" bIns="0" rtlCol="0" anchor="ctr"/>
          <a:lstStyle/>
          <a:p>
            <a:pPr indent="0" marL="0">
              <a:buNone/>
            </a:pPr>
            <a:r>
              <a:rPr lang="en-US" sz="1200" b="1" dirty="0">
                <a:solidFill>
                  <a:srgbClr val="A52A75"/>
                </a:solidFill>
                <a:latin typeface="Arial" pitchFamily="34" charset="0"/>
                <a:ea typeface="Arial" pitchFamily="34" charset="-122"/>
                <a:cs typeface="Arial" pitchFamily="34" charset="-120"/>
              </a:rPr>
              <a:t>Core path</a:t>
            </a:r>
            <a:endParaRPr lang="en-US" sz="1200" dirty="0"/>
          </a:p>
        </p:txBody>
      </p:sp>
      <p:sp>
        <p:nvSpPr>
          <p:cNvPr id="28" name="Shape 26"/>
          <p:cNvSpPr/>
          <p:nvPr/>
        </p:nvSpPr>
        <p:spPr>
          <a:xfrm>
            <a:off x="960120" y="5870448"/>
            <a:ext cx="1097280" cy="384048"/>
          </a:xfrm>
          <a:prstGeom prst="chevron">
            <a:avLst/>
          </a:prstGeom>
          <a:solidFill>
            <a:srgbClr val="F3DFEA"/>
          </a:solidFill>
          <a:ln w="12700">
            <a:solidFill>
              <a:srgbClr val="F3DFEA">
                <a:alpha val="0"/>
              </a:srgbClr>
            </a:solidFill>
            <a:prstDash val="solid"/>
          </a:ln>
        </p:spPr>
      </p:sp>
      <p:sp>
        <p:nvSpPr>
          <p:cNvPr id="29" name="Shape 27"/>
          <p:cNvSpPr/>
          <p:nvPr/>
        </p:nvSpPr>
        <p:spPr>
          <a:xfrm>
            <a:off x="2743200" y="5870448"/>
            <a:ext cx="1097280" cy="384048"/>
          </a:xfrm>
          <a:prstGeom prst="chevron">
            <a:avLst/>
          </a:prstGeom>
          <a:solidFill>
            <a:srgbClr val="F3DFEA"/>
          </a:solidFill>
          <a:ln w="12700">
            <a:solidFill>
              <a:srgbClr val="F3DFEA">
                <a:alpha val="0"/>
              </a:srgbClr>
            </a:solidFill>
            <a:prstDash val="solid"/>
          </a:ln>
        </p:spPr>
      </p:sp>
      <p:sp>
        <p:nvSpPr>
          <p:cNvPr id="30" name="Shape 28"/>
          <p:cNvSpPr/>
          <p:nvPr/>
        </p:nvSpPr>
        <p:spPr>
          <a:xfrm>
            <a:off x="4526280" y="5870448"/>
            <a:ext cx="1097280" cy="384048"/>
          </a:xfrm>
          <a:prstGeom prst="chevron">
            <a:avLst/>
          </a:prstGeom>
          <a:solidFill>
            <a:srgbClr val="F3DFEA"/>
          </a:solidFill>
          <a:ln w="12700">
            <a:solidFill>
              <a:srgbClr val="F3DFEA">
                <a:alpha val="0"/>
              </a:srgbClr>
            </a:solidFill>
            <a:prstDash val="solid"/>
          </a:ln>
        </p:spPr>
      </p:sp>
      <p:sp>
        <p:nvSpPr>
          <p:cNvPr id="31" name="Shape 29"/>
          <p:cNvSpPr/>
          <p:nvPr/>
        </p:nvSpPr>
        <p:spPr>
          <a:xfrm>
            <a:off x="6309360" y="5870448"/>
            <a:ext cx="1097280" cy="384048"/>
          </a:xfrm>
          <a:prstGeom prst="chevron">
            <a:avLst/>
          </a:prstGeom>
          <a:solidFill>
            <a:srgbClr val="F3DFEA"/>
          </a:solidFill>
          <a:ln w="12700">
            <a:solidFill>
              <a:srgbClr val="F3DFEA">
                <a:alpha val="0"/>
              </a:srgbClr>
            </a:solidFill>
            <a:prstDash val="solid"/>
          </a:ln>
        </p:spPr>
      </p:sp>
      <p:sp>
        <p:nvSpPr>
          <p:cNvPr id="32" name="Shape 30"/>
          <p:cNvSpPr/>
          <p:nvPr/>
        </p:nvSpPr>
        <p:spPr>
          <a:xfrm>
            <a:off x="8092440" y="5870448"/>
            <a:ext cx="1097280" cy="384048"/>
          </a:xfrm>
          <a:prstGeom prst="chevron">
            <a:avLst/>
          </a:prstGeom>
          <a:solidFill>
            <a:srgbClr val="F3DFEA"/>
          </a:solidFill>
          <a:ln w="12700">
            <a:solidFill>
              <a:srgbClr val="F3DFEA">
                <a:alpha val="0"/>
              </a:srgbClr>
            </a:solidFill>
            <a:prstDash val="solid"/>
          </a:ln>
        </p:spPr>
      </p:sp>
      <p:sp>
        <p:nvSpPr>
          <p:cNvPr id="33" name="Text 31"/>
          <p:cNvSpPr/>
          <p:nvPr/>
        </p:nvSpPr>
        <p:spPr>
          <a:xfrm>
            <a:off x="640080" y="5806440"/>
            <a:ext cx="1417320" cy="475488"/>
          </a:xfrm>
          <a:prstGeom prst="rect">
            <a:avLst/>
          </a:prstGeom>
          <a:solidFill>
            <a:srgbClr val="F3DFEA"/>
          </a:solidFill>
          <a:ln>
            <a:solidFill>
              <a:srgbClr val="D8D2D6"/>
            </a:solidFill>
          </a:ln>
        </p:spPr>
        <p:txBody>
          <a:bodyPr wrap="square" lIns="254" tIns="254" rIns="254" bIns="254" rtlCol="0" anchor="ctr"/>
          <a:lstStyle/>
          <a:p>
            <a:pPr algn="ctr" indent="0" marL="0">
              <a:buNone/>
            </a:pPr>
            <a:r>
              <a:rPr lang="en-US" sz="1450" b="1" dirty="0">
                <a:solidFill>
                  <a:srgbClr val="25252B"/>
                </a:solidFill>
                <a:latin typeface="Arial" pitchFamily="34" charset="0"/>
                <a:ea typeface="Arial" pitchFamily="34" charset="-122"/>
                <a:cs typeface="Arial" pitchFamily="34" charset="-120"/>
              </a:rPr>
              <a:t>Meaning</a:t>
            </a:r>
            <a:endParaRPr lang="en-US" sz="1450" dirty="0"/>
          </a:p>
        </p:txBody>
      </p:sp>
      <p:sp>
        <p:nvSpPr>
          <p:cNvPr id="34" name="Text 32"/>
          <p:cNvSpPr/>
          <p:nvPr/>
        </p:nvSpPr>
        <p:spPr>
          <a:xfrm>
            <a:off x="2468880" y="5806440"/>
            <a:ext cx="1417320" cy="475488"/>
          </a:xfrm>
          <a:prstGeom prst="rect">
            <a:avLst/>
          </a:prstGeom>
          <a:solidFill>
            <a:srgbClr val="E8F2F8"/>
          </a:solidFill>
          <a:ln>
            <a:solidFill>
              <a:srgbClr val="D8D2D6"/>
            </a:solidFill>
          </a:ln>
        </p:spPr>
        <p:txBody>
          <a:bodyPr wrap="square" lIns="254" tIns="254" rIns="254" bIns="254" rtlCol="0" anchor="ctr"/>
          <a:lstStyle/>
          <a:p>
            <a:pPr algn="ctr" indent="0" marL="0">
              <a:buNone/>
            </a:pPr>
            <a:r>
              <a:rPr lang="en-US" sz="1450" b="1" dirty="0">
                <a:solidFill>
                  <a:srgbClr val="25252B"/>
                </a:solidFill>
                <a:latin typeface="Arial" pitchFamily="34" charset="0"/>
                <a:ea typeface="Arial" pitchFamily="34" charset="-122"/>
                <a:cs typeface="Arial" pitchFamily="34" charset="-120"/>
              </a:rPr>
              <a:t>Order</a:t>
            </a:r>
            <a:endParaRPr lang="en-US" sz="1450" dirty="0"/>
          </a:p>
        </p:txBody>
      </p:sp>
      <p:sp>
        <p:nvSpPr>
          <p:cNvPr id="35" name="Text 33"/>
          <p:cNvSpPr/>
          <p:nvPr/>
        </p:nvSpPr>
        <p:spPr>
          <a:xfrm>
            <a:off x="4297680" y="5806440"/>
            <a:ext cx="1417320" cy="475488"/>
          </a:xfrm>
          <a:prstGeom prst="rect">
            <a:avLst/>
          </a:prstGeom>
          <a:solidFill>
            <a:srgbClr val="F3DFEA"/>
          </a:solidFill>
          <a:ln>
            <a:solidFill>
              <a:srgbClr val="D8D2D6"/>
            </a:solidFill>
          </a:ln>
        </p:spPr>
        <p:txBody>
          <a:bodyPr wrap="square" lIns="254" tIns="254" rIns="254" bIns="254" rtlCol="0" anchor="ctr"/>
          <a:lstStyle/>
          <a:p>
            <a:pPr algn="ctr" indent="0" marL="0">
              <a:buNone/>
            </a:pPr>
            <a:r>
              <a:rPr lang="en-US" sz="1450" b="1" dirty="0">
                <a:solidFill>
                  <a:srgbClr val="25252B"/>
                </a:solidFill>
                <a:latin typeface="Arial" pitchFamily="34" charset="0"/>
                <a:ea typeface="Arial" pitchFamily="34" charset="-122"/>
                <a:cs typeface="Arial" pitchFamily="34" charset="-120"/>
              </a:rPr>
              <a:t>Translation</a:t>
            </a:r>
            <a:endParaRPr lang="en-US" sz="1450" dirty="0"/>
          </a:p>
        </p:txBody>
      </p:sp>
      <p:sp>
        <p:nvSpPr>
          <p:cNvPr id="36" name="Text 34"/>
          <p:cNvSpPr/>
          <p:nvPr/>
        </p:nvSpPr>
        <p:spPr>
          <a:xfrm>
            <a:off x="6126480" y="5806440"/>
            <a:ext cx="1417320" cy="475488"/>
          </a:xfrm>
          <a:prstGeom prst="rect">
            <a:avLst/>
          </a:prstGeom>
          <a:solidFill>
            <a:srgbClr val="E8F2F8"/>
          </a:solidFill>
          <a:ln>
            <a:solidFill>
              <a:srgbClr val="D8D2D6"/>
            </a:solidFill>
          </a:ln>
        </p:spPr>
        <p:txBody>
          <a:bodyPr wrap="square" lIns="254" tIns="254" rIns="254" bIns="254" rtlCol="0" anchor="ctr"/>
          <a:lstStyle/>
          <a:p>
            <a:pPr algn="ctr" indent="0" marL="0">
              <a:buNone/>
            </a:pPr>
            <a:r>
              <a:rPr lang="en-US" sz="1450" b="1" dirty="0">
                <a:solidFill>
                  <a:srgbClr val="25252B"/>
                </a:solidFill>
                <a:latin typeface="Arial" pitchFamily="34" charset="0"/>
                <a:ea typeface="Arial" pitchFamily="34" charset="-122"/>
                <a:cs typeface="Arial" pitchFamily="34" charset="-120"/>
              </a:rPr>
              <a:t>Models</a:t>
            </a:r>
            <a:endParaRPr lang="en-US" sz="1450" dirty="0"/>
          </a:p>
        </p:txBody>
      </p:sp>
      <p:sp>
        <p:nvSpPr>
          <p:cNvPr id="37" name="Text 35"/>
          <p:cNvSpPr/>
          <p:nvPr/>
        </p:nvSpPr>
        <p:spPr>
          <a:xfrm>
            <a:off x="7955280" y="5806440"/>
            <a:ext cx="1417320" cy="475488"/>
          </a:xfrm>
          <a:prstGeom prst="rect">
            <a:avLst/>
          </a:prstGeom>
          <a:solidFill>
            <a:srgbClr val="F3DFEA"/>
          </a:solidFill>
          <a:ln>
            <a:solidFill>
              <a:srgbClr val="D8D2D6"/>
            </a:solidFill>
          </a:ln>
        </p:spPr>
        <p:txBody>
          <a:bodyPr wrap="square" lIns="254" tIns="254" rIns="254" bIns="254" rtlCol="0" anchor="ctr"/>
          <a:lstStyle/>
          <a:p>
            <a:pPr algn="ctr" indent="0" marL="0">
              <a:buNone/>
            </a:pPr>
            <a:r>
              <a:rPr lang="en-US" sz="1450" b="1" dirty="0">
                <a:solidFill>
                  <a:srgbClr val="25252B"/>
                </a:solidFill>
                <a:latin typeface="Arial" pitchFamily="34" charset="0"/>
                <a:ea typeface="Arial" pitchFamily="34" charset="-122"/>
                <a:cs typeface="Arial" pitchFamily="34" charset="-120"/>
              </a:rPr>
              <a:t>Negation</a:t>
            </a:r>
            <a:endParaRPr lang="en-US" sz="1450" dirty="0"/>
          </a:p>
        </p:txBody>
      </p:sp>
      <p:sp>
        <p:nvSpPr>
          <p:cNvPr id="38" name="Text 36"/>
          <p:cNvSpPr/>
          <p:nvPr/>
        </p:nvSpPr>
        <p:spPr>
          <a:xfrm>
            <a:off x="9784080" y="5806440"/>
            <a:ext cx="1417320" cy="475488"/>
          </a:xfrm>
          <a:prstGeom prst="rect">
            <a:avLst/>
          </a:prstGeom>
          <a:solidFill>
            <a:srgbClr val="E8F2F8"/>
          </a:solidFill>
          <a:ln>
            <a:solidFill>
              <a:srgbClr val="D8D2D6"/>
            </a:solidFill>
          </a:ln>
        </p:spPr>
        <p:txBody>
          <a:bodyPr wrap="square" lIns="254" tIns="254" rIns="254" bIns="254" rtlCol="0" anchor="ctr"/>
          <a:lstStyle/>
          <a:p>
            <a:pPr algn="ctr" indent="0" marL="0">
              <a:buNone/>
            </a:pPr>
            <a:r>
              <a:rPr lang="en-US" sz="1450" b="1" dirty="0">
                <a:solidFill>
                  <a:srgbClr val="25252B"/>
                </a:solidFill>
                <a:latin typeface="Arial" pitchFamily="34" charset="0"/>
                <a:ea typeface="Arial" pitchFamily="34" charset="-122"/>
                <a:cs typeface="Arial" pitchFamily="34" charset="-120"/>
              </a:rPr>
              <a:t>Applications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MOTIVATION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Why multiple quantifiers?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MEANING &amp; ORDER</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a:t>
            </a:r>
            <a:endParaRPr lang="en-US" sz="1000" dirty="0"/>
          </a:p>
        </p:txBody>
      </p:sp>
      <p:sp>
        <p:nvSpPr>
          <p:cNvPr id="9" name="Text 7"/>
          <p:cNvSpPr/>
          <p:nvPr/>
        </p:nvSpPr>
        <p:spPr>
          <a:xfrm>
            <a:off x="658368" y="1170432"/>
            <a:ext cx="7680960" cy="365760"/>
          </a:xfrm>
          <a:prstGeom prst="rect">
            <a:avLst/>
          </a:prstGeom>
          <a:noFill/>
          <a:ln/>
        </p:spPr>
        <p:txBody>
          <a:bodyPr wrap="square" lIns="0" tIns="0" rIns="0" bIns="0" rtlCol="0" anchor="ctr"/>
          <a:lstStyle/>
          <a:p>
            <a:pPr indent="0" marL="0">
              <a:buNone/>
            </a:pPr>
            <a:r>
              <a:rPr lang="en-US" sz="2200" dirty="0">
                <a:solidFill>
                  <a:srgbClr val="5E626B"/>
                </a:solidFill>
                <a:latin typeface="Arial" pitchFamily="34" charset="0"/>
                <a:ea typeface="Arial" pitchFamily="34" charset="-122"/>
                <a:cs typeface="Arial" pitchFamily="34" charset="-120"/>
              </a:rPr>
              <a:t>Natural language can hide two different logical structures.</a:t>
            </a:r>
            <a:endParaRPr lang="en-US" sz="2200" dirty="0"/>
          </a:p>
        </p:txBody>
      </p:sp>
      <p:sp>
        <p:nvSpPr>
          <p:cNvPr id="10" name="Text 8"/>
          <p:cNvSpPr/>
          <p:nvPr/>
        </p:nvSpPr>
        <p:spPr>
          <a:xfrm>
            <a:off x="685800" y="1691640"/>
            <a:ext cx="10835640" cy="658368"/>
          </a:xfrm>
          <a:prstGeom prst="rect">
            <a:avLst/>
          </a:prstGeom>
          <a:solidFill>
            <a:srgbClr val="FBF3D9"/>
          </a:solidFill>
          <a:ln w="12700">
            <a:solidFill>
              <a:srgbClr val="E1C870"/>
            </a:solidFill>
          </a:ln>
        </p:spPr>
        <p:txBody>
          <a:bodyPr wrap="square" lIns="1524" tIns="1524" rIns="1524" bIns="1524" rtlCol="0" anchor="ctr">
            <a:normAutofit/>
          </a:bodyPr>
          <a:lstStyle/>
          <a:p>
            <a:pPr algn="ctr" indent="0" marL="0">
              <a:buNone/>
            </a:pPr>
            <a:r>
              <a:rPr lang="en-US" sz="2500" b="1" dirty="0">
                <a:solidFill>
                  <a:srgbClr val="25252B"/>
                </a:solidFill>
                <a:latin typeface="Arial" pitchFamily="34" charset="0"/>
                <a:ea typeface="Arial" pitchFamily="34" charset="-122"/>
                <a:cs typeface="Arial" pitchFamily="34" charset="-120"/>
              </a:rPr>
              <a:t>“There is a person supervising every detail.”</a:t>
            </a:r>
            <a:endParaRPr lang="en-US" sz="2500" dirty="0"/>
          </a:p>
        </p:txBody>
      </p:sp>
      <p:sp>
        <p:nvSpPr>
          <p:cNvPr id="11" name="Text 9"/>
          <p:cNvSpPr/>
          <p:nvPr/>
        </p:nvSpPr>
        <p:spPr>
          <a:xfrm>
            <a:off x="749808" y="2743200"/>
            <a:ext cx="512064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One supervisor for all details</a:t>
            </a:r>
            <a:endParaRPr lang="en-US" sz="2000" dirty="0"/>
          </a:p>
        </p:txBody>
      </p:sp>
      <p:sp>
        <p:nvSpPr>
          <p:cNvPr id="12" name="Text 10"/>
          <p:cNvSpPr/>
          <p:nvPr/>
        </p:nvSpPr>
        <p:spPr>
          <a:xfrm>
            <a:off x="960120" y="3364992"/>
            <a:ext cx="4663440" cy="658368"/>
          </a:xfrm>
          <a:prstGeom prst="rect">
            <a:avLst/>
          </a:prstGeom>
          <a:solidFill>
            <a:srgbClr val="FBF4F8"/>
          </a:solidFill>
          <a:ln w="12700">
            <a:solidFill>
              <a:srgbClr val="A52A75"/>
            </a:solidFill>
          </a:ln>
        </p:spPr>
        <p:txBody>
          <a:bodyPr wrap="square" lIns="254" tIns="254" rIns="254" bIns="254" rtlCol="0" anchor="ctr">
            <a:normAutofit/>
          </a:bodyPr>
          <a:lstStyle/>
          <a:p>
            <a:pPr algn="ctr" indent="0" marL="0">
              <a:buNone/>
            </a:pPr>
            <a:r>
              <a:rPr lang="en-US" sz="2800" dirty="0">
                <a:solidFill>
                  <a:srgbClr val="25252B"/>
                </a:solidFill>
                <a:latin typeface="Cambria Math" pitchFamily="34" charset="0"/>
                <a:ea typeface="Cambria Math" pitchFamily="34" charset="-122"/>
                <a:cs typeface="Cambria Math" pitchFamily="34" charset="-120"/>
              </a:rPr>
              <a:t>∃p ∀d  Supervises(p,d)</a:t>
            </a:r>
            <a:endParaRPr lang="en-US" sz="2800" dirty="0"/>
          </a:p>
        </p:txBody>
      </p:sp>
      <p:sp>
        <p:nvSpPr>
          <p:cNvPr id="13" name="Text 11"/>
          <p:cNvSpPr/>
          <p:nvPr/>
        </p:nvSpPr>
        <p:spPr>
          <a:xfrm>
            <a:off x="6309360" y="2743200"/>
            <a:ext cx="512064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Each detail has some supervisor</a:t>
            </a:r>
            <a:endParaRPr lang="en-US" sz="2000" dirty="0"/>
          </a:p>
        </p:txBody>
      </p:sp>
      <p:sp>
        <p:nvSpPr>
          <p:cNvPr id="14" name="Text 12"/>
          <p:cNvSpPr/>
          <p:nvPr/>
        </p:nvSpPr>
        <p:spPr>
          <a:xfrm>
            <a:off x="6537960" y="3364992"/>
            <a:ext cx="4663440" cy="658368"/>
          </a:xfrm>
          <a:prstGeom prst="rect">
            <a:avLst/>
          </a:prstGeom>
          <a:solidFill>
            <a:srgbClr val="F4F9FC"/>
          </a:solidFill>
          <a:ln w="12700">
            <a:solidFill>
              <a:srgbClr val="3E7DA6"/>
            </a:solidFill>
          </a:ln>
        </p:spPr>
        <p:txBody>
          <a:bodyPr wrap="square" lIns="254" tIns="254" rIns="254" bIns="254" rtlCol="0" anchor="ctr">
            <a:normAutofit/>
          </a:bodyPr>
          <a:lstStyle/>
          <a:p>
            <a:pPr algn="ctr" indent="0" marL="0">
              <a:buNone/>
            </a:pPr>
            <a:r>
              <a:rPr lang="en-US" sz="2800" dirty="0">
                <a:solidFill>
                  <a:srgbClr val="25252B"/>
                </a:solidFill>
                <a:latin typeface="Cambria Math" pitchFamily="34" charset="0"/>
                <a:ea typeface="Cambria Math" pitchFamily="34" charset="-122"/>
                <a:cs typeface="Cambria Math" pitchFamily="34" charset="-120"/>
              </a:rPr>
              <a:t>∀d ∃p  Supervises(p,d)</a:t>
            </a:r>
            <a:endParaRPr lang="en-US" sz="2800" dirty="0"/>
          </a:p>
        </p:txBody>
      </p:sp>
      <p:sp>
        <p:nvSpPr>
          <p:cNvPr id="15" name="Shape 13"/>
          <p:cNvSpPr/>
          <p:nvPr/>
        </p:nvSpPr>
        <p:spPr>
          <a:xfrm>
            <a:off x="6080760" y="2697480"/>
            <a:ext cx="0" cy="1828800"/>
          </a:xfrm>
          <a:prstGeom prst="line">
            <a:avLst/>
          </a:prstGeom>
          <a:noFill/>
          <a:ln w="15240">
            <a:solidFill>
              <a:srgbClr val="D8D2D6"/>
            </a:solidFill>
            <a:prstDash val="solid"/>
          </a:ln>
        </p:spPr>
      </p:sp>
      <p:sp>
        <p:nvSpPr>
          <p:cNvPr id="16" name="Text 14"/>
          <p:cNvSpPr/>
          <p:nvPr/>
        </p:nvSpPr>
        <p:spPr>
          <a:xfrm>
            <a:off x="1508760" y="4773168"/>
            <a:ext cx="9144000" cy="512064"/>
          </a:xfrm>
          <a:prstGeom prst="rect">
            <a:avLst/>
          </a:prstGeom>
          <a:noFill/>
          <a:ln/>
        </p:spPr>
        <p:txBody>
          <a:bodyPr wrap="square" lIns="0" tIns="0" rIns="0" bIns="0" rtlCol="0" anchor="ctr"/>
          <a:lstStyle/>
          <a:p>
            <a:pPr algn="ctr" indent="0" marL="0">
              <a:buNone/>
            </a:pPr>
            <a:r>
              <a:rPr lang="en-US" sz="2200" b="1" dirty="0">
                <a:solidFill>
                  <a:srgbClr val="7D1F58"/>
                </a:solidFill>
                <a:latin typeface="Arial" pitchFamily="34" charset="0"/>
                <a:ea typeface="Arial" pitchFamily="34" charset="-122"/>
                <a:cs typeface="Arial" pitchFamily="34" charset="-120"/>
              </a:rPr>
              <a:t>Formal notation removes ambiguity by fixing the order of choices.</a:t>
            </a:r>
            <a:endParaRPr lang="en-US" sz="2200" dirty="0"/>
          </a:p>
        </p:txBody>
      </p:sp>
      <p:sp>
        <p:nvSpPr>
          <p:cNvPr id="17" name="Text 15"/>
          <p:cNvSpPr/>
          <p:nvPr/>
        </p:nvSpPr>
        <p:spPr>
          <a:xfrm>
            <a:off x="1371600" y="5486400"/>
            <a:ext cx="9418320" cy="420624"/>
          </a:xfrm>
          <a:prstGeom prst="rect">
            <a:avLst/>
          </a:prstGeom>
          <a:noFill/>
          <a:ln/>
        </p:spPr>
        <p:txBody>
          <a:bodyPr wrap="square" lIns="0" tIns="0" rIns="0" bIns="0" rtlCol="0" anchor="ctr"/>
          <a:lstStyle/>
          <a:p>
            <a:pPr algn="ctr" indent="0" marL="0">
              <a:buNone/>
            </a:pPr>
            <a:r>
              <a:rPr lang="en-US" sz="1750" dirty="0">
                <a:solidFill>
                  <a:srgbClr val="5E626B"/>
                </a:solidFill>
                <a:latin typeface="Arial" pitchFamily="34" charset="0"/>
                <a:ea typeface="Arial" pitchFamily="34" charset="-122"/>
                <a:cs typeface="Arial" pitchFamily="34" charset="-120"/>
              </a:rPr>
              <a:t>In software specifications, the two readings can define very different system requirements.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REVIEW</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Prerequisite review: predicates and quantifiers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MEANING &amp; ORDER</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4</a:t>
            </a:r>
            <a:endParaRPr lang="en-US" sz="1000" dirty="0"/>
          </a:p>
        </p:txBody>
      </p:sp>
      <p:sp>
        <p:nvSpPr>
          <p:cNvPr id="9" name="Text 7"/>
          <p:cNvSpPr/>
          <p:nvPr/>
        </p:nvSpPr>
        <p:spPr>
          <a:xfrm>
            <a:off x="685800" y="1234440"/>
            <a:ext cx="512064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Predicate</a:t>
            </a:r>
            <a:endParaRPr lang="en-US" sz="2100" dirty="0"/>
          </a:p>
        </p:txBody>
      </p:sp>
      <p:sp>
        <p:nvSpPr>
          <p:cNvPr id="10" name="Text 8"/>
          <p:cNvSpPr/>
          <p:nvPr/>
        </p:nvSpPr>
        <p:spPr>
          <a:xfrm>
            <a:off x="868680" y="1874520"/>
            <a:ext cx="4754880" cy="731520"/>
          </a:xfrm>
          <a:prstGeom prst="rect">
            <a:avLst/>
          </a:prstGeom>
          <a:noFill/>
          <a:ln/>
        </p:spPr>
        <p:txBody>
          <a:bodyPr wrap="square" lIns="0" tIns="0" rIns="0" bIns="0" rtlCol="0" anchor="ctr"/>
          <a:lstStyle/>
          <a:p>
            <a:pPr indent="0" marL="0">
              <a:buNone/>
            </a:pPr>
            <a:r>
              <a:rPr lang="en-US" sz="1900" dirty="0">
                <a:solidFill>
                  <a:srgbClr val="25252B"/>
                </a:solidFill>
                <a:latin typeface="Arial" pitchFamily="34" charset="0"/>
                <a:ea typeface="Arial" pitchFamily="34" charset="-122"/>
                <a:cs typeface="Arial" pitchFamily="34" charset="-120"/>
              </a:rPr>
              <a:t>A sentence containing variables that becomes true or false after values are assigned.</a:t>
            </a:r>
            <a:endParaRPr lang="en-US" sz="1900" dirty="0"/>
          </a:p>
        </p:txBody>
      </p:sp>
      <p:sp>
        <p:nvSpPr>
          <p:cNvPr id="11" name="Text 9"/>
          <p:cNvSpPr/>
          <p:nvPr/>
        </p:nvSpPr>
        <p:spPr>
          <a:xfrm>
            <a:off x="868680" y="2743200"/>
            <a:ext cx="4754880" cy="640080"/>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Prime(x)     Loves(x,y)     x &lt; y</a:t>
            </a:r>
            <a:endParaRPr lang="en-US" sz="2500" dirty="0"/>
          </a:p>
        </p:txBody>
      </p:sp>
      <p:sp>
        <p:nvSpPr>
          <p:cNvPr id="12" name="Text 10"/>
          <p:cNvSpPr/>
          <p:nvPr/>
        </p:nvSpPr>
        <p:spPr>
          <a:xfrm>
            <a:off x="6263640" y="1234440"/>
            <a:ext cx="521208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Quantifier</a:t>
            </a:r>
            <a:endParaRPr lang="en-US" sz="2100" dirty="0"/>
          </a:p>
        </p:txBody>
      </p:sp>
      <p:sp>
        <p:nvSpPr>
          <p:cNvPr id="13" name="Text 11"/>
          <p:cNvSpPr/>
          <p:nvPr/>
        </p:nvSpPr>
        <p:spPr>
          <a:xfrm>
            <a:off x="6446520" y="1874520"/>
            <a:ext cx="4800600" cy="731520"/>
          </a:xfrm>
          <a:prstGeom prst="rect">
            <a:avLst/>
          </a:prstGeom>
          <a:noFill/>
          <a:ln/>
        </p:spPr>
        <p:txBody>
          <a:bodyPr wrap="square" lIns="0" tIns="0" rIns="0" bIns="0" rtlCol="0" anchor="ctr"/>
          <a:lstStyle/>
          <a:p>
            <a:pPr indent="0" marL="0">
              <a:buNone/>
            </a:pPr>
            <a:r>
              <a:rPr lang="en-US" sz="1900" dirty="0">
                <a:solidFill>
                  <a:srgbClr val="25252B"/>
                </a:solidFill>
                <a:latin typeface="Arial" pitchFamily="34" charset="0"/>
                <a:ea typeface="Arial" pitchFamily="34" charset="-122"/>
                <a:cs typeface="Arial" pitchFamily="34" charset="-120"/>
              </a:rPr>
              <a:t>A symbol that states how many domain elements must satisfy a predicate.</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0" y="2743200"/>
          <a:ext cx="4892040" cy="1691640"/>
        </p:xfrm>
        <a:graphic>
          <a:graphicData uri="http://schemas.openxmlformats.org/drawingml/2006/table">
            <a:tbl>
              <a:tblPr/>
              <a:tblGrid>
                <a:gridCol w="731520"/>
                <a:gridCol w="1691640"/>
                <a:gridCol w="2468880"/>
              </a:tblGrid>
              <a:tr h="50292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Symbol</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Meaning</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To disprove</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r>
              <a:tr h="502920">
                <a:tc>
                  <a:txBody>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a:t>
                      </a:r>
                      <a:endParaRPr lang="en-US" sz="2500" dirty="0">
                        <a:latin typeface="Cambria Math" charset="0"/>
                        <a:ea typeface="Cambria Math" charset="0"/>
                        <a:cs typeface="Cambria Math"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1700" dirty="0">
                          <a:solidFill>
                            <a:srgbClr val="25252B"/>
                          </a:solidFill>
                          <a:latin typeface="Arial" pitchFamily="34" charset="0"/>
                          <a:ea typeface="Arial" pitchFamily="34" charset="-122"/>
                          <a:cs typeface="Arial" pitchFamily="34" charset="-120"/>
                        </a:rPr>
                        <a:t>for every</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1700" dirty="0">
                          <a:solidFill>
                            <a:srgbClr val="25252B"/>
                          </a:solidFill>
                          <a:latin typeface="Arial" pitchFamily="34" charset="0"/>
                          <a:ea typeface="Arial" pitchFamily="34" charset="-122"/>
                          <a:cs typeface="Arial" pitchFamily="34" charset="-120"/>
                        </a:rPr>
                        <a:t>one counterexample</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r>
              <a:tr h="502920">
                <a:tc>
                  <a:txBody>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a:t>
                      </a:r>
                      <a:endParaRPr lang="en-US" sz="2500" dirty="0">
                        <a:latin typeface="Cambria Math" charset="0"/>
                        <a:ea typeface="Cambria Math" charset="0"/>
                        <a:cs typeface="Cambria Math"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1700" dirty="0">
                          <a:solidFill>
                            <a:srgbClr val="25252B"/>
                          </a:solidFill>
                          <a:latin typeface="Arial" pitchFamily="34" charset="0"/>
                          <a:ea typeface="Arial" pitchFamily="34" charset="-122"/>
                          <a:cs typeface="Arial" pitchFamily="34" charset="-120"/>
                        </a:rPr>
                        <a:t>there exists</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1700" dirty="0">
                          <a:solidFill>
                            <a:srgbClr val="25252B"/>
                          </a:solidFill>
                          <a:latin typeface="Arial" pitchFamily="34" charset="0"/>
                          <a:ea typeface="Arial" pitchFamily="34" charset="-122"/>
                          <a:cs typeface="Arial" pitchFamily="34" charset="-120"/>
                        </a:rPr>
                        <a:t>show none works</a:t>
                      </a:r>
                      <a:endParaRPr lang="en-US" sz="17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r>
            </a:tbl>
          </a:graphicData>
        </a:graphic>
      </p:graphicFrame>
      <p:sp>
        <p:nvSpPr>
          <p:cNvPr id="15" name="Text 12"/>
          <p:cNvSpPr/>
          <p:nvPr/>
        </p:nvSpPr>
        <p:spPr>
          <a:xfrm>
            <a:off x="1143000" y="5120640"/>
            <a:ext cx="9875520" cy="64008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2200" b="1" dirty="0">
                <a:solidFill>
                  <a:srgbClr val="25252B"/>
                </a:solidFill>
                <a:latin typeface="Arial" pitchFamily="34" charset="0"/>
                <a:ea typeface="Arial" pitchFamily="34" charset="-122"/>
                <a:cs typeface="Arial" pitchFamily="34" charset="-120"/>
              </a:rPr>
              <a:t>Always state or infer the domain before judging truth.</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CORE IDEA</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Interpretation: who chooses first?</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MEANING &amp; ORDER</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5</a:t>
            </a:r>
            <a:endParaRPr lang="en-US" sz="1000" dirty="0"/>
          </a:p>
        </p:txBody>
      </p:sp>
      <p:sp>
        <p:nvSpPr>
          <p:cNvPr id="9" name="Shape 7"/>
          <p:cNvSpPr/>
          <p:nvPr/>
        </p:nvSpPr>
        <p:spPr>
          <a:xfrm>
            <a:off x="2697480" y="2331720"/>
            <a:ext cx="0" cy="393192"/>
          </a:xfrm>
          <a:prstGeom prst="line">
            <a:avLst/>
          </a:prstGeom>
          <a:noFill/>
          <a:ln w="19050">
            <a:solidFill>
              <a:srgbClr val="25252B"/>
            </a:solidFill>
            <a:prstDash val="solid"/>
            <a:headEnd type="none"/>
            <a:tailEnd type="triangle"/>
          </a:ln>
        </p:spPr>
      </p:sp>
      <p:sp>
        <p:nvSpPr>
          <p:cNvPr id="10" name="Shape 8"/>
          <p:cNvSpPr/>
          <p:nvPr/>
        </p:nvSpPr>
        <p:spPr>
          <a:xfrm>
            <a:off x="2697480" y="3429000"/>
            <a:ext cx="0" cy="393192"/>
          </a:xfrm>
          <a:prstGeom prst="line">
            <a:avLst/>
          </a:prstGeom>
          <a:noFill/>
          <a:ln w="19050">
            <a:solidFill>
              <a:srgbClr val="25252B"/>
            </a:solidFill>
            <a:prstDash val="solid"/>
            <a:headEnd type="none"/>
            <a:tailEnd type="triangle"/>
          </a:ln>
        </p:spPr>
      </p:sp>
      <p:sp>
        <p:nvSpPr>
          <p:cNvPr id="11" name="Shape 9"/>
          <p:cNvSpPr/>
          <p:nvPr/>
        </p:nvSpPr>
        <p:spPr>
          <a:xfrm>
            <a:off x="2697480" y="4526280"/>
            <a:ext cx="0" cy="393192"/>
          </a:xfrm>
          <a:prstGeom prst="line">
            <a:avLst/>
          </a:prstGeom>
          <a:noFill/>
          <a:ln w="19050">
            <a:solidFill>
              <a:srgbClr val="25252B"/>
            </a:solidFill>
            <a:prstDash val="solid"/>
            <a:headEnd type="none"/>
            <a:tailEnd type="triangle"/>
          </a:ln>
        </p:spPr>
      </p:sp>
      <p:sp>
        <p:nvSpPr>
          <p:cNvPr id="12" name="Shape 10"/>
          <p:cNvSpPr/>
          <p:nvPr/>
        </p:nvSpPr>
        <p:spPr>
          <a:xfrm>
            <a:off x="8686800" y="2331720"/>
            <a:ext cx="0" cy="393192"/>
          </a:xfrm>
          <a:prstGeom prst="line">
            <a:avLst/>
          </a:prstGeom>
          <a:noFill/>
          <a:ln w="19050">
            <a:solidFill>
              <a:srgbClr val="25252B"/>
            </a:solidFill>
            <a:prstDash val="solid"/>
            <a:headEnd type="none"/>
            <a:tailEnd type="triangle"/>
          </a:ln>
        </p:spPr>
      </p:sp>
      <p:sp>
        <p:nvSpPr>
          <p:cNvPr id="13" name="Shape 11"/>
          <p:cNvSpPr/>
          <p:nvPr/>
        </p:nvSpPr>
        <p:spPr>
          <a:xfrm>
            <a:off x="8686800" y="3429000"/>
            <a:ext cx="0" cy="393192"/>
          </a:xfrm>
          <a:prstGeom prst="line">
            <a:avLst/>
          </a:prstGeom>
          <a:noFill/>
          <a:ln w="19050">
            <a:solidFill>
              <a:srgbClr val="25252B"/>
            </a:solidFill>
            <a:prstDash val="solid"/>
            <a:headEnd type="none"/>
            <a:tailEnd type="triangle"/>
          </a:ln>
        </p:spPr>
      </p:sp>
      <p:sp>
        <p:nvSpPr>
          <p:cNvPr id="14" name="Shape 12"/>
          <p:cNvSpPr/>
          <p:nvPr/>
        </p:nvSpPr>
        <p:spPr>
          <a:xfrm>
            <a:off x="8686800" y="4526280"/>
            <a:ext cx="0" cy="393192"/>
          </a:xfrm>
          <a:prstGeom prst="line">
            <a:avLst/>
          </a:prstGeom>
          <a:noFill/>
          <a:ln w="19050">
            <a:solidFill>
              <a:srgbClr val="25252B"/>
            </a:solidFill>
            <a:prstDash val="solid"/>
            <a:headEnd type="none"/>
            <a:tailEnd type="triangle"/>
          </a:ln>
        </p:spPr>
      </p:sp>
      <p:sp>
        <p:nvSpPr>
          <p:cNvPr id="15" name="Text 13"/>
          <p:cNvSpPr/>
          <p:nvPr/>
        </p:nvSpPr>
        <p:spPr>
          <a:xfrm>
            <a:off x="777240" y="1170432"/>
            <a:ext cx="3840480" cy="594360"/>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3000" dirty="0">
                <a:solidFill>
                  <a:srgbClr val="25252B"/>
                </a:solidFill>
                <a:latin typeface="Cambria Math" pitchFamily="34" charset="0"/>
                <a:ea typeface="Cambria Math" pitchFamily="34" charset="-122"/>
                <a:cs typeface="Cambria Math" pitchFamily="34" charset="-120"/>
              </a:rPr>
              <a:t>∀x ∃y  P(x,y)</a:t>
            </a:r>
            <a:endParaRPr lang="en-US" sz="3000" dirty="0"/>
          </a:p>
        </p:txBody>
      </p:sp>
      <p:sp>
        <p:nvSpPr>
          <p:cNvPr id="16" name="Text 14"/>
          <p:cNvSpPr/>
          <p:nvPr/>
        </p:nvSpPr>
        <p:spPr>
          <a:xfrm>
            <a:off x="6583680" y="1170432"/>
            <a:ext cx="3840480" cy="594360"/>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3000" dirty="0">
                <a:solidFill>
                  <a:srgbClr val="25252B"/>
                </a:solidFill>
                <a:latin typeface="Cambria Math" pitchFamily="34" charset="0"/>
                <a:ea typeface="Cambria Math" pitchFamily="34" charset="-122"/>
                <a:cs typeface="Cambria Math" pitchFamily="34" charset="-120"/>
              </a:rPr>
              <a:t>∃y ∀x  P(x,y)</a:t>
            </a:r>
            <a:endParaRPr lang="en-US" sz="3000" dirty="0"/>
          </a:p>
        </p:txBody>
      </p:sp>
      <p:sp>
        <p:nvSpPr>
          <p:cNvPr id="17" name="Text 15"/>
          <p:cNvSpPr/>
          <p:nvPr/>
        </p:nvSpPr>
        <p:spPr>
          <a:xfrm>
            <a:off x="822960" y="1874520"/>
            <a:ext cx="3749040" cy="566928"/>
          </a:xfrm>
          <a:prstGeom prst="rect">
            <a:avLst/>
          </a:prstGeom>
          <a:solidFill>
            <a:srgbClr val="F7FBFD"/>
          </a:solidFill>
          <a:ln w="12700">
            <a:solidFill>
              <a:srgbClr val="3E7DA6"/>
            </a:solidFill>
          </a:ln>
        </p:spPr>
        <p:txBody>
          <a:bodyPr wrap="square" lIns="1524" tIns="1524" rIns="1524" bIns="1524"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1. Someone gives you an x.</a:t>
            </a:r>
            <a:endParaRPr lang="en-US" sz="1900" dirty="0"/>
          </a:p>
        </p:txBody>
      </p:sp>
      <p:sp>
        <p:nvSpPr>
          <p:cNvPr id="18" name="Text 16"/>
          <p:cNvSpPr/>
          <p:nvPr/>
        </p:nvSpPr>
        <p:spPr>
          <a:xfrm>
            <a:off x="822960" y="2971800"/>
            <a:ext cx="3749040" cy="658368"/>
          </a:xfrm>
          <a:prstGeom prst="rect">
            <a:avLst/>
          </a:prstGeom>
          <a:solidFill>
            <a:srgbClr val="F7FBFD"/>
          </a:solidFill>
          <a:ln w="12700">
            <a:solidFill>
              <a:srgbClr val="3E7DA6"/>
            </a:solidFill>
          </a:ln>
        </p:spPr>
        <p:txBody>
          <a:bodyPr wrap="square" lIns="1524" tIns="1524" rIns="1524" bIns="1524" rtlCol="0" anchor="ctr">
            <a:normAutofit/>
          </a:bodyPr>
          <a:lstStyle/>
          <a:p>
            <a:pPr algn="ctr" indent="0" marL="0">
              <a:buNone/>
            </a:pPr>
            <a:r>
              <a:rPr lang="en-US" sz="1850" dirty="0">
                <a:solidFill>
                  <a:srgbClr val="25252B"/>
                </a:solidFill>
                <a:latin typeface="Arial" pitchFamily="34" charset="0"/>
                <a:ea typeface="Arial" pitchFamily="34" charset="-122"/>
                <a:cs typeface="Arial" pitchFamily="34" charset="-120"/>
              </a:rPr>
              <a:t>2. You choose a y that works for this x.</a:t>
            </a:r>
            <a:endParaRPr lang="en-US" sz="1850" dirty="0"/>
          </a:p>
        </p:txBody>
      </p:sp>
      <p:sp>
        <p:nvSpPr>
          <p:cNvPr id="19" name="Text 17"/>
          <p:cNvSpPr/>
          <p:nvPr/>
        </p:nvSpPr>
        <p:spPr>
          <a:xfrm>
            <a:off x="822960" y="4069080"/>
            <a:ext cx="3749040" cy="566928"/>
          </a:xfrm>
          <a:prstGeom prst="rect">
            <a:avLst/>
          </a:prstGeom>
          <a:solidFill>
            <a:srgbClr val="F7FBFD"/>
          </a:solidFill>
          <a:ln w="12700">
            <a:solidFill>
              <a:srgbClr val="3E7DA6"/>
            </a:solidFill>
          </a:ln>
        </p:spPr>
        <p:txBody>
          <a:bodyPr wrap="square" lIns="1524" tIns="1524" rIns="1524" bIns="1524"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3. Your y may depend on x.</a:t>
            </a:r>
            <a:endParaRPr lang="en-US" sz="1900" dirty="0"/>
          </a:p>
        </p:txBody>
      </p:sp>
      <p:sp>
        <p:nvSpPr>
          <p:cNvPr id="20" name="Text 18"/>
          <p:cNvSpPr/>
          <p:nvPr/>
        </p:nvSpPr>
        <p:spPr>
          <a:xfrm>
            <a:off x="822960" y="5166360"/>
            <a:ext cx="374904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Possibly different witnesses</a:t>
            </a:r>
            <a:endParaRPr lang="en-US" sz="1900" dirty="0"/>
          </a:p>
        </p:txBody>
      </p:sp>
      <p:sp>
        <p:nvSpPr>
          <p:cNvPr id="21" name="Text 19"/>
          <p:cNvSpPr/>
          <p:nvPr/>
        </p:nvSpPr>
        <p:spPr>
          <a:xfrm>
            <a:off x="6812280" y="1874520"/>
            <a:ext cx="3749040" cy="566928"/>
          </a:xfrm>
          <a:prstGeom prst="rect">
            <a:avLst/>
          </a:prstGeom>
          <a:solidFill>
            <a:srgbClr val="F7FCF8"/>
          </a:solidFill>
          <a:ln w="12700">
            <a:solidFill>
              <a:srgbClr val="4B8B5B"/>
            </a:solidFill>
          </a:ln>
        </p:spPr>
        <p:txBody>
          <a:bodyPr wrap="square" lIns="1524" tIns="1524" rIns="1524" bIns="1524"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1. You choose one y first.</a:t>
            </a:r>
            <a:endParaRPr lang="en-US" sz="1900" dirty="0"/>
          </a:p>
        </p:txBody>
      </p:sp>
      <p:sp>
        <p:nvSpPr>
          <p:cNvPr id="22" name="Text 20"/>
          <p:cNvSpPr/>
          <p:nvPr/>
        </p:nvSpPr>
        <p:spPr>
          <a:xfrm>
            <a:off x="6812280" y="2971800"/>
            <a:ext cx="3749040" cy="658368"/>
          </a:xfrm>
          <a:prstGeom prst="rect">
            <a:avLst/>
          </a:prstGeom>
          <a:solidFill>
            <a:srgbClr val="F7FCF8"/>
          </a:solidFill>
          <a:ln w="12700">
            <a:solidFill>
              <a:srgbClr val="4B8B5B"/>
            </a:solidFill>
          </a:ln>
        </p:spPr>
        <p:txBody>
          <a:bodyPr wrap="square" lIns="1524" tIns="1524" rIns="1524" bIns="1524" rtlCol="0" anchor="ctr">
            <a:normAutofit/>
          </a:bodyPr>
          <a:lstStyle/>
          <a:p>
            <a:pPr algn="ctr" indent="0" marL="0">
              <a:buNone/>
            </a:pPr>
            <a:r>
              <a:rPr lang="en-US" sz="1850" dirty="0">
                <a:solidFill>
                  <a:srgbClr val="25252B"/>
                </a:solidFill>
                <a:latin typeface="Arial" pitchFamily="34" charset="0"/>
                <a:ea typeface="Arial" pitchFamily="34" charset="-122"/>
                <a:cs typeface="Arial" pitchFamily="34" charset="-120"/>
              </a:rPr>
              <a:t>2. Someone may then give any x.</a:t>
            </a:r>
            <a:endParaRPr lang="en-US" sz="1850" dirty="0"/>
          </a:p>
        </p:txBody>
      </p:sp>
      <p:sp>
        <p:nvSpPr>
          <p:cNvPr id="23" name="Text 21"/>
          <p:cNvSpPr/>
          <p:nvPr/>
        </p:nvSpPr>
        <p:spPr>
          <a:xfrm>
            <a:off x="6812280" y="4069080"/>
            <a:ext cx="3749040" cy="566928"/>
          </a:xfrm>
          <a:prstGeom prst="rect">
            <a:avLst/>
          </a:prstGeom>
          <a:solidFill>
            <a:srgbClr val="F7FCF8"/>
          </a:solidFill>
          <a:ln w="12700">
            <a:solidFill>
              <a:srgbClr val="4B8B5B"/>
            </a:solidFill>
          </a:ln>
        </p:spPr>
        <p:txBody>
          <a:bodyPr wrap="square" lIns="1524" tIns="1524" rIns="1524" bIns="1524"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3. The same y must work for all x.</a:t>
            </a:r>
            <a:endParaRPr lang="en-US" sz="1900" dirty="0"/>
          </a:p>
        </p:txBody>
      </p:sp>
      <p:sp>
        <p:nvSpPr>
          <p:cNvPr id="24" name="Text 22"/>
          <p:cNvSpPr/>
          <p:nvPr/>
        </p:nvSpPr>
        <p:spPr>
          <a:xfrm>
            <a:off x="6812280" y="5166360"/>
            <a:ext cx="374904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One common witness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CORE IDEA</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Dependency and witnesses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MEANING &amp; ORDER</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6</a:t>
            </a:r>
            <a:endParaRPr lang="en-US" sz="1000" dirty="0"/>
          </a:p>
        </p:txBody>
      </p:sp>
      <p:sp>
        <p:nvSpPr>
          <p:cNvPr id="9" name="Text 7"/>
          <p:cNvSpPr/>
          <p:nvPr/>
        </p:nvSpPr>
        <p:spPr>
          <a:xfrm>
            <a:off x="685800" y="1188720"/>
            <a:ext cx="7863840" cy="365760"/>
          </a:xfrm>
          <a:prstGeom prst="rect">
            <a:avLst/>
          </a:prstGeom>
          <a:noFill/>
          <a:ln/>
        </p:spPr>
        <p:txBody>
          <a:bodyPr wrap="square" lIns="0" tIns="0" rIns="0" bIns="0" rtlCol="0" anchor="ctr"/>
          <a:lstStyle/>
          <a:p>
            <a:pPr indent="0" marL="0">
              <a:buNone/>
            </a:pPr>
            <a:r>
              <a:rPr lang="en-US" sz="2100" dirty="0">
                <a:solidFill>
                  <a:srgbClr val="5E626B"/>
                </a:solidFill>
                <a:latin typeface="Arial" pitchFamily="34" charset="0"/>
                <a:ea typeface="Arial" pitchFamily="34" charset="-122"/>
                <a:cs typeface="Arial" pitchFamily="34" charset="-120"/>
              </a:rPr>
              <a:t>A witness is a value that makes an existential statement true.</a:t>
            </a:r>
            <a:endParaRPr lang="en-US" sz="2100" dirty="0"/>
          </a:p>
        </p:txBody>
      </p:sp>
      <p:sp>
        <p:nvSpPr>
          <p:cNvPr id="10" name="Text 8"/>
          <p:cNvSpPr/>
          <p:nvPr/>
        </p:nvSpPr>
        <p:spPr>
          <a:xfrm>
            <a:off x="685800" y="1828800"/>
            <a:ext cx="5212080" cy="53035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Every server has a responsible person.</a:t>
            </a:r>
            <a:endParaRPr lang="en-US" sz="2100" dirty="0"/>
          </a:p>
        </p:txBody>
      </p:sp>
      <p:sp>
        <p:nvSpPr>
          <p:cNvPr id="11" name="Text 9"/>
          <p:cNvSpPr/>
          <p:nvPr/>
        </p:nvSpPr>
        <p:spPr>
          <a:xfrm>
            <a:off x="914400" y="2606040"/>
            <a:ext cx="4754880" cy="59436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∀s ∃p  Responsible(p,s)</a:t>
            </a:r>
            <a:endParaRPr lang="en-US" sz="2700" dirty="0"/>
          </a:p>
        </p:txBody>
      </p:sp>
      <p:sp>
        <p:nvSpPr>
          <p:cNvPr id="12" name="Text 10"/>
          <p:cNvSpPr/>
          <p:nvPr/>
        </p:nvSpPr>
        <p:spPr>
          <a:xfrm>
            <a:off x="1051560" y="3337560"/>
            <a:ext cx="4480560" cy="384048"/>
          </a:xfrm>
          <a:prstGeom prst="rect">
            <a:avLst/>
          </a:prstGeom>
          <a:noFill/>
          <a:ln/>
        </p:spPr>
        <p:txBody>
          <a:bodyPr wrap="square" lIns="0" tIns="0" rIns="0" bIns="0" rtlCol="0" anchor="ctr"/>
          <a:lstStyle/>
          <a:p>
            <a:pPr algn="ctr" indent="0" marL="0">
              <a:buNone/>
            </a:pPr>
            <a:r>
              <a:rPr lang="en-US" sz="1850" b="1" dirty="0">
                <a:solidFill>
                  <a:srgbClr val="3E7DA6"/>
                </a:solidFill>
                <a:latin typeface="Arial" pitchFamily="34" charset="0"/>
                <a:ea typeface="Arial" pitchFamily="34" charset="-122"/>
                <a:cs typeface="Arial" pitchFamily="34" charset="-120"/>
              </a:rPr>
              <a:t>The person p may vary with the server s.</a:t>
            </a:r>
            <a:endParaRPr lang="en-US" sz="1850" dirty="0"/>
          </a:p>
        </p:txBody>
      </p:sp>
      <p:sp>
        <p:nvSpPr>
          <p:cNvPr id="13" name="Shape 11"/>
          <p:cNvSpPr/>
          <p:nvPr/>
        </p:nvSpPr>
        <p:spPr>
          <a:xfrm>
            <a:off x="1755648" y="4681728"/>
            <a:ext cx="0" cy="640080"/>
          </a:xfrm>
          <a:prstGeom prst="line">
            <a:avLst/>
          </a:prstGeom>
          <a:noFill/>
          <a:ln w="19050">
            <a:solidFill>
              <a:srgbClr val="3E7DA6"/>
            </a:solidFill>
            <a:prstDash val="solid"/>
            <a:tailEnd type="triangle"/>
          </a:ln>
        </p:spPr>
      </p:sp>
      <p:sp>
        <p:nvSpPr>
          <p:cNvPr id="14" name="Shape 12"/>
          <p:cNvSpPr/>
          <p:nvPr/>
        </p:nvSpPr>
        <p:spPr>
          <a:xfrm>
            <a:off x="3172968" y="4681728"/>
            <a:ext cx="0" cy="640080"/>
          </a:xfrm>
          <a:prstGeom prst="line">
            <a:avLst/>
          </a:prstGeom>
          <a:noFill/>
          <a:ln w="19050">
            <a:solidFill>
              <a:srgbClr val="3E7DA6"/>
            </a:solidFill>
            <a:prstDash val="solid"/>
            <a:tailEnd type="triangle"/>
          </a:ln>
        </p:spPr>
      </p:sp>
      <p:sp>
        <p:nvSpPr>
          <p:cNvPr id="15" name="Shape 13"/>
          <p:cNvSpPr/>
          <p:nvPr/>
        </p:nvSpPr>
        <p:spPr>
          <a:xfrm>
            <a:off x="4590288" y="4681728"/>
            <a:ext cx="0" cy="640080"/>
          </a:xfrm>
          <a:prstGeom prst="line">
            <a:avLst/>
          </a:prstGeom>
          <a:noFill/>
          <a:ln w="19050">
            <a:solidFill>
              <a:srgbClr val="3E7DA6"/>
            </a:solidFill>
            <a:prstDash val="solid"/>
            <a:tailEnd type="triangle"/>
          </a:ln>
        </p:spPr>
      </p:sp>
      <p:sp>
        <p:nvSpPr>
          <p:cNvPr id="16" name="Text 14"/>
          <p:cNvSpPr/>
          <p:nvPr/>
        </p:nvSpPr>
        <p:spPr>
          <a:xfrm>
            <a:off x="1371600" y="4297680"/>
            <a:ext cx="777240" cy="438912"/>
          </a:xfrm>
          <a:prstGeom prst="rect">
            <a:avLst/>
          </a:prstGeom>
          <a:solidFill>
            <a:srgbClr val="FFFFFF"/>
          </a:solidFill>
          <a:ln w="12700">
            <a:solidFill>
              <a:srgbClr val="3E7DA6"/>
            </a:solidFill>
          </a:ln>
        </p:spPr>
        <p:txBody>
          <a:bodyPr wrap="square" lIns="254" tIns="254" rIns="254" bIns="25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S₁</a:t>
            </a:r>
            <a:endParaRPr lang="en-US" sz="1800" dirty="0"/>
          </a:p>
        </p:txBody>
      </p:sp>
      <p:sp>
        <p:nvSpPr>
          <p:cNvPr id="17" name="Text 15"/>
          <p:cNvSpPr/>
          <p:nvPr/>
        </p:nvSpPr>
        <p:spPr>
          <a:xfrm>
            <a:off x="2788920" y="4297680"/>
            <a:ext cx="777240" cy="438912"/>
          </a:xfrm>
          <a:prstGeom prst="rect">
            <a:avLst/>
          </a:prstGeom>
          <a:solidFill>
            <a:srgbClr val="FFFFFF"/>
          </a:solidFill>
          <a:ln w="12700">
            <a:solidFill>
              <a:srgbClr val="3E7DA6"/>
            </a:solidFill>
          </a:ln>
        </p:spPr>
        <p:txBody>
          <a:bodyPr wrap="square" lIns="254" tIns="254" rIns="254" bIns="25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S₂</a:t>
            </a:r>
            <a:endParaRPr lang="en-US" sz="1800" dirty="0"/>
          </a:p>
        </p:txBody>
      </p:sp>
      <p:sp>
        <p:nvSpPr>
          <p:cNvPr id="18" name="Text 16"/>
          <p:cNvSpPr/>
          <p:nvPr/>
        </p:nvSpPr>
        <p:spPr>
          <a:xfrm>
            <a:off x="4206240" y="4297680"/>
            <a:ext cx="777240" cy="438912"/>
          </a:xfrm>
          <a:prstGeom prst="rect">
            <a:avLst/>
          </a:prstGeom>
          <a:solidFill>
            <a:srgbClr val="FFFFFF"/>
          </a:solidFill>
          <a:ln w="12700">
            <a:solidFill>
              <a:srgbClr val="3E7DA6"/>
            </a:solidFill>
          </a:ln>
        </p:spPr>
        <p:txBody>
          <a:bodyPr wrap="square" lIns="254" tIns="254" rIns="254" bIns="25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S₃</a:t>
            </a:r>
            <a:endParaRPr lang="en-US" sz="1800" dirty="0"/>
          </a:p>
        </p:txBody>
      </p:sp>
      <p:sp>
        <p:nvSpPr>
          <p:cNvPr id="19" name="Text 17"/>
          <p:cNvSpPr/>
          <p:nvPr/>
        </p:nvSpPr>
        <p:spPr>
          <a:xfrm>
            <a:off x="1207008" y="5394960"/>
            <a:ext cx="1115568" cy="438912"/>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1500" b="1" dirty="0">
                <a:solidFill>
                  <a:srgbClr val="25252B"/>
                </a:solidFill>
                <a:latin typeface="Arial" pitchFamily="34" charset="0"/>
                <a:ea typeface="Arial" pitchFamily="34" charset="-122"/>
                <a:cs typeface="Arial" pitchFamily="34" charset="-120"/>
              </a:rPr>
              <a:t>Ahmad</a:t>
            </a:r>
            <a:endParaRPr lang="en-US" sz="1500" dirty="0"/>
          </a:p>
        </p:txBody>
      </p:sp>
      <p:sp>
        <p:nvSpPr>
          <p:cNvPr id="20" name="Text 18"/>
          <p:cNvSpPr/>
          <p:nvPr/>
        </p:nvSpPr>
        <p:spPr>
          <a:xfrm>
            <a:off x="2624328" y="5394960"/>
            <a:ext cx="1115568" cy="438912"/>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1500" b="1" dirty="0">
                <a:solidFill>
                  <a:srgbClr val="25252B"/>
                </a:solidFill>
                <a:latin typeface="Arial" pitchFamily="34" charset="0"/>
                <a:ea typeface="Arial" pitchFamily="34" charset="-122"/>
                <a:cs typeface="Arial" pitchFamily="34" charset="-120"/>
              </a:rPr>
              <a:t>Sara</a:t>
            </a:r>
            <a:endParaRPr lang="en-US" sz="1500" dirty="0"/>
          </a:p>
        </p:txBody>
      </p:sp>
      <p:sp>
        <p:nvSpPr>
          <p:cNvPr id="21" name="Text 19"/>
          <p:cNvSpPr/>
          <p:nvPr/>
        </p:nvSpPr>
        <p:spPr>
          <a:xfrm>
            <a:off x="4041648" y="5394960"/>
            <a:ext cx="1115568" cy="438912"/>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1500" b="1" dirty="0">
                <a:solidFill>
                  <a:srgbClr val="25252B"/>
                </a:solidFill>
                <a:latin typeface="Arial" pitchFamily="34" charset="0"/>
                <a:ea typeface="Arial" pitchFamily="34" charset="-122"/>
                <a:cs typeface="Arial" pitchFamily="34" charset="-120"/>
              </a:rPr>
              <a:t>Lina</a:t>
            </a:r>
            <a:endParaRPr lang="en-US" sz="1500" dirty="0"/>
          </a:p>
        </p:txBody>
      </p:sp>
      <p:sp>
        <p:nvSpPr>
          <p:cNvPr id="22" name="Text 20"/>
          <p:cNvSpPr/>
          <p:nvPr/>
        </p:nvSpPr>
        <p:spPr>
          <a:xfrm>
            <a:off x="6309360" y="1828800"/>
            <a:ext cx="5212080" cy="53035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One person is responsible for every server.</a:t>
            </a:r>
            <a:endParaRPr lang="en-US" sz="2100" dirty="0"/>
          </a:p>
        </p:txBody>
      </p:sp>
      <p:sp>
        <p:nvSpPr>
          <p:cNvPr id="23" name="Text 21"/>
          <p:cNvSpPr/>
          <p:nvPr/>
        </p:nvSpPr>
        <p:spPr>
          <a:xfrm>
            <a:off x="6537960" y="2606040"/>
            <a:ext cx="4754880" cy="59436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∃p ∀s  Responsible(p,s)</a:t>
            </a:r>
            <a:endParaRPr lang="en-US" sz="2700" dirty="0"/>
          </a:p>
        </p:txBody>
      </p:sp>
      <p:sp>
        <p:nvSpPr>
          <p:cNvPr id="24" name="Text 22"/>
          <p:cNvSpPr/>
          <p:nvPr/>
        </p:nvSpPr>
        <p:spPr>
          <a:xfrm>
            <a:off x="6675120" y="3337560"/>
            <a:ext cx="4572000" cy="384048"/>
          </a:xfrm>
          <a:prstGeom prst="rect">
            <a:avLst/>
          </a:prstGeom>
          <a:noFill/>
          <a:ln/>
        </p:spPr>
        <p:txBody>
          <a:bodyPr wrap="square" lIns="0" tIns="0" rIns="0" bIns="0" rtlCol="0" anchor="ctr"/>
          <a:lstStyle/>
          <a:p>
            <a:pPr algn="ctr" indent="0" marL="0">
              <a:buNone/>
            </a:pPr>
            <a:r>
              <a:rPr lang="en-US" sz="1850" b="1" dirty="0">
                <a:solidFill>
                  <a:srgbClr val="4B8B5B"/>
                </a:solidFill>
                <a:latin typeface="Arial" pitchFamily="34" charset="0"/>
                <a:ea typeface="Arial" pitchFamily="34" charset="-122"/>
                <a:cs typeface="Arial" pitchFamily="34" charset="-120"/>
              </a:rPr>
              <a:t>One fixed person must be a common witness.</a:t>
            </a:r>
            <a:endParaRPr lang="en-US" sz="1850" dirty="0"/>
          </a:p>
        </p:txBody>
      </p:sp>
      <p:sp>
        <p:nvSpPr>
          <p:cNvPr id="25" name="Shape 23"/>
          <p:cNvSpPr/>
          <p:nvPr/>
        </p:nvSpPr>
        <p:spPr>
          <a:xfrm>
            <a:off x="9006840" y="5349240"/>
            <a:ext cx="-1828800" cy="-658368"/>
          </a:xfrm>
          <a:prstGeom prst="line">
            <a:avLst/>
          </a:prstGeom>
          <a:noFill/>
          <a:ln w="19050">
            <a:solidFill>
              <a:srgbClr val="4B8B5B"/>
            </a:solidFill>
            <a:prstDash val="solid"/>
            <a:tailEnd type="triangle"/>
          </a:ln>
        </p:spPr>
      </p:sp>
      <p:sp>
        <p:nvSpPr>
          <p:cNvPr id="26" name="Shape 24"/>
          <p:cNvSpPr/>
          <p:nvPr/>
        </p:nvSpPr>
        <p:spPr>
          <a:xfrm>
            <a:off x="9006840" y="5349240"/>
            <a:ext cx="-365760" cy="-658368"/>
          </a:xfrm>
          <a:prstGeom prst="line">
            <a:avLst/>
          </a:prstGeom>
          <a:noFill/>
          <a:ln w="19050">
            <a:solidFill>
              <a:srgbClr val="4B8B5B"/>
            </a:solidFill>
            <a:prstDash val="solid"/>
            <a:tailEnd type="triangle"/>
          </a:ln>
        </p:spPr>
      </p:sp>
      <p:sp>
        <p:nvSpPr>
          <p:cNvPr id="27" name="Shape 25"/>
          <p:cNvSpPr/>
          <p:nvPr/>
        </p:nvSpPr>
        <p:spPr>
          <a:xfrm>
            <a:off x="9006840" y="5349240"/>
            <a:ext cx="1097280" cy="-658368"/>
          </a:xfrm>
          <a:prstGeom prst="line">
            <a:avLst/>
          </a:prstGeom>
          <a:noFill/>
          <a:ln w="19050">
            <a:solidFill>
              <a:srgbClr val="4B8B5B"/>
            </a:solidFill>
            <a:prstDash val="solid"/>
            <a:tailEnd type="triangle"/>
          </a:ln>
        </p:spPr>
      </p:sp>
      <p:sp>
        <p:nvSpPr>
          <p:cNvPr id="28" name="Text 26"/>
          <p:cNvSpPr/>
          <p:nvPr/>
        </p:nvSpPr>
        <p:spPr>
          <a:xfrm>
            <a:off x="6812280" y="4343400"/>
            <a:ext cx="777240" cy="438912"/>
          </a:xfrm>
          <a:prstGeom prst="rect">
            <a:avLst/>
          </a:prstGeom>
          <a:solidFill>
            <a:srgbClr val="FFFFFF"/>
          </a:solidFill>
          <a:ln w="12700">
            <a:solidFill>
              <a:srgbClr val="4B8B5B"/>
            </a:solidFill>
          </a:ln>
        </p:spPr>
        <p:txBody>
          <a:bodyPr wrap="square" lIns="254" tIns="254" rIns="254" bIns="25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S₁</a:t>
            </a:r>
            <a:endParaRPr lang="en-US" sz="1800" dirty="0"/>
          </a:p>
        </p:txBody>
      </p:sp>
      <p:sp>
        <p:nvSpPr>
          <p:cNvPr id="29" name="Text 27"/>
          <p:cNvSpPr/>
          <p:nvPr/>
        </p:nvSpPr>
        <p:spPr>
          <a:xfrm>
            <a:off x="8275320" y="4343400"/>
            <a:ext cx="777240" cy="438912"/>
          </a:xfrm>
          <a:prstGeom prst="rect">
            <a:avLst/>
          </a:prstGeom>
          <a:solidFill>
            <a:srgbClr val="FFFFFF"/>
          </a:solidFill>
          <a:ln w="12700">
            <a:solidFill>
              <a:srgbClr val="4B8B5B"/>
            </a:solidFill>
          </a:ln>
        </p:spPr>
        <p:txBody>
          <a:bodyPr wrap="square" lIns="254" tIns="254" rIns="254" bIns="25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S₂</a:t>
            </a:r>
            <a:endParaRPr lang="en-US" sz="1800" dirty="0"/>
          </a:p>
        </p:txBody>
      </p:sp>
      <p:sp>
        <p:nvSpPr>
          <p:cNvPr id="30" name="Text 28"/>
          <p:cNvSpPr/>
          <p:nvPr/>
        </p:nvSpPr>
        <p:spPr>
          <a:xfrm>
            <a:off x="9738360" y="4343400"/>
            <a:ext cx="777240" cy="438912"/>
          </a:xfrm>
          <a:prstGeom prst="rect">
            <a:avLst/>
          </a:prstGeom>
          <a:solidFill>
            <a:srgbClr val="FFFFFF"/>
          </a:solidFill>
          <a:ln w="12700">
            <a:solidFill>
              <a:srgbClr val="4B8B5B"/>
            </a:solidFill>
          </a:ln>
        </p:spPr>
        <p:txBody>
          <a:bodyPr wrap="square" lIns="254" tIns="254" rIns="254" bIns="25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S₃</a:t>
            </a:r>
            <a:endParaRPr lang="en-US" sz="1800" dirty="0"/>
          </a:p>
        </p:txBody>
      </p:sp>
      <p:sp>
        <p:nvSpPr>
          <p:cNvPr id="31" name="Text 29"/>
          <p:cNvSpPr/>
          <p:nvPr/>
        </p:nvSpPr>
        <p:spPr>
          <a:xfrm>
            <a:off x="8549640" y="5394960"/>
            <a:ext cx="960120" cy="438912"/>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1600" b="1" dirty="0">
                <a:solidFill>
                  <a:srgbClr val="25252B"/>
                </a:solidFill>
                <a:latin typeface="Arial" pitchFamily="34" charset="0"/>
                <a:ea typeface="Arial" pitchFamily="34" charset="-122"/>
                <a:cs typeface="Arial" pitchFamily="34" charset="-120"/>
              </a:rPr>
              <a:t>Ruwa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COMPARISON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Order changes meaning - and truth</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MEANING &amp; ORDER</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7</a:t>
            </a:r>
            <a:endParaRPr lang="en-US" sz="1000" dirty="0"/>
          </a:p>
        </p:txBody>
      </p:sp>
      <p:sp>
        <p:nvSpPr>
          <p:cNvPr id="9" name="Text 7"/>
          <p:cNvSpPr/>
          <p:nvPr/>
        </p:nvSpPr>
        <p:spPr>
          <a:xfrm>
            <a:off x="685800" y="1325880"/>
            <a:ext cx="5120640" cy="658368"/>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2900" dirty="0">
                <a:solidFill>
                  <a:srgbClr val="25252B"/>
                </a:solidFill>
                <a:latin typeface="Cambria Math" pitchFamily="34" charset="0"/>
                <a:ea typeface="Cambria Math" pitchFamily="34" charset="-122"/>
                <a:cs typeface="Cambria Math" pitchFamily="34" charset="-120"/>
              </a:rPr>
              <a:t>∀x∈ℤ ∃y∈ℤ  (x + y = 0)</a:t>
            </a:r>
            <a:endParaRPr lang="en-US" sz="2900" dirty="0"/>
          </a:p>
        </p:txBody>
      </p:sp>
      <p:sp>
        <p:nvSpPr>
          <p:cNvPr id="10" name="Text 8"/>
          <p:cNvSpPr/>
          <p:nvPr/>
        </p:nvSpPr>
        <p:spPr>
          <a:xfrm>
            <a:off x="914400" y="2240280"/>
            <a:ext cx="1005840" cy="384048"/>
          </a:xfrm>
          <a:prstGeom prst="rect">
            <a:avLst/>
          </a:prstGeom>
          <a:noFill/>
          <a:ln/>
        </p:spPr>
        <p:txBody>
          <a:bodyPr wrap="square" lIns="0" tIns="0" rIns="0" bIns="0" rtlCol="0" anchor="ctr"/>
          <a:lstStyle/>
          <a:p>
            <a:pPr indent="0" marL="0">
              <a:buNone/>
            </a:pPr>
            <a:r>
              <a:rPr lang="en-US" sz="2100" b="1" dirty="0">
                <a:solidFill>
                  <a:srgbClr val="4B8B5B"/>
                </a:solidFill>
                <a:latin typeface="Arial" pitchFamily="34" charset="0"/>
                <a:ea typeface="Arial" pitchFamily="34" charset="-122"/>
                <a:cs typeface="Arial" pitchFamily="34" charset="-120"/>
              </a:rPr>
              <a:t>TRUE</a:t>
            </a:r>
            <a:endParaRPr lang="en-US" sz="2100" dirty="0"/>
          </a:p>
        </p:txBody>
      </p:sp>
      <p:sp>
        <p:nvSpPr>
          <p:cNvPr id="11" name="Text 9"/>
          <p:cNvSpPr/>
          <p:nvPr/>
        </p:nvSpPr>
        <p:spPr>
          <a:xfrm>
            <a:off x="914400" y="2743200"/>
            <a:ext cx="4480560" cy="105156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Given any integer x, choose y = -x.</a:t>
            </a:r>
            <a:endParaRPr lang="en-US" sz="2000" dirty="0"/>
          </a:p>
          <a:p>
            <a:pPr indent="0" marL="0">
              <a:buNone/>
            </a:pPr>
            <a:r>
              <a:rPr lang="en-US" sz="2000" dirty="0">
                <a:solidFill>
                  <a:srgbClr val="25252B"/>
                </a:solidFill>
                <a:latin typeface="Arial" pitchFamily="34" charset="0"/>
                <a:ea typeface="Arial" pitchFamily="34" charset="-122"/>
                <a:cs typeface="Arial" pitchFamily="34" charset="-120"/>
              </a:rPr>
              <a:t>The witness y depends on x.</a:t>
            </a:r>
            <a:endParaRPr lang="en-US" sz="2000" dirty="0"/>
          </a:p>
        </p:txBody>
      </p:sp>
      <p:sp>
        <p:nvSpPr>
          <p:cNvPr id="12" name="Text 10"/>
          <p:cNvSpPr/>
          <p:nvPr/>
        </p:nvSpPr>
        <p:spPr>
          <a:xfrm>
            <a:off x="914400" y="4160520"/>
            <a:ext cx="4434840" cy="585216"/>
          </a:xfrm>
          <a:prstGeom prst="rect">
            <a:avLst/>
          </a:prstGeom>
          <a:solidFill>
            <a:srgbClr val="F8F6F7"/>
          </a:solidFill>
          <a:ln w="12700">
            <a:solidFill>
              <a:srgbClr val="D8D2D6"/>
            </a:solidFill>
          </a:ln>
        </p:spPr>
        <p:txBody>
          <a:bodyPr wrap="square" lIns="1524" tIns="1524" rIns="1524" bIns="1524"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Example: x = 7  →  choose y = -7</a:t>
            </a:r>
            <a:endParaRPr lang="en-US" sz="1900" dirty="0"/>
          </a:p>
        </p:txBody>
      </p:sp>
      <p:sp>
        <p:nvSpPr>
          <p:cNvPr id="13" name="Text 11"/>
          <p:cNvSpPr/>
          <p:nvPr/>
        </p:nvSpPr>
        <p:spPr>
          <a:xfrm>
            <a:off x="6355080" y="1325880"/>
            <a:ext cx="5120640" cy="658368"/>
          </a:xfrm>
          <a:prstGeom prst="rect">
            <a:avLst/>
          </a:prstGeom>
          <a:solidFill>
            <a:srgbClr val="F9E9E9"/>
          </a:solidFill>
          <a:ln w="12700">
            <a:solidFill>
              <a:srgbClr val="B84A4A"/>
            </a:solidFill>
          </a:ln>
        </p:spPr>
        <p:txBody>
          <a:bodyPr wrap="square" lIns="254" tIns="254" rIns="254" bIns="254" rtlCol="0" anchor="ctr">
            <a:normAutofit/>
          </a:bodyPr>
          <a:lstStyle/>
          <a:p>
            <a:pPr algn="ctr" indent="0" marL="0">
              <a:buNone/>
            </a:pPr>
            <a:r>
              <a:rPr lang="en-US" sz="2900" dirty="0">
                <a:solidFill>
                  <a:srgbClr val="25252B"/>
                </a:solidFill>
                <a:latin typeface="Cambria Math" pitchFamily="34" charset="0"/>
                <a:ea typeface="Cambria Math" pitchFamily="34" charset="-122"/>
                <a:cs typeface="Cambria Math" pitchFamily="34" charset="-120"/>
              </a:rPr>
              <a:t>∃y∈ℤ ∀x∈ℤ  (x + y = 0)</a:t>
            </a:r>
            <a:endParaRPr lang="en-US" sz="2900" dirty="0"/>
          </a:p>
        </p:txBody>
      </p:sp>
      <p:sp>
        <p:nvSpPr>
          <p:cNvPr id="14" name="Text 12"/>
          <p:cNvSpPr/>
          <p:nvPr/>
        </p:nvSpPr>
        <p:spPr>
          <a:xfrm>
            <a:off x="6583680" y="2240280"/>
            <a:ext cx="1097280" cy="384048"/>
          </a:xfrm>
          <a:prstGeom prst="rect">
            <a:avLst/>
          </a:prstGeom>
          <a:noFill/>
          <a:ln/>
        </p:spPr>
        <p:txBody>
          <a:bodyPr wrap="square" lIns="0" tIns="0" rIns="0" bIns="0" rtlCol="0" anchor="ctr"/>
          <a:lstStyle/>
          <a:p>
            <a:pPr indent="0" marL="0">
              <a:buNone/>
            </a:pPr>
            <a:r>
              <a:rPr lang="en-US" sz="2100" b="1" dirty="0">
                <a:solidFill>
                  <a:srgbClr val="B84A4A"/>
                </a:solidFill>
                <a:latin typeface="Arial" pitchFamily="34" charset="0"/>
                <a:ea typeface="Arial" pitchFamily="34" charset="-122"/>
                <a:cs typeface="Arial" pitchFamily="34" charset="-120"/>
              </a:rPr>
              <a:t>FALSE</a:t>
            </a:r>
            <a:endParaRPr lang="en-US" sz="2100" dirty="0"/>
          </a:p>
        </p:txBody>
      </p:sp>
      <p:sp>
        <p:nvSpPr>
          <p:cNvPr id="15" name="Text 13"/>
          <p:cNvSpPr/>
          <p:nvPr/>
        </p:nvSpPr>
        <p:spPr>
          <a:xfrm>
            <a:off x="6583680" y="2743200"/>
            <a:ext cx="4480560" cy="105156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This requires one fixed integer y that cancels every integer x.</a:t>
            </a:r>
            <a:endParaRPr lang="en-US" sz="2000" dirty="0"/>
          </a:p>
          <a:p>
            <a:pPr indent="0" marL="0">
              <a:buNone/>
            </a:pPr>
            <a:r>
              <a:rPr lang="en-US" sz="2000" dirty="0">
                <a:solidFill>
                  <a:srgbClr val="25252B"/>
                </a:solidFill>
                <a:latin typeface="Arial" pitchFamily="34" charset="0"/>
                <a:ea typeface="Arial" pitchFamily="34" charset="-122"/>
                <a:cs typeface="Arial" pitchFamily="34" charset="-120"/>
              </a:rPr>
              <a:t>No such common witness exists.</a:t>
            </a:r>
            <a:endParaRPr lang="en-US" sz="2000" dirty="0"/>
          </a:p>
        </p:txBody>
      </p:sp>
      <p:sp>
        <p:nvSpPr>
          <p:cNvPr id="16" name="Text 14"/>
          <p:cNvSpPr/>
          <p:nvPr/>
        </p:nvSpPr>
        <p:spPr>
          <a:xfrm>
            <a:off x="6583680" y="4160520"/>
            <a:ext cx="4434840" cy="585216"/>
          </a:xfrm>
          <a:prstGeom prst="rect">
            <a:avLst/>
          </a:prstGeom>
          <a:solidFill>
            <a:srgbClr val="F8F6F7"/>
          </a:solidFill>
          <a:ln w="12700">
            <a:solidFill>
              <a:srgbClr val="D8D2D6"/>
            </a:solidFill>
          </a:ln>
        </p:spPr>
        <p:txBody>
          <a:bodyPr wrap="square" lIns="1524" tIns="1524" rIns="1524" bIns="1524" rtlCol="0" anchor="ctr">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If y = 0, x = 1 fails. If y ≠ 0, x = 0 fails.</a:t>
            </a:r>
            <a:endParaRPr lang="en-US" sz="1800" dirty="0"/>
          </a:p>
        </p:txBody>
      </p:sp>
      <p:sp>
        <p:nvSpPr>
          <p:cNvPr id="17" name="Shape 15"/>
          <p:cNvSpPr/>
          <p:nvPr/>
        </p:nvSpPr>
        <p:spPr>
          <a:xfrm>
            <a:off x="6089904" y="1234440"/>
            <a:ext cx="0" cy="3931920"/>
          </a:xfrm>
          <a:prstGeom prst="line">
            <a:avLst/>
          </a:prstGeom>
          <a:noFill/>
          <a:ln w="17780">
            <a:solidFill>
              <a:srgbClr val="D8D2D6"/>
            </a:solidFill>
            <a:prstDash val="solid"/>
          </a:ln>
        </p:spPr>
      </p:sp>
      <p:sp>
        <p:nvSpPr>
          <p:cNvPr id="18" name="Text 16"/>
          <p:cNvSpPr/>
          <p:nvPr/>
        </p:nvSpPr>
        <p:spPr>
          <a:xfrm>
            <a:off x="1965960" y="5349240"/>
            <a:ext cx="8229600" cy="59436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2200" b="1" dirty="0">
                <a:solidFill>
                  <a:srgbClr val="25252B"/>
                </a:solidFill>
                <a:latin typeface="Arial" pitchFamily="34" charset="0"/>
                <a:ea typeface="Arial" pitchFamily="34" charset="-122"/>
                <a:cs typeface="Arial" pitchFamily="34" charset="-120"/>
              </a:rPr>
              <a:t>Mixed quantifiers are not freely interchangeable.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ORDER OF QUANTIFIERS</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When can quantifiers be reordered?</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MEANING &amp; ORDER</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8</a:t>
            </a:r>
            <a:endParaRPr lang="en-US" sz="1000" dirty="0"/>
          </a:p>
        </p:txBody>
      </p:sp>
      <p:sp>
        <p:nvSpPr>
          <p:cNvPr id="9" name="Text 7"/>
          <p:cNvSpPr/>
          <p:nvPr/>
        </p:nvSpPr>
        <p:spPr>
          <a:xfrm>
            <a:off x="731520" y="1234440"/>
            <a:ext cx="5212080" cy="50292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2200" b="1" dirty="0">
                <a:solidFill>
                  <a:srgbClr val="25252B"/>
                </a:solidFill>
                <a:latin typeface="Arial" pitchFamily="34" charset="0"/>
                <a:ea typeface="Arial" pitchFamily="34" charset="-122"/>
                <a:cs typeface="Arial" pitchFamily="34" charset="-120"/>
              </a:rPr>
              <a:t>Different quantifiers</a:t>
            </a:r>
            <a:endParaRPr lang="en-US" sz="2200" dirty="0"/>
          </a:p>
        </p:txBody>
      </p:sp>
      <p:sp>
        <p:nvSpPr>
          <p:cNvPr id="10" name="Text 8"/>
          <p:cNvSpPr/>
          <p:nvPr/>
        </p:nvSpPr>
        <p:spPr>
          <a:xfrm>
            <a:off x="914400" y="2011680"/>
            <a:ext cx="4846320" cy="731520"/>
          </a:xfrm>
          <a:prstGeom prst="rect">
            <a:avLst/>
          </a:prstGeom>
          <a:noFill/>
          <a:ln/>
        </p:spPr>
        <p:txBody>
          <a:bodyPr wrap="square" lIns="254" tIns="254" rIns="254" bIns="254" rtlCol="0" anchor="ctr">
            <a:normAutofit/>
          </a:bodyPr>
          <a:lstStyle/>
          <a:p>
            <a:pPr algn="ctr" indent="0" marL="0">
              <a:buNone/>
            </a:pPr>
            <a:r>
              <a:rPr lang="en-US" sz="2800" dirty="0">
                <a:solidFill>
                  <a:srgbClr val="25252B"/>
                </a:solidFill>
                <a:latin typeface="Cambria Math" pitchFamily="34" charset="0"/>
                <a:ea typeface="Cambria Math" pitchFamily="34" charset="-122"/>
                <a:cs typeface="Cambria Math" pitchFamily="34" charset="-120"/>
              </a:rPr>
              <a:t>∀x ∃y  P(x,y)   ≢   ∃y ∀x  P(x,y)</a:t>
            </a:r>
            <a:endParaRPr lang="en-US" sz="2800" dirty="0"/>
          </a:p>
        </p:txBody>
      </p:sp>
      <p:sp>
        <p:nvSpPr>
          <p:cNvPr id="11" name="Text 9"/>
          <p:cNvSpPr/>
          <p:nvPr/>
        </p:nvSpPr>
        <p:spPr>
          <a:xfrm>
            <a:off x="914400" y="2971800"/>
            <a:ext cx="4846320" cy="914400"/>
          </a:xfrm>
          <a:prstGeom prst="rect">
            <a:avLst/>
          </a:prstGeom>
          <a:noFill/>
          <a:ln/>
        </p:spPr>
        <p:txBody>
          <a:bodyPr wrap="square" lIns="0" tIns="0" rIns="0" bIns="0" rtlCol="0" anchor="ctr"/>
          <a:lstStyle/>
          <a:p>
            <a:pPr algn="ctr" indent="0" marL="0">
              <a:buNone/>
            </a:pPr>
            <a:r>
              <a:rPr lang="en-US" sz="2000" dirty="0">
                <a:solidFill>
                  <a:srgbClr val="25252B"/>
                </a:solidFill>
                <a:latin typeface="Arial" pitchFamily="34" charset="0"/>
                <a:ea typeface="Arial" pitchFamily="34" charset="-122"/>
                <a:cs typeface="Arial" pitchFamily="34" charset="-120"/>
              </a:rPr>
              <a:t>Reversing ∀ and ∃ usually changes the meaning and can change the truth value.</a:t>
            </a:r>
            <a:endParaRPr lang="en-US" sz="2000" dirty="0"/>
          </a:p>
        </p:txBody>
      </p:sp>
      <p:sp>
        <p:nvSpPr>
          <p:cNvPr id="12" name="Text 10"/>
          <p:cNvSpPr/>
          <p:nvPr/>
        </p:nvSpPr>
        <p:spPr>
          <a:xfrm>
            <a:off x="960120" y="4343400"/>
            <a:ext cx="470916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Treat mixed-order formulas as different claims.</a:t>
            </a:r>
            <a:endParaRPr lang="en-US" sz="1900" dirty="0"/>
          </a:p>
        </p:txBody>
      </p:sp>
      <p:sp>
        <p:nvSpPr>
          <p:cNvPr id="13" name="Text 11"/>
          <p:cNvSpPr/>
          <p:nvPr/>
        </p:nvSpPr>
        <p:spPr>
          <a:xfrm>
            <a:off x="6263640" y="1234440"/>
            <a:ext cx="5212080" cy="502920"/>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2200" b="1" dirty="0">
                <a:solidFill>
                  <a:srgbClr val="25252B"/>
                </a:solidFill>
                <a:latin typeface="Arial" pitchFamily="34" charset="0"/>
                <a:ea typeface="Arial" pitchFamily="34" charset="-122"/>
                <a:cs typeface="Arial" pitchFamily="34" charset="-120"/>
              </a:rPr>
              <a:t>Same quantifiers</a:t>
            </a:r>
            <a:endParaRPr lang="en-US" sz="2200" dirty="0"/>
          </a:p>
        </p:txBody>
      </p:sp>
      <p:sp>
        <p:nvSpPr>
          <p:cNvPr id="14" name="Text 12"/>
          <p:cNvSpPr/>
          <p:nvPr/>
        </p:nvSpPr>
        <p:spPr>
          <a:xfrm>
            <a:off x="6446520" y="1920240"/>
            <a:ext cx="4846320" cy="621792"/>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 ∀y  P(x,y)   ≡   ∀y ∀x  P(x,y)</a:t>
            </a:r>
            <a:endParaRPr lang="en-US" sz="2500" dirty="0"/>
          </a:p>
        </p:txBody>
      </p:sp>
      <p:sp>
        <p:nvSpPr>
          <p:cNvPr id="15" name="Text 13"/>
          <p:cNvSpPr/>
          <p:nvPr/>
        </p:nvSpPr>
        <p:spPr>
          <a:xfrm>
            <a:off x="6446520" y="2743200"/>
            <a:ext cx="4846320" cy="621792"/>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 ∃y  P(x,y)   ≡   ∃y ∃x  P(x,y)</a:t>
            </a:r>
            <a:endParaRPr lang="en-US" sz="2500" dirty="0"/>
          </a:p>
        </p:txBody>
      </p:sp>
      <p:sp>
        <p:nvSpPr>
          <p:cNvPr id="16" name="Text 14"/>
          <p:cNvSpPr/>
          <p:nvPr/>
        </p:nvSpPr>
        <p:spPr>
          <a:xfrm>
            <a:off x="6537960" y="3749040"/>
            <a:ext cx="4663440" cy="502920"/>
          </a:xfrm>
          <a:prstGeom prst="rect">
            <a:avLst/>
          </a:prstGeom>
          <a:noFill/>
          <a:ln/>
        </p:spPr>
        <p:txBody>
          <a:bodyPr wrap="square" lIns="0" tIns="0" rIns="0" bIns="0" rtlCol="0" anchor="ctr"/>
          <a:lstStyle/>
          <a:p>
            <a:pPr algn="ctr" indent="0" marL="0">
              <a:buNone/>
            </a:pPr>
            <a:r>
              <a:rPr lang="en-US" sz="2000" dirty="0">
                <a:solidFill>
                  <a:srgbClr val="25252B"/>
                </a:solidFill>
                <a:latin typeface="Arial" pitchFamily="34" charset="0"/>
                <a:ea typeface="Arial" pitchFamily="34" charset="-122"/>
                <a:cs typeface="Arial" pitchFamily="34" charset="-120"/>
              </a:rPr>
              <a:t>Adjacent quantifiers of the same type commute.</a:t>
            </a:r>
            <a:endParaRPr lang="en-US" sz="2000" dirty="0"/>
          </a:p>
        </p:txBody>
      </p:sp>
      <p:sp>
        <p:nvSpPr>
          <p:cNvPr id="17" name="Text 15"/>
          <p:cNvSpPr/>
          <p:nvPr/>
        </p:nvSpPr>
        <p:spPr>
          <a:xfrm>
            <a:off x="6583680" y="4343400"/>
            <a:ext cx="4572000" cy="566928"/>
          </a:xfrm>
          <a:prstGeom prst="rect">
            <a:avLst/>
          </a:prstGeom>
          <a:solidFill>
            <a:srgbClr val="F8F6F7"/>
          </a:solidFill>
          <a:ln w="12700">
            <a:solidFill>
              <a:srgbClr val="D8D2D6"/>
            </a:solidFill>
          </a:ln>
        </p:spPr>
        <p:txBody>
          <a:bodyPr wrap="square" lIns="1524" tIns="1524" rIns="1524" bIns="1524"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Example: ∀x∀y (x+y=y+x)</a:t>
            </a:r>
            <a:endParaRPr lang="en-US" sz="1900" dirty="0"/>
          </a:p>
        </p:txBody>
      </p:sp>
      <p:sp>
        <p:nvSpPr>
          <p:cNvPr id="18" name="Shape 16"/>
          <p:cNvSpPr/>
          <p:nvPr/>
        </p:nvSpPr>
        <p:spPr>
          <a:xfrm>
            <a:off x="6080760" y="1188720"/>
            <a:ext cx="0" cy="3886200"/>
          </a:xfrm>
          <a:prstGeom prst="line">
            <a:avLst/>
          </a:prstGeom>
          <a:noFill/>
          <a:ln w="15240">
            <a:solidFill>
              <a:srgbClr val="D8D2D6"/>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ENGLISH ↔ FOL</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 reliable translation workflow</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9</a:t>
            </a:r>
            <a:endParaRPr lang="en-US" sz="1000" dirty="0"/>
          </a:p>
        </p:txBody>
      </p:sp>
      <p:sp>
        <p:nvSpPr>
          <p:cNvPr id="9" name="Shape 7"/>
          <p:cNvSpPr/>
          <p:nvPr/>
        </p:nvSpPr>
        <p:spPr>
          <a:xfrm>
            <a:off x="2359152" y="1901952"/>
            <a:ext cx="502920" cy="457200"/>
          </a:xfrm>
          <a:prstGeom prst="chevron">
            <a:avLst/>
          </a:prstGeom>
          <a:solidFill>
            <a:srgbClr val="F3DFEA"/>
          </a:solidFill>
          <a:ln w="12700">
            <a:solidFill>
              <a:srgbClr val="F3DFEA">
                <a:alpha val="0"/>
              </a:srgbClr>
            </a:solidFill>
            <a:prstDash val="solid"/>
          </a:ln>
        </p:spPr>
      </p:sp>
      <p:sp>
        <p:nvSpPr>
          <p:cNvPr id="10" name="Text 8"/>
          <p:cNvSpPr/>
          <p:nvPr/>
        </p:nvSpPr>
        <p:spPr>
          <a:xfrm>
            <a:off x="640080" y="1417320"/>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11" name="Text 9"/>
          <p:cNvSpPr/>
          <p:nvPr/>
        </p:nvSpPr>
        <p:spPr>
          <a:xfrm>
            <a:off x="1170432" y="1353312"/>
            <a:ext cx="1554480" cy="475488"/>
          </a:xfrm>
          <a:prstGeom prst="rect">
            <a:avLst/>
          </a:prstGeom>
          <a:noFill/>
          <a:ln/>
        </p:spPr>
        <p:txBody>
          <a:bodyPr wrap="square" lIns="0" tIns="0" rIns="0" bIns="0" rtlCol="0" anchor="ctr">
            <a:normAutofit/>
          </a:bodyPr>
          <a:lstStyle/>
          <a:p>
            <a:pPr indent="0" marL="0">
              <a:buNone/>
            </a:pPr>
            <a:r>
              <a:rPr lang="en-US" sz="1750" b="1" dirty="0">
                <a:solidFill>
                  <a:srgbClr val="25252B"/>
                </a:solidFill>
                <a:latin typeface="Arial" pitchFamily="34" charset="0"/>
                <a:ea typeface="Arial" pitchFamily="34" charset="-122"/>
                <a:cs typeface="Arial" pitchFamily="34" charset="-120"/>
              </a:rPr>
              <a:t>Choose the domain</a:t>
            </a:r>
            <a:endParaRPr lang="en-US" sz="1750" dirty="0"/>
          </a:p>
        </p:txBody>
      </p:sp>
      <p:sp>
        <p:nvSpPr>
          <p:cNvPr id="12" name="Text 10"/>
          <p:cNvSpPr/>
          <p:nvPr/>
        </p:nvSpPr>
        <p:spPr>
          <a:xfrm>
            <a:off x="640080" y="2468880"/>
            <a:ext cx="1965960" cy="1097280"/>
          </a:xfrm>
          <a:prstGeom prst="rect">
            <a:avLst/>
          </a:prstGeom>
          <a:noFill/>
          <a:ln/>
        </p:spPr>
        <p:txBody>
          <a:bodyPr wrap="square" lIns="508" tIns="508" rIns="508" bIns="508" rtlCol="0" anchor="t">
            <a:normAutofit/>
          </a:bodyPr>
          <a:lstStyle/>
          <a:p>
            <a:pPr algn="ctr" indent="0" marL="0">
              <a:buNone/>
            </a:pPr>
            <a:r>
              <a:rPr lang="en-US" sz="1600" dirty="0">
                <a:solidFill>
                  <a:srgbClr val="5E626B"/>
                </a:solidFill>
                <a:latin typeface="Arial" pitchFamily="34" charset="0"/>
                <a:ea typeface="Arial" pitchFamily="34" charset="-122"/>
                <a:cs typeface="Arial" pitchFamily="34" charset="-120"/>
              </a:rPr>
              <a:t>People? integers? objects in a model?</a:t>
            </a:r>
            <a:endParaRPr lang="en-US" sz="1600" dirty="0"/>
          </a:p>
        </p:txBody>
      </p:sp>
      <p:sp>
        <p:nvSpPr>
          <p:cNvPr id="13" name="Shape 11"/>
          <p:cNvSpPr/>
          <p:nvPr/>
        </p:nvSpPr>
        <p:spPr>
          <a:xfrm>
            <a:off x="4645152" y="1901952"/>
            <a:ext cx="502920" cy="457200"/>
          </a:xfrm>
          <a:prstGeom prst="chevron">
            <a:avLst/>
          </a:prstGeom>
          <a:solidFill>
            <a:srgbClr val="F3DFEA"/>
          </a:solidFill>
          <a:ln w="12700">
            <a:solidFill>
              <a:srgbClr val="F3DFEA">
                <a:alpha val="0"/>
              </a:srgbClr>
            </a:solidFill>
            <a:prstDash val="solid"/>
          </a:ln>
        </p:spPr>
      </p:sp>
      <p:sp>
        <p:nvSpPr>
          <p:cNvPr id="14" name="Text 12"/>
          <p:cNvSpPr/>
          <p:nvPr/>
        </p:nvSpPr>
        <p:spPr>
          <a:xfrm>
            <a:off x="2926080" y="1417320"/>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5" name="Text 13"/>
          <p:cNvSpPr/>
          <p:nvPr/>
        </p:nvSpPr>
        <p:spPr>
          <a:xfrm>
            <a:off x="3456432" y="1353312"/>
            <a:ext cx="1554480" cy="475488"/>
          </a:xfrm>
          <a:prstGeom prst="rect">
            <a:avLst/>
          </a:prstGeom>
          <a:noFill/>
          <a:ln/>
        </p:spPr>
        <p:txBody>
          <a:bodyPr wrap="square" lIns="0" tIns="0" rIns="0" bIns="0" rtlCol="0" anchor="ctr">
            <a:normAutofit/>
          </a:bodyPr>
          <a:lstStyle/>
          <a:p>
            <a:pPr indent="0" marL="0">
              <a:buNone/>
            </a:pPr>
            <a:r>
              <a:rPr lang="en-US" sz="1750" b="1" dirty="0">
                <a:solidFill>
                  <a:srgbClr val="25252B"/>
                </a:solidFill>
                <a:latin typeface="Arial" pitchFamily="34" charset="0"/>
                <a:ea typeface="Arial" pitchFamily="34" charset="-122"/>
                <a:cs typeface="Arial" pitchFamily="34" charset="-120"/>
              </a:rPr>
              <a:t>Define predicates</a:t>
            </a:r>
            <a:endParaRPr lang="en-US" sz="1750" dirty="0"/>
          </a:p>
        </p:txBody>
      </p:sp>
      <p:sp>
        <p:nvSpPr>
          <p:cNvPr id="16" name="Text 14"/>
          <p:cNvSpPr/>
          <p:nvPr/>
        </p:nvSpPr>
        <p:spPr>
          <a:xfrm>
            <a:off x="2926080" y="2468880"/>
            <a:ext cx="1965960" cy="1097280"/>
          </a:xfrm>
          <a:prstGeom prst="rect">
            <a:avLst/>
          </a:prstGeom>
          <a:noFill/>
          <a:ln/>
        </p:spPr>
        <p:txBody>
          <a:bodyPr wrap="square" lIns="508" tIns="508" rIns="508" bIns="508" rtlCol="0" anchor="t">
            <a:normAutofit/>
          </a:bodyPr>
          <a:lstStyle/>
          <a:p>
            <a:pPr algn="ctr" indent="0" marL="0">
              <a:buNone/>
            </a:pPr>
            <a:r>
              <a:rPr lang="en-US" sz="1600" dirty="0">
                <a:solidFill>
                  <a:srgbClr val="5E626B"/>
                </a:solidFill>
                <a:latin typeface="Arial" pitchFamily="34" charset="0"/>
                <a:ea typeface="Arial" pitchFamily="34" charset="-122"/>
                <a:cs typeface="Arial" pitchFamily="34" charset="-120"/>
              </a:rPr>
              <a:t>State argument order explicitly.</a:t>
            </a:r>
            <a:endParaRPr lang="en-US" sz="1600" dirty="0"/>
          </a:p>
        </p:txBody>
      </p:sp>
      <p:sp>
        <p:nvSpPr>
          <p:cNvPr id="17" name="Shape 15"/>
          <p:cNvSpPr/>
          <p:nvPr/>
        </p:nvSpPr>
        <p:spPr>
          <a:xfrm>
            <a:off x="6931152" y="1901952"/>
            <a:ext cx="502920" cy="457200"/>
          </a:xfrm>
          <a:prstGeom prst="chevron">
            <a:avLst/>
          </a:prstGeom>
          <a:solidFill>
            <a:srgbClr val="F3DFEA"/>
          </a:solidFill>
          <a:ln w="12700">
            <a:solidFill>
              <a:srgbClr val="F3DFEA">
                <a:alpha val="0"/>
              </a:srgbClr>
            </a:solidFill>
            <a:prstDash val="solid"/>
          </a:ln>
        </p:spPr>
      </p:sp>
      <p:sp>
        <p:nvSpPr>
          <p:cNvPr id="18" name="Text 16"/>
          <p:cNvSpPr/>
          <p:nvPr/>
        </p:nvSpPr>
        <p:spPr>
          <a:xfrm>
            <a:off x="5212080" y="1417320"/>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9" name="Text 17"/>
          <p:cNvSpPr/>
          <p:nvPr/>
        </p:nvSpPr>
        <p:spPr>
          <a:xfrm>
            <a:off x="5742432" y="1353312"/>
            <a:ext cx="1554480" cy="475488"/>
          </a:xfrm>
          <a:prstGeom prst="rect">
            <a:avLst/>
          </a:prstGeom>
          <a:noFill/>
          <a:ln/>
        </p:spPr>
        <p:txBody>
          <a:bodyPr wrap="square" lIns="0" tIns="0" rIns="0" bIns="0" rtlCol="0" anchor="ctr">
            <a:normAutofit/>
          </a:bodyPr>
          <a:lstStyle/>
          <a:p>
            <a:pPr indent="0" marL="0">
              <a:buNone/>
            </a:pPr>
            <a:r>
              <a:rPr lang="en-US" sz="1750" b="1" dirty="0">
                <a:solidFill>
                  <a:srgbClr val="25252B"/>
                </a:solidFill>
                <a:latin typeface="Arial" pitchFamily="34" charset="0"/>
                <a:ea typeface="Arial" pitchFamily="34" charset="-122"/>
                <a:cs typeface="Arial" pitchFamily="34" charset="-120"/>
              </a:rPr>
              <a:t>Locate quantifier words</a:t>
            </a:r>
            <a:endParaRPr lang="en-US" sz="1750" dirty="0"/>
          </a:p>
        </p:txBody>
      </p:sp>
      <p:sp>
        <p:nvSpPr>
          <p:cNvPr id="20" name="Text 18"/>
          <p:cNvSpPr/>
          <p:nvPr/>
        </p:nvSpPr>
        <p:spPr>
          <a:xfrm>
            <a:off x="5212080" y="2468880"/>
            <a:ext cx="1965960" cy="1097280"/>
          </a:xfrm>
          <a:prstGeom prst="rect">
            <a:avLst/>
          </a:prstGeom>
          <a:noFill/>
          <a:ln/>
        </p:spPr>
        <p:txBody>
          <a:bodyPr wrap="square" lIns="508" tIns="508" rIns="508" bIns="508" rtlCol="0" anchor="t">
            <a:normAutofit/>
          </a:bodyPr>
          <a:lstStyle/>
          <a:p>
            <a:pPr algn="ctr" indent="0" marL="0">
              <a:buNone/>
            </a:pPr>
            <a:r>
              <a:rPr lang="en-US" sz="1600" dirty="0">
                <a:solidFill>
                  <a:srgbClr val="5E626B"/>
                </a:solidFill>
                <a:latin typeface="Arial" pitchFamily="34" charset="0"/>
                <a:ea typeface="Arial" pitchFamily="34" charset="-122"/>
                <a:cs typeface="Arial" pitchFamily="34" charset="-120"/>
              </a:rPr>
              <a:t>every, each, some, one, no...</a:t>
            </a:r>
            <a:endParaRPr lang="en-US" sz="1600" dirty="0"/>
          </a:p>
        </p:txBody>
      </p:sp>
      <p:sp>
        <p:nvSpPr>
          <p:cNvPr id="21" name="Shape 19"/>
          <p:cNvSpPr/>
          <p:nvPr/>
        </p:nvSpPr>
        <p:spPr>
          <a:xfrm>
            <a:off x="9217152" y="1901952"/>
            <a:ext cx="502920" cy="457200"/>
          </a:xfrm>
          <a:prstGeom prst="chevron">
            <a:avLst/>
          </a:prstGeom>
          <a:solidFill>
            <a:srgbClr val="F3DFEA"/>
          </a:solidFill>
          <a:ln w="12700">
            <a:solidFill>
              <a:srgbClr val="F3DFEA">
                <a:alpha val="0"/>
              </a:srgbClr>
            </a:solidFill>
            <a:prstDash val="solid"/>
          </a:ln>
        </p:spPr>
      </p:sp>
      <p:sp>
        <p:nvSpPr>
          <p:cNvPr id="22" name="Text 20"/>
          <p:cNvSpPr/>
          <p:nvPr/>
        </p:nvSpPr>
        <p:spPr>
          <a:xfrm>
            <a:off x="7498080" y="1417320"/>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23" name="Text 21"/>
          <p:cNvSpPr/>
          <p:nvPr/>
        </p:nvSpPr>
        <p:spPr>
          <a:xfrm>
            <a:off x="8028432" y="1353312"/>
            <a:ext cx="1554480" cy="475488"/>
          </a:xfrm>
          <a:prstGeom prst="rect">
            <a:avLst/>
          </a:prstGeom>
          <a:noFill/>
          <a:ln/>
        </p:spPr>
        <p:txBody>
          <a:bodyPr wrap="square" lIns="0" tIns="0" rIns="0" bIns="0" rtlCol="0" anchor="ctr">
            <a:normAutofit/>
          </a:bodyPr>
          <a:lstStyle/>
          <a:p>
            <a:pPr indent="0" marL="0">
              <a:buNone/>
            </a:pPr>
            <a:r>
              <a:rPr lang="en-US" sz="1750" b="1" dirty="0">
                <a:solidFill>
                  <a:srgbClr val="25252B"/>
                </a:solidFill>
                <a:latin typeface="Arial" pitchFamily="34" charset="0"/>
                <a:ea typeface="Arial" pitchFamily="34" charset="-122"/>
                <a:cs typeface="Arial" pitchFamily="34" charset="-120"/>
              </a:rPr>
              <a:t>Preserve dependency</a:t>
            </a:r>
            <a:endParaRPr lang="en-US" sz="1750" dirty="0"/>
          </a:p>
        </p:txBody>
      </p:sp>
      <p:sp>
        <p:nvSpPr>
          <p:cNvPr id="24" name="Text 22"/>
          <p:cNvSpPr/>
          <p:nvPr/>
        </p:nvSpPr>
        <p:spPr>
          <a:xfrm>
            <a:off x="7498080" y="2468880"/>
            <a:ext cx="1965960" cy="1097280"/>
          </a:xfrm>
          <a:prstGeom prst="rect">
            <a:avLst/>
          </a:prstGeom>
          <a:noFill/>
          <a:ln/>
        </p:spPr>
        <p:txBody>
          <a:bodyPr wrap="square" lIns="508" tIns="508" rIns="508" bIns="508" rtlCol="0" anchor="t">
            <a:normAutofit/>
          </a:bodyPr>
          <a:lstStyle/>
          <a:p>
            <a:pPr algn="ctr" indent="0" marL="0">
              <a:buNone/>
            </a:pPr>
            <a:r>
              <a:rPr lang="en-US" sz="1600" dirty="0">
                <a:solidFill>
                  <a:srgbClr val="5E626B"/>
                </a:solidFill>
                <a:latin typeface="Arial" pitchFamily="34" charset="0"/>
                <a:ea typeface="Arial" pitchFamily="34" charset="-122"/>
                <a:cs typeface="Arial" pitchFamily="34" charset="-120"/>
              </a:rPr>
              <a:t>Read quantifiers from left to right.</a:t>
            </a:r>
            <a:endParaRPr lang="en-US" sz="1600" dirty="0"/>
          </a:p>
        </p:txBody>
      </p:sp>
      <p:sp>
        <p:nvSpPr>
          <p:cNvPr id="25" name="Text 23"/>
          <p:cNvSpPr/>
          <p:nvPr/>
        </p:nvSpPr>
        <p:spPr>
          <a:xfrm>
            <a:off x="9784080" y="1417320"/>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26" name="Text 24"/>
          <p:cNvSpPr/>
          <p:nvPr/>
        </p:nvSpPr>
        <p:spPr>
          <a:xfrm>
            <a:off x="10314432" y="1353312"/>
            <a:ext cx="1554480" cy="475488"/>
          </a:xfrm>
          <a:prstGeom prst="rect">
            <a:avLst/>
          </a:prstGeom>
          <a:noFill/>
          <a:ln/>
        </p:spPr>
        <p:txBody>
          <a:bodyPr wrap="square" lIns="0" tIns="0" rIns="0" bIns="0" rtlCol="0" anchor="ctr">
            <a:normAutofit/>
          </a:bodyPr>
          <a:lstStyle/>
          <a:p>
            <a:pPr indent="0" marL="0">
              <a:buNone/>
            </a:pPr>
            <a:r>
              <a:rPr lang="en-US" sz="1750" b="1" dirty="0">
                <a:solidFill>
                  <a:srgbClr val="25252B"/>
                </a:solidFill>
                <a:latin typeface="Arial" pitchFamily="34" charset="0"/>
                <a:ea typeface="Arial" pitchFamily="34" charset="-122"/>
                <a:cs typeface="Arial" pitchFamily="34" charset="-120"/>
              </a:rPr>
              <a:t>Paraphrase back</a:t>
            </a:r>
            <a:endParaRPr lang="en-US" sz="1750" dirty="0"/>
          </a:p>
        </p:txBody>
      </p:sp>
      <p:sp>
        <p:nvSpPr>
          <p:cNvPr id="27" name="Text 25"/>
          <p:cNvSpPr/>
          <p:nvPr/>
        </p:nvSpPr>
        <p:spPr>
          <a:xfrm>
            <a:off x="9784080" y="2468880"/>
            <a:ext cx="1965960" cy="1097280"/>
          </a:xfrm>
          <a:prstGeom prst="rect">
            <a:avLst/>
          </a:prstGeom>
          <a:noFill/>
          <a:ln/>
        </p:spPr>
        <p:txBody>
          <a:bodyPr wrap="square" lIns="508" tIns="508" rIns="508" bIns="508" rtlCol="0" anchor="t">
            <a:normAutofit/>
          </a:bodyPr>
          <a:lstStyle/>
          <a:p>
            <a:pPr algn="ctr" indent="0" marL="0">
              <a:buNone/>
            </a:pPr>
            <a:r>
              <a:rPr lang="en-US" sz="1600" dirty="0">
                <a:solidFill>
                  <a:srgbClr val="5E626B"/>
                </a:solidFill>
                <a:latin typeface="Arial" pitchFamily="34" charset="0"/>
                <a:ea typeface="Arial" pitchFamily="34" charset="-122"/>
                <a:cs typeface="Arial" pitchFamily="34" charset="-120"/>
              </a:rPr>
              <a:t>Check that the formula says exactly what you intended.</a:t>
            </a:r>
            <a:endParaRPr lang="en-US" sz="1600" dirty="0"/>
          </a:p>
        </p:txBody>
      </p:sp>
      <p:sp>
        <p:nvSpPr>
          <p:cNvPr id="28" name="Text 26"/>
          <p:cNvSpPr/>
          <p:nvPr/>
        </p:nvSpPr>
        <p:spPr>
          <a:xfrm>
            <a:off x="685800" y="3977640"/>
            <a:ext cx="1005840" cy="41148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Example</a:t>
            </a:r>
            <a:endParaRPr lang="en-US" sz="1800" dirty="0"/>
          </a:p>
        </p:txBody>
      </p:sp>
      <p:sp>
        <p:nvSpPr>
          <p:cNvPr id="29" name="Text 27"/>
          <p:cNvSpPr/>
          <p:nvPr/>
        </p:nvSpPr>
        <p:spPr>
          <a:xfrm>
            <a:off x="1874520" y="3950208"/>
            <a:ext cx="8046720" cy="438912"/>
          </a:xfrm>
          <a:prstGeom prst="rect">
            <a:avLst/>
          </a:prstGeom>
          <a:noFill/>
          <a:ln/>
        </p:spPr>
        <p:txBody>
          <a:bodyPr wrap="square" lIns="0" tIns="0" rIns="0" bIns="0" rtlCol="0" anchor="ctr"/>
          <a:lstStyle/>
          <a:p>
            <a:pPr indent="0" marL="0">
              <a:buNone/>
            </a:pPr>
            <a:r>
              <a:rPr lang="en-US" sz="2100" b="1" dirty="0">
                <a:solidFill>
                  <a:srgbClr val="25252B"/>
                </a:solidFill>
                <a:latin typeface="Arial" pitchFamily="34" charset="0"/>
                <a:ea typeface="Arial" pitchFamily="34" charset="-122"/>
                <a:cs typeface="Arial" pitchFamily="34" charset="-120"/>
              </a:rPr>
              <a:t>“Every student knows at least one programming language.”</a:t>
            </a:r>
            <a:endParaRPr lang="en-US" sz="2100" dirty="0"/>
          </a:p>
        </p:txBody>
      </p:sp>
      <p:sp>
        <p:nvSpPr>
          <p:cNvPr id="30" name="Text 28"/>
          <p:cNvSpPr/>
          <p:nvPr/>
        </p:nvSpPr>
        <p:spPr>
          <a:xfrm>
            <a:off x="1005840" y="4736592"/>
            <a:ext cx="10149840" cy="658368"/>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∀s (Student(s) → ∃ℓ (Language(ℓ) ∧ Knows(s,ℓ)))</a:t>
            </a:r>
            <a:endParaRPr lang="en-US" sz="2500" dirty="0"/>
          </a:p>
        </p:txBody>
      </p:sp>
      <p:sp>
        <p:nvSpPr>
          <p:cNvPr id="31" name="Text 29"/>
          <p:cNvSpPr/>
          <p:nvPr/>
        </p:nvSpPr>
        <p:spPr>
          <a:xfrm>
            <a:off x="1188720" y="5623560"/>
            <a:ext cx="9784080" cy="411480"/>
          </a:xfrm>
          <a:prstGeom prst="rect">
            <a:avLst/>
          </a:prstGeom>
          <a:noFill/>
          <a:ln/>
        </p:spPr>
        <p:txBody>
          <a:bodyPr wrap="square" lIns="0" tIns="0" rIns="0" bIns="0" rtlCol="0" anchor="ctr"/>
          <a:lstStyle/>
          <a:p>
            <a:pPr algn="ctr" indent="0" marL="0">
              <a:buNone/>
            </a:pPr>
            <a:r>
              <a:rPr lang="en-US" sz="1800" dirty="0">
                <a:solidFill>
                  <a:srgbClr val="5E626B"/>
                </a:solidFill>
                <a:latin typeface="Arial" pitchFamily="34" charset="0"/>
                <a:ea typeface="Arial" pitchFamily="34" charset="-122"/>
                <a:cs typeface="Arial" pitchFamily="34" charset="-120"/>
              </a:rPr>
              <a:t>Back-translation: for each student s, a language ℓ may be chosen that depends on 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VERBALIZATION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Translation matrix: the predicate Loves(x,y)</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10</a:t>
            </a:r>
            <a:endParaRPr lang="en-US" sz="1000" dirty="0"/>
          </a:p>
        </p:txBody>
      </p:sp>
      <p:sp>
        <p:nvSpPr>
          <p:cNvPr id="9" name="Text 7"/>
          <p:cNvSpPr/>
          <p:nvPr/>
        </p:nvSpPr>
        <p:spPr>
          <a:xfrm>
            <a:off x="685800" y="1143000"/>
            <a:ext cx="7955280" cy="347472"/>
          </a:xfrm>
          <a:prstGeom prst="rect">
            <a:avLst/>
          </a:prstGeom>
          <a:noFill/>
          <a:ln/>
        </p:spPr>
        <p:txBody>
          <a:bodyPr wrap="square" lIns="0" tIns="0" rIns="0" bIns="0" rtlCol="0" anchor="ctr"/>
          <a:lstStyle/>
          <a:p>
            <a:pPr indent="0" marL="0">
              <a:buNone/>
            </a:pPr>
            <a:r>
              <a:rPr lang="en-US" sz="1900" dirty="0">
                <a:solidFill>
                  <a:srgbClr val="5E626B"/>
                </a:solidFill>
                <a:latin typeface="Arial" pitchFamily="34" charset="0"/>
                <a:ea typeface="Arial" pitchFamily="34" charset="-122"/>
                <a:cs typeface="Arial" pitchFamily="34" charset="-120"/>
              </a:rPr>
              <a:t>Argument order matters: x is the lover; y is the person loved.</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835640" cy="4251960"/>
        </p:xfrm>
        <a:graphic>
          <a:graphicData uri="http://schemas.openxmlformats.org/drawingml/2006/table">
            <a:tbl>
              <a:tblPr/>
              <a:tblGrid>
                <a:gridCol w="4663440"/>
                <a:gridCol w="6172200"/>
              </a:tblGrid>
              <a:tr h="566928">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FOL statement</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Precise English</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r>
              <a:tr h="566928">
                <a:tc>
                  <a:txBody>
                    <a:bodyPr/>
                    <a:lstStyle/>
                    <a:p>
                      <a:pPr indent="0" marL="0">
                        <a:buNone/>
                      </a:pPr>
                      <a:r>
                        <a:rPr lang="en-US" sz="2000" dirty="0">
                          <a:solidFill>
                            <a:srgbClr val="25252B"/>
                          </a:solidFill>
                          <a:latin typeface="Cambria Math" pitchFamily="34" charset="0"/>
                          <a:ea typeface="Cambria Math" pitchFamily="34" charset="-122"/>
                          <a:cs typeface="Cambria Math" pitchFamily="34" charset="-120"/>
                        </a:rPr>
                        <a:t>∀x∀y Loves(x,y)</a:t>
                      </a:r>
                      <a:endParaRPr lang="en-US" sz="2000" dirty="0">
                        <a:latin typeface="Cambria Math" charset="0"/>
                        <a:ea typeface="Cambria Math" charset="0"/>
                        <a:cs typeface="Cambria Math"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Everyone loves everyone.</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r>
              <a:tr h="566928">
                <a:tc>
                  <a:txBody>
                    <a:bodyPr/>
                    <a:lstStyle/>
                    <a:p>
                      <a:pPr indent="0" marL="0">
                        <a:buNone/>
                      </a:pPr>
                      <a:r>
                        <a:rPr lang="en-US" sz="2000" dirty="0">
                          <a:solidFill>
                            <a:srgbClr val="25252B"/>
                          </a:solidFill>
                          <a:latin typeface="Cambria Math" pitchFamily="34" charset="0"/>
                          <a:ea typeface="Cambria Math" pitchFamily="34" charset="-122"/>
                          <a:cs typeface="Cambria Math" pitchFamily="34" charset="-120"/>
                        </a:rPr>
                        <a:t>∃x∃y Loves(x,y)</a:t>
                      </a:r>
                      <a:endParaRPr lang="en-US" sz="2000" dirty="0">
                        <a:latin typeface="Cambria Math" charset="0"/>
                        <a:ea typeface="Cambria Math" charset="0"/>
                        <a:cs typeface="Cambria Math"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Someone loves someone.</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r>
              <a:tr h="566928">
                <a:tc>
                  <a:txBody>
                    <a:bodyPr/>
                    <a:lstStyle/>
                    <a:p>
                      <a:pPr indent="0" marL="0">
                        <a:buNone/>
                      </a:pPr>
                      <a:r>
                        <a:rPr lang="en-US" sz="2000" dirty="0">
                          <a:solidFill>
                            <a:srgbClr val="25252B"/>
                          </a:solidFill>
                          <a:latin typeface="Cambria Math" pitchFamily="34" charset="0"/>
                          <a:ea typeface="Cambria Math" pitchFamily="34" charset="-122"/>
                          <a:cs typeface="Cambria Math" pitchFamily="34" charset="-120"/>
                        </a:rPr>
                        <a:t>∀x∃y Loves(x,y)</a:t>
                      </a:r>
                      <a:endParaRPr lang="en-US" sz="2000" dirty="0">
                        <a:latin typeface="Cambria Math" charset="0"/>
                        <a:ea typeface="Cambria Math" charset="0"/>
                        <a:cs typeface="Cambria Math"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Everyone loves at least one person.</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r>
              <a:tr h="566928">
                <a:tc>
                  <a:txBody>
                    <a:bodyPr/>
                    <a:lstStyle/>
                    <a:p>
                      <a:pPr indent="0" marL="0">
                        <a:buNone/>
                      </a:pPr>
                      <a:r>
                        <a:rPr lang="en-US" sz="2000" dirty="0">
                          <a:solidFill>
                            <a:srgbClr val="25252B"/>
                          </a:solidFill>
                          <a:latin typeface="Cambria Math" pitchFamily="34" charset="0"/>
                          <a:ea typeface="Cambria Math" pitchFamily="34" charset="-122"/>
                          <a:cs typeface="Cambria Math" pitchFamily="34" charset="-120"/>
                        </a:rPr>
                        <a:t>∃y∀x Loves(x,y)</a:t>
                      </a:r>
                      <a:endParaRPr lang="en-US" sz="2000" dirty="0">
                        <a:latin typeface="Cambria Math" charset="0"/>
                        <a:ea typeface="Cambria Math" charset="0"/>
                        <a:cs typeface="Cambria Math"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There is someone whom everyone loves.</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r>
              <a:tr h="566928">
                <a:tc>
                  <a:txBody>
                    <a:bodyPr/>
                    <a:lstStyle/>
                    <a:p>
                      <a:pPr indent="0" marL="0">
                        <a:buNone/>
                      </a:pPr>
                      <a:r>
                        <a:rPr lang="en-US" sz="2000" dirty="0">
                          <a:solidFill>
                            <a:srgbClr val="25252B"/>
                          </a:solidFill>
                          <a:latin typeface="Cambria Math" pitchFamily="34" charset="0"/>
                          <a:ea typeface="Cambria Math" pitchFamily="34" charset="-122"/>
                          <a:cs typeface="Cambria Math" pitchFamily="34" charset="-120"/>
                        </a:rPr>
                        <a:t>∀y∃x Loves(x,y)</a:t>
                      </a:r>
                      <a:endParaRPr lang="en-US" sz="2000" dirty="0">
                        <a:latin typeface="Cambria Math" charset="0"/>
                        <a:ea typeface="Cambria Math" charset="0"/>
                        <a:cs typeface="Cambria Math"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Everyone is loved by at least one person.</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r>
              <a:tr h="566928">
                <a:tc>
                  <a:txBody>
                    <a:bodyPr/>
                    <a:lstStyle/>
                    <a:p>
                      <a:pPr indent="0" marL="0">
                        <a:buNone/>
                      </a:pPr>
                      <a:r>
                        <a:rPr lang="en-US" sz="1900" dirty="0">
                          <a:solidFill>
                            <a:srgbClr val="25252B"/>
                          </a:solidFill>
                          <a:latin typeface="Cambria Math" pitchFamily="34" charset="0"/>
                          <a:ea typeface="Cambria Math" pitchFamily="34" charset="-122"/>
                          <a:cs typeface="Cambria Math" pitchFamily="34" charset="-120"/>
                        </a:rPr>
                        <a:t>∀x∃y (x≠y ∧ Loves(x,y))</a:t>
                      </a:r>
                      <a:endParaRPr lang="en-US" sz="1900" dirty="0">
                        <a:latin typeface="Cambria Math" charset="0"/>
                        <a:ea typeface="Cambria Math" charset="0"/>
                        <a:cs typeface="Cambria Math"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Everyone loves someone other than themselves.</a:t>
                      </a:r>
                      <a:endParaRPr lang="en-US" sz="1800" dirty="0">
                        <a:latin typeface="Arial" charset="0"/>
                        <a:ea typeface="Arial" charset="0"/>
                        <a:cs typeface="Arial" charset="0"/>
                      </a:endParaRPr>
                    </a:p>
                  </a:txBody>
                  <a:tcPr marL="82296" marR="82296" marT="82296" marB="82296"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VERBALIZATION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Multiple quantifiers with negated predicates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11</a:t>
            </a:r>
            <a:endParaRPr lang="en-US" sz="1000" dirty="0"/>
          </a:p>
        </p:txBody>
      </p:sp>
      <p:sp>
        <p:nvSpPr>
          <p:cNvPr id="9" name="Text 7"/>
          <p:cNvSpPr/>
          <p:nvPr/>
        </p:nvSpPr>
        <p:spPr>
          <a:xfrm>
            <a:off x="749808" y="1234440"/>
            <a:ext cx="4023360" cy="658368"/>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10" name="Text 8"/>
          <p:cNvSpPr/>
          <p:nvPr/>
        </p:nvSpPr>
        <p:spPr>
          <a:xfrm>
            <a:off x="5074920" y="1271016"/>
            <a:ext cx="6126480" cy="585216"/>
          </a:xfrm>
          <a:prstGeom prst="rect">
            <a:avLst/>
          </a:prstGeom>
          <a:noFill/>
          <a:ln/>
        </p:spPr>
        <p:txBody>
          <a:bodyPr wrap="square" lIns="0" tIns="0" rIns="0" bIns="0" rtlCol="0" anchor="ctr">
            <a:normAutofit/>
          </a:bodyPr>
          <a:lstStyle/>
          <a:p>
            <a:pPr indent="0" marL="0">
              <a:buNone/>
            </a:pPr>
            <a:r>
              <a:rPr lang="en-US" sz="2000" dirty="0">
                <a:solidFill>
                  <a:srgbClr val="25252B"/>
                </a:solidFill>
                <a:latin typeface="Arial" pitchFamily="34" charset="0"/>
                <a:ea typeface="Arial" pitchFamily="34" charset="-122"/>
                <a:cs typeface="Arial" pitchFamily="34" charset="-120"/>
              </a:rPr>
              <a:t>At least one person does not love at least one person.</a:t>
            </a:r>
            <a:endParaRPr lang="en-US" sz="2000" dirty="0"/>
          </a:p>
        </p:txBody>
      </p:sp>
      <p:sp>
        <p:nvSpPr>
          <p:cNvPr id="11" name="Text 9"/>
          <p:cNvSpPr/>
          <p:nvPr/>
        </p:nvSpPr>
        <p:spPr>
          <a:xfrm>
            <a:off x="749808" y="2404872"/>
            <a:ext cx="4023360" cy="658368"/>
          </a:xfrm>
          <a:prstGeom prst="rect">
            <a:avLst/>
          </a:prstGeom>
          <a:solidFill>
            <a:srgbClr val="F9E9E9"/>
          </a:solidFill>
          <a:ln w="12700">
            <a:solidFill>
              <a:srgbClr val="B84A4A"/>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12" name="Text 10"/>
          <p:cNvSpPr/>
          <p:nvPr/>
        </p:nvSpPr>
        <p:spPr>
          <a:xfrm>
            <a:off x="5074920" y="2441448"/>
            <a:ext cx="6126480" cy="585216"/>
          </a:xfrm>
          <a:prstGeom prst="rect">
            <a:avLst/>
          </a:prstGeom>
          <a:noFill/>
          <a:ln/>
        </p:spPr>
        <p:txBody>
          <a:bodyPr wrap="square" lIns="0" tIns="0" rIns="0" bIns="0" rtlCol="0" anchor="ctr">
            <a:normAutofit/>
          </a:bodyPr>
          <a:lstStyle/>
          <a:p>
            <a:pPr indent="0" marL="0">
              <a:buNone/>
            </a:pPr>
            <a:r>
              <a:rPr lang="en-US" sz="2000" dirty="0">
                <a:solidFill>
                  <a:srgbClr val="25252B"/>
                </a:solidFill>
                <a:latin typeface="Arial" pitchFamily="34" charset="0"/>
                <a:ea typeface="Arial" pitchFamily="34" charset="-122"/>
                <a:cs typeface="Arial" pitchFamily="34" charset="-120"/>
              </a:rPr>
              <a:t>Nobody loves anyone.</a:t>
            </a:r>
            <a:endParaRPr lang="en-US" sz="2000" dirty="0"/>
          </a:p>
        </p:txBody>
      </p:sp>
      <p:sp>
        <p:nvSpPr>
          <p:cNvPr id="13" name="Text 11"/>
          <p:cNvSpPr/>
          <p:nvPr/>
        </p:nvSpPr>
        <p:spPr>
          <a:xfrm>
            <a:off x="749808" y="3575304"/>
            <a:ext cx="4023360" cy="658368"/>
          </a:xfrm>
          <a:prstGeom prst="rect">
            <a:avLst/>
          </a:prstGeom>
          <a:solidFill>
            <a:srgbClr val="F3DFEA"/>
          </a:solidFill>
          <a:ln w="12700">
            <a:solidFill>
              <a:srgbClr val="A52A75"/>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14" name="Text 12"/>
          <p:cNvSpPr/>
          <p:nvPr/>
        </p:nvSpPr>
        <p:spPr>
          <a:xfrm>
            <a:off x="5074920" y="3611880"/>
            <a:ext cx="6126480" cy="585216"/>
          </a:xfrm>
          <a:prstGeom prst="rect">
            <a:avLst/>
          </a:prstGeom>
          <a:noFill/>
          <a:ln/>
        </p:spPr>
        <p:txBody>
          <a:bodyPr wrap="square" lIns="0" tIns="0" rIns="0" bIns="0" rtlCol="0" anchor="ctr">
            <a:normAutofit/>
          </a:bodyPr>
          <a:lstStyle/>
          <a:p>
            <a:pPr indent="0" marL="0">
              <a:buNone/>
            </a:pPr>
            <a:r>
              <a:rPr lang="en-US" sz="2000" dirty="0">
                <a:solidFill>
                  <a:srgbClr val="25252B"/>
                </a:solidFill>
                <a:latin typeface="Arial" pitchFamily="34" charset="0"/>
                <a:ea typeface="Arial" pitchFamily="34" charset="-122"/>
                <a:cs typeface="Arial" pitchFamily="34" charset="-120"/>
              </a:rPr>
              <a:t>There is a person who loves nobody.</a:t>
            </a:r>
            <a:endParaRPr lang="en-US" sz="2000" dirty="0"/>
          </a:p>
        </p:txBody>
      </p:sp>
      <p:sp>
        <p:nvSpPr>
          <p:cNvPr id="15" name="Text 13"/>
          <p:cNvSpPr/>
          <p:nvPr/>
        </p:nvSpPr>
        <p:spPr>
          <a:xfrm>
            <a:off x="749808" y="4745736"/>
            <a:ext cx="4023360" cy="658368"/>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¬Loves(y,x)</a:t>
            </a:r>
            <a:endParaRPr lang="en-US" sz="2500" dirty="0"/>
          </a:p>
        </p:txBody>
      </p:sp>
      <p:sp>
        <p:nvSpPr>
          <p:cNvPr id="16" name="Text 14"/>
          <p:cNvSpPr/>
          <p:nvPr/>
        </p:nvSpPr>
        <p:spPr>
          <a:xfrm>
            <a:off x="5074920" y="4782312"/>
            <a:ext cx="6126480" cy="585216"/>
          </a:xfrm>
          <a:prstGeom prst="rect">
            <a:avLst/>
          </a:prstGeom>
          <a:noFill/>
          <a:ln/>
        </p:spPr>
        <p:txBody>
          <a:bodyPr wrap="square" lIns="0" tIns="0" rIns="0" bIns="0" rtlCol="0" anchor="ctr">
            <a:normAutofit/>
          </a:bodyPr>
          <a:lstStyle/>
          <a:p>
            <a:pPr indent="0" marL="0">
              <a:buNone/>
            </a:pPr>
            <a:r>
              <a:rPr lang="en-US" sz="2000" dirty="0">
                <a:solidFill>
                  <a:srgbClr val="25252B"/>
                </a:solidFill>
                <a:latin typeface="Arial" pitchFamily="34" charset="0"/>
                <a:ea typeface="Arial" pitchFamily="34" charset="-122"/>
                <a:cs typeface="Arial" pitchFamily="34" charset="-120"/>
              </a:rPr>
              <a:t>Every person is not loved by at least one person.</a:t>
            </a:r>
            <a:endParaRPr lang="en-US" sz="2000" dirty="0"/>
          </a:p>
        </p:txBody>
      </p:sp>
      <p:sp>
        <p:nvSpPr>
          <p:cNvPr id="17" name="Text 15"/>
          <p:cNvSpPr/>
          <p:nvPr/>
        </p:nvSpPr>
        <p:spPr>
          <a:xfrm>
            <a:off x="1143000" y="5486400"/>
            <a:ext cx="9875520" cy="603504"/>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Do not weaken ∀y ¬Loves(x,y) to “does not love everyone.” It means “loves no one.”</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DECISION PROCEDURE</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Evaluating truth in a finite model</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12</a:t>
            </a:r>
            <a:endParaRPr lang="en-US" sz="1000" dirty="0"/>
          </a:p>
        </p:txBody>
      </p:sp>
      <p:sp>
        <p:nvSpPr>
          <p:cNvPr id="9" name="Text 7"/>
          <p:cNvSpPr/>
          <p:nvPr/>
        </p:nvSpPr>
        <p:spPr>
          <a:xfrm>
            <a:off x="640080" y="1234440"/>
            <a:ext cx="182880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 outermost</a:t>
            </a:r>
            <a:endParaRPr lang="en-US" sz="2000" dirty="0"/>
          </a:p>
        </p:txBody>
      </p:sp>
      <p:sp>
        <p:nvSpPr>
          <p:cNvPr id="10" name="Text 8"/>
          <p:cNvSpPr/>
          <p:nvPr/>
        </p:nvSpPr>
        <p:spPr>
          <a:xfrm>
            <a:off x="2697480" y="1216152"/>
            <a:ext cx="3337560" cy="77724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Check every possible outer value.</a:t>
            </a:r>
            <a:endParaRPr lang="en-US" sz="1750" dirty="0"/>
          </a:p>
          <a:p>
            <a:pPr indent="0" marL="0">
              <a:buNone/>
            </a:pPr>
            <a:r>
              <a:rPr lang="en-US" sz="1750" dirty="0">
                <a:solidFill>
                  <a:srgbClr val="25252B"/>
                </a:solidFill>
                <a:latin typeface="Arial" pitchFamily="34" charset="0"/>
                <a:ea typeface="Arial" pitchFamily="34" charset="-122"/>
                <a:cs typeface="Arial" pitchFamily="34" charset="-120"/>
              </a:rPr>
              <a:t>One failure disproves the statement.</a:t>
            </a:r>
            <a:endParaRPr lang="en-US" sz="1750" dirty="0"/>
          </a:p>
        </p:txBody>
      </p:sp>
      <p:sp>
        <p:nvSpPr>
          <p:cNvPr id="11" name="Text 9"/>
          <p:cNvSpPr/>
          <p:nvPr/>
        </p:nvSpPr>
        <p:spPr>
          <a:xfrm>
            <a:off x="6355080" y="1234440"/>
            <a:ext cx="182880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 outermost</a:t>
            </a:r>
            <a:endParaRPr lang="en-US" sz="2000" dirty="0"/>
          </a:p>
        </p:txBody>
      </p:sp>
      <p:sp>
        <p:nvSpPr>
          <p:cNvPr id="12" name="Text 10"/>
          <p:cNvSpPr/>
          <p:nvPr/>
        </p:nvSpPr>
        <p:spPr>
          <a:xfrm>
            <a:off x="8412480" y="1216152"/>
            <a:ext cx="3337560" cy="77724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Find one outer value that works.</a:t>
            </a:r>
            <a:endParaRPr lang="en-US" sz="1750" dirty="0"/>
          </a:p>
          <a:p>
            <a:pPr indent="0" marL="0">
              <a:buNone/>
            </a:pPr>
            <a:r>
              <a:rPr lang="en-US" sz="1750" dirty="0">
                <a:solidFill>
                  <a:srgbClr val="25252B"/>
                </a:solidFill>
                <a:latin typeface="Arial" pitchFamily="34" charset="0"/>
                <a:ea typeface="Arial" pitchFamily="34" charset="-122"/>
                <a:cs typeface="Arial" pitchFamily="34" charset="-120"/>
              </a:rPr>
              <a:t>If none works, the statement is false.</a:t>
            </a:r>
            <a:endParaRPr lang="en-US" sz="1750" dirty="0"/>
          </a:p>
        </p:txBody>
      </p:sp>
      <p:sp>
        <p:nvSpPr>
          <p:cNvPr id="13" name="Text 11"/>
          <p:cNvSpPr/>
          <p:nvPr/>
        </p:nvSpPr>
        <p:spPr>
          <a:xfrm>
            <a:off x="640080" y="2651760"/>
            <a:ext cx="182880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Inner ∃</a:t>
            </a:r>
            <a:endParaRPr lang="en-US" sz="2000" dirty="0"/>
          </a:p>
        </p:txBody>
      </p:sp>
      <p:sp>
        <p:nvSpPr>
          <p:cNvPr id="14" name="Text 12"/>
          <p:cNvSpPr/>
          <p:nvPr/>
        </p:nvSpPr>
        <p:spPr>
          <a:xfrm>
            <a:off x="2697480" y="2633472"/>
            <a:ext cx="3337560" cy="77724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Provide a witness after the earlier choices are fixed.</a:t>
            </a:r>
            <a:endParaRPr lang="en-US" sz="1750" dirty="0"/>
          </a:p>
        </p:txBody>
      </p:sp>
      <p:sp>
        <p:nvSpPr>
          <p:cNvPr id="15" name="Text 13"/>
          <p:cNvSpPr/>
          <p:nvPr/>
        </p:nvSpPr>
        <p:spPr>
          <a:xfrm>
            <a:off x="6355080" y="2651760"/>
            <a:ext cx="182880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Inner ∀</a:t>
            </a:r>
            <a:endParaRPr lang="en-US" sz="2000" dirty="0"/>
          </a:p>
        </p:txBody>
      </p:sp>
      <p:sp>
        <p:nvSpPr>
          <p:cNvPr id="16" name="Text 14"/>
          <p:cNvSpPr/>
          <p:nvPr/>
        </p:nvSpPr>
        <p:spPr>
          <a:xfrm>
            <a:off x="8412480" y="2633472"/>
            <a:ext cx="3337560" cy="77724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Verify the same earlier witness survives every challenge.</a:t>
            </a:r>
            <a:endParaRPr lang="en-US" sz="1750" dirty="0"/>
          </a:p>
        </p:txBody>
      </p:sp>
      <p:sp>
        <p:nvSpPr>
          <p:cNvPr id="17" name="Text 15"/>
          <p:cNvSpPr/>
          <p:nvPr/>
        </p:nvSpPr>
        <p:spPr>
          <a:xfrm>
            <a:off x="658368" y="4187952"/>
            <a:ext cx="1188720" cy="274320"/>
          </a:xfrm>
          <a:prstGeom prst="rect">
            <a:avLst/>
          </a:prstGeom>
          <a:noFill/>
          <a:ln/>
        </p:spPr>
        <p:txBody>
          <a:bodyPr wrap="square" lIns="0" tIns="0" rIns="0" bIns="0" rtlCol="0" anchor="ctr"/>
          <a:lstStyle/>
          <a:p>
            <a:pPr indent="0" marL="0">
              <a:buNone/>
            </a:pPr>
            <a:r>
              <a:rPr lang="en-US" sz="1400" b="1" dirty="0">
                <a:solidFill>
                  <a:srgbClr val="A52A75"/>
                </a:solidFill>
                <a:latin typeface="Arial" pitchFamily="34" charset="0"/>
                <a:ea typeface="Arial" pitchFamily="34" charset="-122"/>
                <a:cs typeface="Arial" pitchFamily="34" charset="-120"/>
              </a:rPr>
              <a:t>Mini-model</a:t>
            </a:r>
            <a:endParaRPr lang="en-US" sz="1400" dirty="0"/>
          </a:p>
        </p:txBody>
      </p:sp>
      <p:sp>
        <p:nvSpPr>
          <p:cNvPr id="18" name="Shape 16"/>
          <p:cNvSpPr/>
          <p:nvPr/>
        </p:nvSpPr>
        <p:spPr>
          <a:xfrm>
            <a:off x="1874520" y="4983480"/>
            <a:ext cx="1280160" cy="0"/>
          </a:xfrm>
          <a:prstGeom prst="line">
            <a:avLst/>
          </a:prstGeom>
          <a:noFill/>
          <a:ln w="19050">
            <a:solidFill>
              <a:srgbClr val="25252B"/>
            </a:solidFill>
            <a:prstDash val="solid"/>
            <a:tailEnd type="triangle"/>
          </a:ln>
        </p:spPr>
      </p:sp>
      <p:sp>
        <p:nvSpPr>
          <p:cNvPr id="19" name="Shape 17"/>
          <p:cNvSpPr/>
          <p:nvPr/>
        </p:nvSpPr>
        <p:spPr>
          <a:xfrm>
            <a:off x="3657600" y="4983480"/>
            <a:ext cx="1280160" cy="0"/>
          </a:xfrm>
          <a:prstGeom prst="line">
            <a:avLst/>
          </a:prstGeom>
          <a:noFill/>
          <a:ln w="19050">
            <a:solidFill>
              <a:srgbClr val="25252B"/>
            </a:solidFill>
            <a:prstDash val="solid"/>
            <a:tailEnd type="triangle"/>
          </a:ln>
        </p:spPr>
      </p:sp>
      <p:sp>
        <p:nvSpPr>
          <p:cNvPr id="20" name="Shape 18"/>
          <p:cNvSpPr/>
          <p:nvPr/>
        </p:nvSpPr>
        <p:spPr>
          <a:xfrm>
            <a:off x="5394960" y="5074920"/>
            <a:ext cx="-3337560" cy="685800"/>
          </a:xfrm>
          <a:prstGeom prst="line">
            <a:avLst/>
          </a:prstGeom>
          <a:noFill/>
          <a:ln w="19050">
            <a:solidFill>
              <a:srgbClr val="25252B"/>
            </a:solidFill>
            <a:prstDash val="solid"/>
            <a:tailEnd type="triangle"/>
          </a:ln>
        </p:spPr>
      </p:sp>
      <p:sp>
        <p:nvSpPr>
          <p:cNvPr id="21" name="Text 19"/>
          <p:cNvSpPr/>
          <p:nvPr/>
        </p:nvSpPr>
        <p:spPr>
          <a:xfrm>
            <a:off x="1325880" y="4617720"/>
            <a:ext cx="731520" cy="731520"/>
          </a:xfrm>
          <a:prstGeom prst="ellipse">
            <a:avLst/>
          </a:prstGeom>
          <a:solidFill>
            <a:srgbClr val="E8F2F8"/>
          </a:solidFill>
          <a:ln w="15240">
            <a:solidFill>
              <a:srgbClr val="3E7DA6"/>
            </a:solidFill>
          </a:ln>
        </p:spPr>
        <p:txBody>
          <a:bodyPr wrap="square" lIns="0" tIns="0" rIns="0" bIns="0" rtlCol="0" anchor="ctr"/>
          <a:lstStyle/>
          <a:p>
            <a:pPr algn="ctr" indent="0" marL="0">
              <a:buNone/>
            </a:pPr>
            <a:r>
              <a:rPr lang="en-US" sz="2400" b="1" dirty="0">
                <a:solidFill>
                  <a:srgbClr val="25252B"/>
                </a:solidFill>
                <a:latin typeface="Arial" pitchFamily="34" charset="0"/>
                <a:ea typeface="Arial" pitchFamily="34" charset="-122"/>
                <a:cs typeface="Arial" pitchFamily="34" charset="-120"/>
              </a:rPr>
              <a:t>1</a:t>
            </a:r>
            <a:endParaRPr lang="en-US" sz="2400" dirty="0"/>
          </a:p>
        </p:txBody>
      </p:sp>
      <p:sp>
        <p:nvSpPr>
          <p:cNvPr id="22" name="Text 20"/>
          <p:cNvSpPr/>
          <p:nvPr/>
        </p:nvSpPr>
        <p:spPr>
          <a:xfrm>
            <a:off x="3108960" y="4617720"/>
            <a:ext cx="731520" cy="731520"/>
          </a:xfrm>
          <a:prstGeom prst="ellipse">
            <a:avLst/>
          </a:prstGeom>
          <a:solidFill>
            <a:srgbClr val="E8F2F8"/>
          </a:solidFill>
          <a:ln w="15240">
            <a:solidFill>
              <a:srgbClr val="3E7DA6"/>
            </a:solidFill>
          </a:ln>
        </p:spPr>
        <p:txBody>
          <a:bodyPr wrap="square" lIns="0" tIns="0" rIns="0" bIns="0" rtlCol="0" anchor="ctr"/>
          <a:lstStyle/>
          <a:p>
            <a:pPr algn="ctr" indent="0" marL="0">
              <a:buNone/>
            </a:pPr>
            <a:r>
              <a:rPr lang="en-US" sz="2400" b="1" dirty="0">
                <a:solidFill>
                  <a:srgbClr val="25252B"/>
                </a:solidFill>
                <a:latin typeface="Arial" pitchFamily="34" charset="0"/>
                <a:ea typeface="Arial" pitchFamily="34" charset="-122"/>
                <a:cs typeface="Arial" pitchFamily="34" charset="-120"/>
              </a:rPr>
              <a:t>2</a:t>
            </a:r>
            <a:endParaRPr lang="en-US" sz="2400" dirty="0"/>
          </a:p>
        </p:txBody>
      </p:sp>
      <p:sp>
        <p:nvSpPr>
          <p:cNvPr id="23" name="Text 21"/>
          <p:cNvSpPr/>
          <p:nvPr/>
        </p:nvSpPr>
        <p:spPr>
          <a:xfrm>
            <a:off x="4892040" y="4617720"/>
            <a:ext cx="731520" cy="731520"/>
          </a:xfrm>
          <a:prstGeom prst="ellipse">
            <a:avLst/>
          </a:prstGeom>
          <a:solidFill>
            <a:srgbClr val="E8F2F8"/>
          </a:solidFill>
          <a:ln w="15240">
            <a:solidFill>
              <a:srgbClr val="3E7DA6"/>
            </a:solidFill>
          </a:ln>
        </p:spPr>
        <p:txBody>
          <a:bodyPr wrap="square" lIns="0" tIns="0" rIns="0" bIns="0" rtlCol="0" anchor="ctr"/>
          <a:lstStyle/>
          <a:p>
            <a:pPr algn="ctr" indent="0" marL="0">
              <a:buNone/>
            </a:pPr>
            <a:r>
              <a:rPr lang="en-US" sz="2400" b="1" dirty="0">
                <a:solidFill>
                  <a:srgbClr val="25252B"/>
                </a:solidFill>
                <a:latin typeface="Arial" pitchFamily="34" charset="0"/>
                <a:ea typeface="Arial" pitchFamily="34" charset="-122"/>
                <a:cs typeface="Arial" pitchFamily="34" charset="-120"/>
              </a:rPr>
              <a:t>3</a:t>
            </a:r>
            <a:endParaRPr lang="en-US" sz="2400" dirty="0"/>
          </a:p>
        </p:txBody>
      </p:sp>
      <p:sp>
        <p:nvSpPr>
          <p:cNvPr id="24" name="Text 22"/>
          <p:cNvSpPr/>
          <p:nvPr/>
        </p:nvSpPr>
        <p:spPr>
          <a:xfrm>
            <a:off x="6537960" y="4434840"/>
            <a:ext cx="4709160" cy="594360"/>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2400" dirty="0">
                <a:solidFill>
                  <a:srgbClr val="25252B"/>
                </a:solidFill>
                <a:latin typeface="Cambria Math" pitchFamily="34" charset="0"/>
                <a:ea typeface="Cambria Math" pitchFamily="34" charset="-122"/>
                <a:cs typeface="Cambria Math" pitchFamily="34" charset="-120"/>
              </a:rPr>
              <a:t>∀x∃y R(x,y)  is true</a:t>
            </a:r>
            <a:endParaRPr lang="en-US" sz="2400" dirty="0"/>
          </a:p>
        </p:txBody>
      </p:sp>
      <p:sp>
        <p:nvSpPr>
          <p:cNvPr id="25" name="Text 23"/>
          <p:cNvSpPr/>
          <p:nvPr/>
        </p:nvSpPr>
        <p:spPr>
          <a:xfrm>
            <a:off x="6720840" y="5193792"/>
            <a:ext cx="4343400" cy="411480"/>
          </a:xfrm>
          <a:prstGeom prst="rect">
            <a:avLst/>
          </a:prstGeom>
          <a:noFill/>
          <a:ln/>
        </p:spPr>
        <p:txBody>
          <a:bodyPr wrap="square" lIns="0" tIns="0" rIns="0" bIns="0" rtlCol="0" anchor="ctr"/>
          <a:lstStyle/>
          <a:p>
            <a:pPr algn="ctr" indent="0" marL="0">
              <a:buNone/>
            </a:pPr>
            <a:r>
              <a:rPr lang="en-US" sz="1800" dirty="0">
                <a:solidFill>
                  <a:srgbClr val="25252B"/>
                </a:solidFill>
                <a:latin typeface="Arial" pitchFamily="34" charset="0"/>
                <a:ea typeface="Arial" pitchFamily="34" charset="-122"/>
                <a:cs typeface="Arial" pitchFamily="34" charset="-120"/>
              </a:rPr>
              <a:t>Witnesses: 1→2, 2→3, 3→1.</a:t>
            </a:r>
            <a:endParaRPr lang="en-US" sz="1800" dirty="0"/>
          </a:p>
        </p:txBody>
      </p:sp>
      <p:sp>
        <p:nvSpPr>
          <p:cNvPr id="26" name="Text 24"/>
          <p:cNvSpPr/>
          <p:nvPr/>
        </p:nvSpPr>
        <p:spPr>
          <a:xfrm>
            <a:off x="6537960" y="5742432"/>
            <a:ext cx="4709160" cy="457200"/>
          </a:xfrm>
          <a:prstGeom prst="rect">
            <a:avLst/>
          </a:prstGeom>
          <a:solidFill>
            <a:srgbClr val="F9E9E9"/>
          </a:solidFill>
          <a:ln w="12700">
            <a:solidFill>
              <a:srgbClr val="B84A4A"/>
            </a:solidFill>
          </a:ln>
        </p:spPr>
        <p:txBody>
          <a:bodyPr wrap="square" lIns="254" tIns="254" rIns="254" bIns="254" rtlCol="0" anchor="ctr">
            <a:normAutofit/>
          </a:bodyPr>
          <a:lstStyle/>
          <a:p>
            <a:pPr algn="ctr" indent="0" marL="0">
              <a:buNone/>
            </a:pPr>
            <a:r>
              <a:rPr lang="en-US" sz="2200" dirty="0">
                <a:solidFill>
                  <a:srgbClr val="25252B"/>
                </a:solidFill>
                <a:latin typeface="Cambria Math" pitchFamily="34" charset="0"/>
                <a:ea typeface="Cambria Math" pitchFamily="34" charset="-122"/>
                <a:cs typeface="Cambria Math" pitchFamily="34" charset="-120"/>
              </a:rPr>
              <a:t>∃y∀x R(x,y)  is false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WORKED MODEL</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Cafeteria model: the data</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13</a:t>
            </a:r>
            <a:endParaRPr lang="en-US" sz="1000" dirty="0"/>
          </a:p>
        </p:txBody>
      </p:sp>
      <p:sp>
        <p:nvSpPr>
          <p:cNvPr id="9" name="Text 7"/>
          <p:cNvSpPr/>
          <p:nvPr/>
        </p:nvSpPr>
        <p:spPr>
          <a:xfrm>
            <a:off x="658368" y="1124712"/>
            <a:ext cx="10881360" cy="393192"/>
          </a:xfrm>
          <a:prstGeom prst="rect">
            <a:avLst/>
          </a:prstGeom>
          <a:noFill/>
          <a:ln/>
        </p:spPr>
        <p:txBody>
          <a:bodyPr wrap="square" lIns="0" tIns="0" rIns="0" bIns="0" rtlCol="0" anchor="ctr">
            <a:normAutofit/>
          </a:bodyPr>
          <a:lstStyle/>
          <a:p>
            <a:pPr indent="0" marL="0">
              <a:buNone/>
            </a:pPr>
            <a:r>
              <a:rPr lang="en-US" sz="1750" dirty="0">
                <a:solidFill>
                  <a:srgbClr val="5E626B"/>
                </a:solidFill>
                <a:latin typeface="Arial" pitchFamily="34" charset="0"/>
                <a:ea typeface="Arial" pitchFamily="34" charset="-122"/>
                <a:cs typeface="Arial" pitchFamily="34" charset="-120"/>
              </a:rPr>
              <a:t>Predicates: Chosen(s,i) = student s chose item i; ItemIn(i,z) = item i belongs to station z.</a:t>
            </a:r>
            <a:endParaRPr lang="en-US" sz="1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6400800" cy="4480560"/>
        </p:xfrm>
        <a:graphic>
          <a:graphicData uri="http://schemas.openxmlformats.org/drawingml/2006/table">
            <a:tbl>
              <a:tblPr/>
              <a:tblGrid>
                <a:gridCol w="3931920"/>
                <a:gridCol w="822960"/>
                <a:gridCol w="822960"/>
                <a:gridCol w="822960"/>
              </a:tblGrid>
              <a:tr h="283464">
                <a:tc>
                  <a:txBody>
                    <a:bodyPr/>
                    <a:lstStyle/>
                    <a:p>
                      <a:pPr algn="ctr" indent="0" marL="0">
                        <a:buNone/>
                      </a:pPr>
                      <a:r>
                        <a:rPr lang="en-US" sz="1450" b="1" dirty="0">
                          <a:solidFill>
                            <a:srgbClr val="FFFFFF"/>
                          </a:solidFill>
                          <a:latin typeface="Arial" pitchFamily="34" charset="0"/>
                          <a:ea typeface="Arial" pitchFamily="34" charset="-122"/>
                          <a:cs typeface="Arial" pitchFamily="34" charset="-120"/>
                        </a:rPr>
                        <a:t>Station / item</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450" b="1" dirty="0">
                          <a:solidFill>
                            <a:srgbClr val="FFFFFF"/>
                          </a:solidFill>
                          <a:latin typeface="Arial" pitchFamily="34" charset="0"/>
                          <a:ea typeface="Arial" pitchFamily="34" charset="-122"/>
                          <a:cs typeface="Arial" pitchFamily="34" charset="-120"/>
                        </a:rPr>
                        <a:t>Uta</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450" b="1" dirty="0">
                          <a:solidFill>
                            <a:srgbClr val="FFFFFF"/>
                          </a:solidFill>
                          <a:latin typeface="Arial" pitchFamily="34" charset="0"/>
                          <a:ea typeface="Arial" pitchFamily="34" charset="-122"/>
                          <a:cs typeface="Arial" pitchFamily="34" charset="-120"/>
                        </a:rPr>
                        <a:t>Tim</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450" b="1" dirty="0">
                          <a:solidFill>
                            <a:srgbClr val="FFFFFF"/>
                          </a:solidFill>
                          <a:latin typeface="Arial" pitchFamily="34" charset="0"/>
                          <a:ea typeface="Arial" pitchFamily="34" charset="-122"/>
                          <a:cs typeface="Arial" pitchFamily="34" charset="-120"/>
                        </a:rPr>
                        <a:t>Yuen</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A52A75"/>
                    </a:solidFill>
                  </a:tcPr>
                </a:tc>
              </a:tr>
              <a:tr h="283464">
                <a:tc>
                  <a:txBody>
                    <a:bodyPr/>
                    <a:lstStyle/>
                    <a:p>
                      <a:pPr algn="l" indent="0" marL="0">
                        <a:buNone/>
                      </a:pPr>
                      <a:r>
                        <a:rPr lang="en-US" sz="1450" b="1" dirty="0">
                          <a:solidFill>
                            <a:srgbClr val="7D1F58"/>
                          </a:solidFill>
                          <a:latin typeface="Arial" pitchFamily="34" charset="0"/>
                          <a:ea typeface="Arial" pitchFamily="34" charset="-122"/>
                          <a:cs typeface="Arial" pitchFamily="34" charset="-120"/>
                        </a:rPr>
                        <a:t>SALADS</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green salad</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fruit salad</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b="1" dirty="0">
                          <a:solidFill>
                            <a:srgbClr val="7D1F58"/>
                          </a:solidFill>
                          <a:latin typeface="Arial" pitchFamily="34" charset="0"/>
                          <a:ea typeface="Arial" pitchFamily="34" charset="-122"/>
                          <a:cs typeface="Arial" pitchFamily="34" charset="-120"/>
                        </a:rPr>
                        <a:t>MAIN COURSES</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spaghetti</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fish</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b="1" dirty="0">
                          <a:solidFill>
                            <a:srgbClr val="7D1F58"/>
                          </a:solidFill>
                          <a:latin typeface="Arial" pitchFamily="34" charset="0"/>
                          <a:ea typeface="Arial" pitchFamily="34" charset="-122"/>
                          <a:cs typeface="Arial" pitchFamily="34" charset="-120"/>
                        </a:rPr>
                        <a:t>DESSERTS</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pie</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cake</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b="1" dirty="0">
                          <a:solidFill>
                            <a:srgbClr val="7D1F58"/>
                          </a:solidFill>
                          <a:latin typeface="Arial" pitchFamily="34" charset="0"/>
                          <a:ea typeface="Arial" pitchFamily="34" charset="-122"/>
                          <a:cs typeface="Arial" pitchFamily="34" charset="-120"/>
                        </a:rPr>
                        <a:t>BEVERAGES</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3DFEA"/>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milk</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soda</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r h="283464">
                <a:tc>
                  <a:txBody>
                    <a:bodyPr/>
                    <a:lstStyle/>
                    <a:p>
                      <a:pPr algn="l" indent="0" marL="0">
                        <a:buNone/>
                      </a:pPr>
                      <a:r>
                        <a:rPr lang="en-US" sz="1450" dirty="0">
                          <a:solidFill>
                            <a:srgbClr val="25252B"/>
                          </a:solidFill>
                          <a:latin typeface="Arial" pitchFamily="34" charset="0"/>
                          <a:ea typeface="Arial" pitchFamily="34" charset="-122"/>
                          <a:cs typeface="Arial" pitchFamily="34" charset="-120"/>
                        </a:rPr>
                        <a:t>coffee</a:t>
                      </a: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3E7DA6"/>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c>
                  <a:txBody>
                    <a:bodyPr/>
                    <a:lstStyle/>
                    <a:p>
                      <a:pPr algn="ctr" indent="0" marL="0">
                        <a:buNone/>
                      </a:pPr>
                      <a:endParaRPr lang="en-US" sz="1450" dirty="0">
                        <a:latin typeface="Arial" charset="0"/>
                        <a:ea typeface="Arial" charset="0"/>
                        <a:cs typeface="Arial" charset="0"/>
                      </a:endParaRPr>
                    </a:p>
                  </a:txBody>
                  <a:tcPr marL="45720" marR="45720" marT="45720" marB="45720" anchor="mid">
                    <a:lnL w="10160" cap="flat" cmpd="sng" algn="ctr">
                      <a:solidFill>
                        <a:srgbClr val="D8D2D6"/>
                      </a:solidFill>
                      <a:prstDash val="solid"/>
                      <a:round/>
                      <a:headEnd type="none" w="med" len="med"/>
                      <a:tailEnd type="none" w="med" len="med"/>
                    </a:lnL>
                    <a:lnR w="10160" cap="flat" cmpd="sng" algn="ctr">
                      <a:solidFill>
                        <a:srgbClr val="D8D2D6"/>
                      </a:solidFill>
                      <a:prstDash val="solid"/>
                      <a:round/>
                      <a:headEnd type="none" w="med" len="med"/>
                      <a:tailEnd type="none" w="med" len="med"/>
                    </a:lnR>
                    <a:lnT w="10160" cap="flat" cmpd="sng" algn="ctr">
                      <a:solidFill>
                        <a:srgbClr val="D8D2D6"/>
                      </a:solidFill>
                      <a:prstDash val="solid"/>
                      <a:round/>
                      <a:headEnd type="none" w="med" len="med"/>
                      <a:tailEnd type="none" w="med" len="med"/>
                    </a:lnT>
                    <a:lnB w="10160" cap="flat" cmpd="sng" algn="ctr">
                      <a:solidFill>
                        <a:srgbClr val="D8D2D6"/>
                      </a:solidFill>
                      <a:prstDash val="solid"/>
                      <a:round/>
                      <a:headEnd type="none" w="med" len="med"/>
                      <a:tailEnd type="none" w="med" len="med"/>
                    </a:lnB>
                    <a:solidFill>
                      <a:srgbClr val="FFFFFF"/>
                    </a:solidFill>
                  </a:tcPr>
                </a:tc>
              </a:tr>
            </a:tbl>
          </a:graphicData>
        </a:graphic>
      </p:graphicFrame>
      <p:sp>
        <p:nvSpPr>
          <p:cNvPr id="11" name="Text 8"/>
          <p:cNvSpPr/>
          <p:nvPr/>
        </p:nvSpPr>
        <p:spPr>
          <a:xfrm>
            <a:off x="7498080" y="1691640"/>
            <a:ext cx="393192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Immediate observations</a:t>
            </a:r>
            <a:endParaRPr lang="en-US" sz="2000" dirty="0"/>
          </a:p>
        </p:txBody>
      </p:sp>
      <p:sp>
        <p:nvSpPr>
          <p:cNvPr id="12" name="Text 9"/>
          <p:cNvSpPr/>
          <p:nvPr/>
        </p:nvSpPr>
        <p:spPr>
          <a:xfrm>
            <a:off x="7543800" y="2423160"/>
            <a:ext cx="1051560" cy="411480"/>
          </a:xfrm>
          <a:prstGeom prst="rect">
            <a:avLst/>
          </a:prstGeom>
          <a:noFill/>
          <a:ln/>
        </p:spPr>
        <p:txBody>
          <a:bodyPr wrap="square" lIns="0" tIns="0" rIns="0" bIns="0" rtlCol="0" anchor="ctr"/>
          <a:lstStyle/>
          <a:p>
            <a:pPr indent="0" marL="0">
              <a:buNone/>
            </a:pPr>
            <a:r>
              <a:rPr lang="en-US" sz="1700" b="1" dirty="0">
                <a:solidFill>
                  <a:srgbClr val="A52A75"/>
                </a:solidFill>
                <a:latin typeface="Arial" pitchFamily="34" charset="0"/>
                <a:ea typeface="Arial" pitchFamily="34" charset="-122"/>
                <a:cs typeface="Arial" pitchFamily="34" charset="-120"/>
              </a:rPr>
              <a:t>Pie</a:t>
            </a:r>
            <a:endParaRPr lang="en-US" sz="1700" dirty="0"/>
          </a:p>
        </p:txBody>
      </p:sp>
      <p:sp>
        <p:nvSpPr>
          <p:cNvPr id="13" name="Text 10"/>
          <p:cNvSpPr/>
          <p:nvPr/>
        </p:nvSpPr>
        <p:spPr>
          <a:xfrm>
            <a:off x="8732520" y="2423160"/>
            <a:ext cx="2514600" cy="502920"/>
          </a:xfrm>
          <a:prstGeom prst="rect">
            <a:avLst/>
          </a:prstGeom>
          <a:noFill/>
          <a:ln/>
        </p:spPr>
        <p:txBody>
          <a:bodyPr wrap="square" lIns="0" tIns="0" rIns="0" bIns="0" rtlCol="0" anchor="ctr">
            <a:normAutofit/>
          </a:bodyPr>
          <a:lstStyle/>
          <a:p>
            <a:pPr indent="0" marL="0">
              <a:buNone/>
            </a:pPr>
            <a:r>
              <a:rPr lang="en-US" sz="1650" dirty="0">
                <a:solidFill>
                  <a:srgbClr val="25252B"/>
                </a:solidFill>
                <a:latin typeface="Arial" pitchFamily="34" charset="0"/>
                <a:ea typeface="Arial" pitchFamily="34" charset="-122"/>
                <a:cs typeface="Arial" pitchFamily="34" charset="-120"/>
              </a:rPr>
              <a:t>chosen by all three students</a:t>
            </a:r>
            <a:endParaRPr lang="en-US" sz="1650" dirty="0"/>
          </a:p>
        </p:txBody>
      </p:sp>
      <p:sp>
        <p:nvSpPr>
          <p:cNvPr id="14" name="Text 11"/>
          <p:cNvSpPr/>
          <p:nvPr/>
        </p:nvSpPr>
        <p:spPr>
          <a:xfrm>
            <a:off x="7543800" y="3200400"/>
            <a:ext cx="1051560" cy="411480"/>
          </a:xfrm>
          <a:prstGeom prst="rect">
            <a:avLst/>
          </a:prstGeom>
          <a:noFill/>
          <a:ln/>
        </p:spPr>
        <p:txBody>
          <a:bodyPr wrap="square" lIns="0" tIns="0" rIns="0" bIns="0" rtlCol="0" anchor="ctr"/>
          <a:lstStyle/>
          <a:p>
            <a:pPr indent="0" marL="0">
              <a:buNone/>
            </a:pPr>
            <a:r>
              <a:rPr lang="en-US" sz="1700" b="1" dirty="0">
                <a:solidFill>
                  <a:srgbClr val="A52A75"/>
                </a:solidFill>
                <a:latin typeface="Arial" pitchFamily="34" charset="0"/>
                <a:ea typeface="Arial" pitchFamily="34" charset="-122"/>
                <a:cs typeface="Arial" pitchFamily="34" charset="-120"/>
              </a:rPr>
              <a:t>Tim</a:t>
            </a:r>
            <a:endParaRPr lang="en-US" sz="1700" dirty="0"/>
          </a:p>
        </p:txBody>
      </p:sp>
      <p:sp>
        <p:nvSpPr>
          <p:cNvPr id="15" name="Text 12"/>
          <p:cNvSpPr/>
          <p:nvPr/>
        </p:nvSpPr>
        <p:spPr>
          <a:xfrm>
            <a:off x="8732520" y="3200400"/>
            <a:ext cx="2514600" cy="502920"/>
          </a:xfrm>
          <a:prstGeom prst="rect">
            <a:avLst/>
          </a:prstGeom>
          <a:noFill/>
          <a:ln/>
        </p:spPr>
        <p:txBody>
          <a:bodyPr wrap="square" lIns="0" tIns="0" rIns="0" bIns="0" rtlCol="0" anchor="ctr">
            <a:normAutofit/>
          </a:bodyPr>
          <a:lstStyle/>
          <a:p>
            <a:pPr indent="0" marL="0">
              <a:buNone/>
            </a:pPr>
            <a:r>
              <a:rPr lang="en-US" sz="1650" dirty="0">
                <a:solidFill>
                  <a:srgbClr val="25252B"/>
                </a:solidFill>
                <a:latin typeface="Arial" pitchFamily="34" charset="0"/>
                <a:ea typeface="Arial" pitchFamily="34" charset="-122"/>
                <a:cs typeface="Arial" pitchFamily="34" charset="-120"/>
              </a:rPr>
              <a:t>chose at least one item from every station</a:t>
            </a:r>
            <a:endParaRPr lang="en-US" sz="1650" dirty="0"/>
          </a:p>
        </p:txBody>
      </p:sp>
      <p:sp>
        <p:nvSpPr>
          <p:cNvPr id="16" name="Text 13"/>
          <p:cNvSpPr/>
          <p:nvPr/>
        </p:nvSpPr>
        <p:spPr>
          <a:xfrm>
            <a:off x="7543800" y="3977640"/>
            <a:ext cx="1051560" cy="411480"/>
          </a:xfrm>
          <a:prstGeom prst="rect">
            <a:avLst/>
          </a:prstGeom>
          <a:noFill/>
          <a:ln/>
        </p:spPr>
        <p:txBody>
          <a:bodyPr wrap="square" lIns="0" tIns="0" rIns="0" bIns="0" rtlCol="0" anchor="ctr"/>
          <a:lstStyle/>
          <a:p>
            <a:pPr indent="0" marL="0">
              <a:buNone/>
            </a:pPr>
            <a:r>
              <a:rPr lang="en-US" sz="1700" b="1" dirty="0">
                <a:solidFill>
                  <a:srgbClr val="A52A75"/>
                </a:solidFill>
                <a:latin typeface="Arial" pitchFamily="34" charset="0"/>
                <a:ea typeface="Arial" pitchFamily="34" charset="-122"/>
                <a:cs typeface="Arial" pitchFamily="34" charset="-120"/>
              </a:rPr>
              <a:t>Uta</a:t>
            </a:r>
            <a:endParaRPr lang="en-US" sz="1700" dirty="0"/>
          </a:p>
        </p:txBody>
      </p:sp>
      <p:sp>
        <p:nvSpPr>
          <p:cNvPr id="17" name="Text 14"/>
          <p:cNvSpPr/>
          <p:nvPr/>
        </p:nvSpPr>
        <p:spPr>
          <a:xfrm>
            <a:off x="8732520" y="3977640"/>
            <a:ext cx="2514600" cy="502920"/>
          </a:xfrm>
          <a:prstGeom prst="rect">
            <a:avLst/>
          </a:prstGeom>
          <a:noFill/>
          <a:ln/>
        </p:spPr>
        <p:txBody>
          <a:bodyPr wrap="square" lIns="0" tIns="0" rIns="0" bIns="0" rtlCol="0" anchor="ctr">
            <a:normAutofit/>
          </a:bodyPr>
          <a:lstStyle/>
          <a:p>
            <a:pPr indent="0" marL="0">
              <a:buNone/>
            </a:pPr>
            <a:r>
              <a:rPr lang="en-US" sz="1650" dirty="0">
                <a:solidFill>
                  <a:srgbClr val="25252B"/>
                </a:solidFill>
                <a:latin typeface="Arial" pitchFamily="34" charset="0"/>
                <a:ea typeface="Arial" pitchFamily="34" charset="-122"/>
                <a:cs typeface="Arial" pitchFamily="34" charset="-120"/>
              </a:rPr>
              <a:t>also chose at least one item from every station</a:t>
            </a:r>
            <a:endParaRPr lang="en-US" sz="1650" dirty="0"/>
          </a:p>
        </p:txBody>
      </p:sp>
      <p:sp>
        <p:nvSpPr>
          <p:cNvPr id="18" name="Text 15"/>
          <p:cNvSpPr/>
          <p:nvPr/>
        </p:nvSpPr>
        <p:spPr>
          <a:xfrm>
            <a:off x="7543800" y="4754880"/>
            <a:ext cx="1051560" cy="411480"/>
          </a:xfrm>
          <a:prstGeom prst="rect">
            <a:avLst/>
          </a:prstGeom>
          <a:noFill/>
          <a:ln/>
        </p:spPr>
        <p:txBody>
          <a:bodyPr wrap="square" lIns="0" tIns="0" rIns="0" bIns="0" rtlCol="0" anchor="ctr"/>
          <a:lstStyle/>
          <a:p>
            <a:pPr indent="0" marL="0">
              <a:buNone/>
            </a:pPr>
            <a:r>
              <a:rPr lang="en-US" sz="1700" b="1" dirty="0">
                <a:solidFill>
                  <a:srgbClr val="A52A75"/>
                </a:solidFill>
                <a:latin typeface="Arial" pitchFamily="34" charset="0"/>
                <a:ea typeface="Arial" pitchFamily="34" charset="-122"/>
                <a:cs typeface="Arial" pitchFamily="34" charset="-120"/>
              </a:rPr>
              <a:t>Yuen</a:t>
            </a:r>
            <a:endParaRPr lang="en-US" sz="1700" dirty="0"/>
          </a:p>
        </p:txBody>
      </p:sp>
      <p:sp>
        <p:nvSpPr>
          <p:cNvPr id="19" name="Text 16"/>
          <p:cNvSpPr/>
          <p:nvPr/>
        </p:nvSpPr>
        <p:spPr>
          <a:xfrm>
            <a:off x="8732520" y="4754880"/>
            <a:ext cx="2514600" cy="502920"/>
          </a:xfrm>
          <a:prstGeom prst="rect">
            <a:avLst/>
          </a:prstGeom>
          <a:noFill/>
          <a:ln/>
        </p:spPr>
        <p:txBody>
          <a:bodyPr wrap="square" lIns="0" tIns="0" rIns="0" bIns="0" rtlCol="0" anchor="ctr">
            <a:normAutofit/>
          </a:bodyPr>
          <a:lstStyle/>
          <a:p>
            <a:pPr indent="0" marL="0">
              <a:buNone/>
            </a:pPr>
            <a:r>
              <a:rPr lang="en-US" sz="1650" dirty="0">
                <a:solidFill>
                  <a:srgbClr val="25252B"/>
                </a:solidFill>
                <a:latin typeface="Arial" pitchFamily="34" charset="0"/>
                <a:ea typeface="Arial" pitchFamily="34" charset="-122"/>
                <a:cs typeface="Arial" pitchFamily="34" charset="-120"/>
              </a:rPr>
              <a:t>chose no salad</a:t>
            </a:r>
            <a:endParaRPr lang="en-US" sz="1650" dirty="0"/>
          </a:p>
        </p:txBody>
      </p:sp>
      <p:sp>
        <p:nvSpPr>
          <p:cNvPr id="20" name="Text 17"/>
          <p:cNvSpPr/>
          <p:nvPr/>
        </p:nvSpPr>
        <p:spPr>
          <a:xfrm>
            <a:off x="7452360" y="5623560"/>
            <a:ext cx="3977640" cy="50292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750" b="1" dirty="0">
                <a:solidFill>
                  <a:srgbClr val="25252B"/>
                </a:solidFill>
                <a:latin typeface="Arial" pitchFamily="34" charset="0"/>
                <a:ea typeface="Arial" pitchFamily="34" charset="-122"/>
                <a:cs typeface="Arial" pitchFamily="34" charset="-120"/>
              </a:rPr>
              <a:t>Use the matrix to test each quantified claim.</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WORKED MODEL</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Cafeteria claims A and B</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14</a:t>
            </a:r>
            <a:endParaRPr lang="en-US" sz="1000" dirty="0"/>
          </a:p>
        </p:txBody>
      </p:sp>
      <p:sp>
        <p:nvSpPr>
          <p:cNvPr id="9" name="Text 7"/>
          <p:cNvSpPr/>
          <p:nvPr/>
        </p:nvSpPr>
        <p:spPr>
          <a:xfrm>
            <a:off x="685800" y="1234440"/>
            <a:ext cx="5303520" cy="502920"/>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A. There is an item chosen by every student.</a:t>
            </a:r>
            <a:endParaRPr lang="en-US" sz="2000" dirty="0"/>
          </a:p>
        </p:txBody>
      </p:sp>
      <p:sp>
        <p:nvSpPr>
          <p:cNvPr id="10" name="Text 8"/>
          <p:cNvSpPr/>
          <p:nvPr/>
        </p:nvSpPr>
        <p:spPr>
          <a:xfrm>
            <a:off x="960120" y="1920240"/>
            <a:ext cx="4754880" cy="59436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∃i ∀s  Chosen(s,i)</a:t>
            </a:r>
            <a:endParaRPr lang="en-US" sz="2700" dirty="0"/>
          </a:p>
        </p:txBody>
      </p:sp>
      <p:sp>
        <p:nvSpPr>
          <p:cNvPr id="11" name="Text 9"/>
          <p:cNvSpPr/>
          <p:nvPr/>
        </p:nvSpPr>
        <p:spPr>
          <a:xfrm>
            <a:off x="914400" y="2743200"/>
            <a:ext cx="1097280" cy="365760"/>
          </a:xfrm>
          <a:prstGeom prst="rect">
            <a:avLst/>
          </a:prstGeom>
          <a:noFill/>
          <a:ln/>
        </p:spPr>
        <p:txBody>
          <a:bodyPr wrap="square" lIns="0" tIns="0" rIns="0" bIns="0" rtlCol="0" anchor="ctr"/>
          <a:lstStyle/>
          <a:p>
            <a:pPr indent="0" marL="0">
              <a:buNone/>
            </a:pPr>
            <a:r>
              <a:rPr lang="en-US" sz="2100" b="1" dirty="0">
                <a:solidFill>
                  <a:srgbClr val="4B8B5B"/>
                </a:solidFill>
                <a:latin typeface="Arial" pitchFamily="34" charset="0"/>
                <a:ea typeface="Arial" pitchFamily="34" charset="-122"/>
                <a:cs typeface="Arial" pitchFamily="34" charset="-120"/>
              </a:rPr>
              <a:t>TRUE</a:t>
            </a:r>
            <a:endParaRPr lang="en-US" sz="2100" dirty="0"/>
          </a:p>
        </p:txBody>
      </p:sp>
      <p:sp>
        <p:nvSpPr>
          <p:cNvPr id="12" name="Text 10"/>
          <p:cNvSpPr/>
          <p:nvPr/>
        </p:nvSpPr>
        <p:spPr>
          <a:xfrm>
            <a:off x="914400" y="3246120"/>
            <a:ext cx="4480560" cy="100584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Witness: pie.</a:t>
            </a:r>
            <a:endParaRPr lang="en-US" sz="2000" dirty="0"/>
          </a:p>
          <a:p>
            <a:pPr indent="0" marL="0">
              <a:buNone/>
            </a:pPr>
            <a:r>
              <a:rPr lang="en-US" sz="2000" dirty="0">
                <a:solidFill>
                  <a:srgbClr val="25252B"/>
                </a:solidFill>
                <a:latin typeface="Arial" pitchFamily="34" charset="0"/>
                <a:ea typeface="Arial" pitchFamily="34" charset="-122"/>
                <a:cs typeface="Arial" pitchFamily="34" charset="-120"/>
              </a:rPr>
              <a:t>Uta, Tim, and Yuen all chose it.</a:t>
            </a:r>
            <a:endParaRPr lang="en-US" sz="2000" dirty="0"/>
          </a:p>
        </p:txBody>
      </p:sp>
      <p:sp>
        <p:nvSpPr>
          <p:cNvPr id="13" name="Text 11"/>
          <p:cNvSpPr/>
          <p:nvPr/>
        </p:nvSpPr>
        <p:spPr>
          <a:xfrm>
            <a:off x="914400" y="4754880"/>
            <a:ext cx="457200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50" b="1" dirty="0">
                <a:solidFill>
                  <a:srgbClr val="25252B"/>
                </a:solidFill>
                <a:latin typeface="Arial" pitchFamily="34" charset="0"/>
                <a:ea typeface="Arial" pitchFamily="34" charset="-122"/>
                <a:cs typeface="Arial" pitchFamily="34" charset="-120"/>
              </a:rPr>
              <a:t>One item must work for all students.</a:t>
            </a:r>
            <a:endParaRPr lang="en-US" sz="1850" dirty="0"/>
          </a:p>
        </p:txBody>
      </p:sp>
      <p:sp>
        <p:nvSpPr>
          <p:cNvPr id="14" name="Text 12"/>
          <p:cNvSpPr/>
          <p:nvPr/>
        </p:nvSpPr>
        <p:spPr>
          <a:xfrm>
            <a:off x="6217920" y="1234440"/>
            <a:ext cx="5303520" cy="50292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B. There is a student who chose every item.</a:t>
            </a:r>
            <a:endParaRPr lang="en-US" sz="2000" dirty="0"/>
          </a:p>
        </p:txBody>
      </p:sp>
      <p:sp>
        <p:nvSpPr>
          <p:cNvPr id="15" name="Text 13"/>
          <p:cNvSpPr/>
          <p:nvPr/>
        </p:nvSpPr>
        <p:spPr>
          <a:xfrm>
            <a:off x="6492240" y="1920240"/>
            <a:ext cx="4754880" cy="59436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∃s ∀i  Chosen(s,i)</a:t>
            </a:r>
            <a:endParaRPr lang="en-US" sz="2700" dirty="0"/>
          </a:p>
        </p:txBody>
      </p:sp>
      <p:sp>
        <p:nvSpPr>
          <p:cNvPr id="16" name="Text 14"/>
          <p:cNvSpPr/>
          <p:nvPr/>
        </p:nvSpPr>
        <p:spPr>
          <a:xfrm>
            <a:off x="6446520" y="2743200"/>
            <a:ext cx="1097280" cy="365760"/>
          </a:xfrm>
          <a:prstGeom prst="rect">
            <a:avLst/>
          </a:prstGeom>
          <a:noFill/>
          <a:ln/>
        </p:spPr>
        <p:txBody>
          <a:bodyPr wrap="square" lIns="0" tIns="0" rIns="0" bIns="0" rtlCol="0" anchor="ctr"/>
          <a:lstStyle/>
          <a:p>
            <a:pPr indent="0" marL="0">
              <a:buNone/>
            </a:pPr>
            <a:r>
              <a:rPr lang="en-US" sz="2100" b="1" dirty="0">
                <a:solidFill>
                  <a:srgbClr val="B84A4A"/>
                </a:solidFill>
                <a:latin typeface="Arial" pitchFamily="34" charset="0"/>
                <a:ea typeface="Arial" pitchFamily="34" charset="-122"/>
                <a:cs typeface="Arial" pitchFamily="34" charset="-120"/>
              </a:rPr>
              <a:t>FALSE</a:t>
            </a:r>
            <a:endParaRPr lang="en-US" sz="2100" dirty="0"/>
          </a:p>
        </p:txBody>
      </p:sp>
      <p:sp>
        <p:nvSpPr>
          <p:cNvPr id="17" name="Text 15"/>
          <p:cNvSpPr/>
          <p:nvPr/>
        </p:nvSpPr>
        <p:spPr>
          <a:xfrm>
            <a:off x="6446520" y="3246120"/>
            <a:ext cx="4480560" cy="100584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No student chose all nine items.</a:t>
            </a:r>
            <a:endParaRPr lang="en-US" sz="2000" dirty="0"/>
          </a:p>
          <a:p>
            <a:pPr indent="0" marL="0">
              <a:buNone/>
            </a:pPr>
            <a:r>
              <a:rPr lang="en-US" sz="2000" dirty="0">
                <a:solidFill>
                  <a:srgbClr val="25252B"/>
                </a:solidFill>
                <a:latin typeface="Arial" pitchFamily="34" charset="0"/>
                <a:ea typeface="Arial" pitchFamily="34" charset="-122"/>
                <a:cs typeface="Arial" pitchFamily="34" charset="-120"/>
              </a:rPr>
              <a:t>Each possible student fails on several items.</a:t>
            </a:r>
            <a:endParaRPr lang="en-US" sz="2000" dirty="0"/>
          </a:p>
        </p:txBody>
      </p:sp>
      <p:sp>
        <p:nvSpPr>
          <p:cNvPr id="18" name="Text 16"/>
          <p:cNvSpPr/>
          <p:nvPr/>
        </p:nvSpPr>
        <p:spPr>
          <a:xfrm>
            <a:off x="6446520" y="4754880"/>
            <a:ext cx="457200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A universal inner condition needs complete coverage.</a:t>
            </a:r>
            <a:endParaRPr lang="en-US" sz="1800" dirty="0"/>
          </a:p>
        </p:txBody>
      </p:sp>
      <p:sp>
        <p:nvSpPr>
          <p:cNvPr id="19" name="Shape 17"/>
          <p:cNvSpPr/>
          <p:nvPr/>
        </p:nvSpPr>
        <p:spPr>
          <a:xfrm>
            <a:off x="6089904" y="1188720"/>
            <a:ext cx="0" cy="4206240"/>
          </a:xfrm>
          <a:prstGeom prst="line">
            <a:avLst/>
          </a:prstGeom>
          <a:noFill/>
          <a:ln w="15240">
            <a:solidFill>
              <a:srgbClr val="D8D2D6"/>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WORKED MODEL</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Cafeteria claims C and D</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15</a:t>
            </a:r>
            <a:endParaRPr lang="en-US" sz="1000" dirty="0"/>
          </a:p>
        </p:txBody>
      </p:sp>
      <p:sp>
        <p:nvSpPr>
          <p:cNvPr id="9" name="Text 7"/>
          <p:cNvSpPr/>
          <p:nvPr/>
        </p:nvSpPr>
        <p:spPr>
          <a:xfrm>
            <a:off x="640080" y="1170432"/>
            <a:ext cx="5486400" cy="502920"/>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950" b="1" dirty="0">
                <a:solidFill>
                  <a:srgbClr val="25252B"/>
                </a:solidFill>
                <a:latin typeface="Arial" pitchFamily="34" charset="0"/>
                <a:ea typeface="Arial" pitchFamily="34" charset="-122"/>
                <a:cs typeface="Arial" pitchFamily="34" charset="-120"/>
              </a:rPr>
              <a:t>C. Some student chose an item from every station.</a:t>
            </a:r>
            <a:endParaRPr lang="en-US" sz="1950" dirty="0"/>
          </a:p>
        </p:txBody>
      </p:sp>
      <p:sp>
        <p:nvSpPr>
          <p:cNvPr id="10" name="Text 8"/>
          <p:cNvSpPr/>
          <p:nvPr/>
        </p:nvSpPr>
        <p:spPr>
          <a:xfrm>
            <a:off x="822960" y="1847088"/>
            <a:ext cx="5120640" cy="685800"/>
          </a:xfrm>
          <a:prstGeom prst="rect">
            <a:avLst/>
          </a:prstGeom>
          <a:noFill/>
          <a:ln/>
        </p:spPr>
        <p:txBody>
          <a:bodyPr wrap="square" lIns="254" tIns="254" rIns="254" bIns="254" rtlCol="0" anchor="ctr">
            <a:normAutofit/>
          </a:bodyPr>
          <a:lstStyle/>
          <a:p>
            <a:pPr algn="ctr" indent="0" marL="0">
              <a:buNone/>
            </a:pPr>
            <a:r>
              <a:rPr lang="en-US" sz="2300" dirty="0">
                <a:solidFill>
                  <a:srgbClr val="25252B"/>
                </a:solidFill>
                <a:latin typeface="Cambria Math" pitchFamily="34" charset="0"/>
                <a:ea typeface="Cambria Math" pitchFamily="34" charset="-122"/>
                <a:cs typeface="Cambria Math" pitchFamily="34" charset="-120"/>
              </a:rPr>
              <a:t>∃s ∀z ∃i [ItemIn(i,z) ∧ Chosen(s,i)]</a:t>
            </a:r>
            <a:endParaRPr lang="en-US" sz="2300" dirty="0"/>
          </a:p>
        </p:txBody>
      </p:sp>
      <p:sp>
        <p:nvSpPr>
          <p:cNvPr id="11" name="Text 9"/>
          <p:cNvSpPr/>
          <p:nvPr/>
        </p:nvSpPr>
        <p:spPr>
          <a:xfrm>
            <a:off x="868680" y="2743200"/>
            <a:ext cx="1097280" cy="365760"/>
          </a:xfrm>
          <a:prstGeom prst="rect">
            <a:avLst/>
          </a:prstGeom>
          <a:noFill/>
          <a:ln/>
        </p:spPr>
        <p:txBody>
          <a:bodyPr wrap="square" lIns="0" tIns="0" rIns="0" bIns="0" rtlCol="0" anchor="ctr"/>
          <a:lstStyle/>
          <a:p>
            <a:pPr indent="0" marL="0">
              <a:buNone/>
            </a:pPr>
            <a:r>
              <a:rPr lang="en-US" sz="2100" b="1" dirty="0">
                <a:solidFill>
                  <a:srgbClr val="4B8B5B"/>
                </a:solidFill>
                <a:latin typeface="Arial" pitchFamily="34" charset="0"/>
                <a:ea typeface="Arial" pitchFamily="34" charset="-122"/>
                <a:cs typeface="Arial" pitchFamily="34" charset="-120"/>
              </a:rPr>
              <a:t>TRUE</a:t>
            </a:r>
            <a:endParaRPr lang="en-US" sz="2100" dirty="0"/>
          </a:p>
        </p:txBody>
      </p:sp>
      <p:sp>
        <p:nvSpPr>
          <p:cNvPr id="12" name="Text 10"/>
          <p:cNvSpPr/>
          <p:nvPr/>
        </p:nvSpPr>
        <p:spPr>
          <a:xfrm>
            <a:off x="868680" y="3246120"/>
            <a:ext cx="4800600" cy="1143000"/>
          </a:xfrm>
          <a:prstGeom prst="rect">
            <a:avLst/>
          </a:prstGeom>
          <a:noFill/>
          <a:ln/>
        </p:spPr>
        <p:txBody>
          <a:bodyPr wrap="square" lIns="0" tIns="0" rIns="0" bIns="0" rtlCol="0" anchor="ctr"/>
          <a:lstStyle/>
          <a:p>
            <a:pPr indent="0" marL="0">
              <a:buNone/>
            </a:pPr>
            <a:r>
              <a:rPr lang="en-US" sz="1950" dirty="0">
                <a:solidFill>
                  <a:srgbClr val="25252B"/>
                </a:solidFill>
                <a:latin typeface="Arial" pitchFamily="34" charset="0"/>
                <a:ea typeface="Arial" pitchFamily="34" charset="-122"/>
                <a:cs typeface="Arial" pitchFamily="34" charset="-120"/>
              </a:rPr>
              <a:t>Witnesses: Uta or Tim.</a:t>
            </a:r>
            <a:endParaRPr lang="en-US" sz="1950" dirty="0"/>
          </a:p>
          <a:p>
            <a:pPr indent="0" marL="0">
              <a:buNone/>
            </a:pPr>
            <a:r>
              <a:rPr lang="en-US" sz="1950" dirty="0">
                <a:solidFill>
                  <a:srgbClr val="25252B"/>
                </a:solidFill>
                <a:latin typeface="Arial" pitchFamily="34" charset="0"/>
                <a:ea typeface="Arial" pitchFamily="34" charset="-122"/>
                <a:cs typeface="Arial" pitchFamily="34" charset="-120"/>
              </a:rPr>
              <a:t>For each station z, a suitable chosen item i can depend on z.</a:t>
            </a:r>
            <a:endParaRPr lang="en-US" sz="1950" dirty="0"/>
          </a:p>
        </p:txBody>
      </p:sp>
      <p:sp>
        <p:nvSpPr>
          <p:cNvPr id="13" name="Text 11"/>
          <p:cNvSpPr/>
          <p:nvPr/>
        </p:nvSpPr>
        <p:spPr>
          <a:xfrm>
            <a:off x="6172200" y="1170432"/>
            <a:ext cx="5394960" cy="50292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950" b="1" dirty="0">
                <a:solidFill>
                  <a:srgbClr val="25252B"/>
                </a:solidFill>
                <a:latin typeface="Arial" pitchFamily="34" charset="0"/>
                <a:ea typeface="Arial" pitchFamily="34" charset="-122"/>
                <a:cs typeface="Arial" pitchFamily="34" charset="-120"/>
              </a:rPr>
              <a:t>D. Every student chose an item from every station.</a:t>
            </a:r>
            <a:endParaRPr lang="en-US" sz="1950" dirty="0"/>
          </a:p>
        </p:txBody>
      </p:sp>
      <p:sp>
        <p:nvSpPr>
          <p:cNvPr id="14" name="Text 12"/>
          <p:cNvSpPr/>
          <p:nvPr/>
        </p:nvSpPr>
        <p:spPr>
          <a:xfrm>
            <a:off x="6355080" y="1847088"/>
            <a:ext cx="5029200" cy="685800"/>
          </a:xfrm>
          <a:prstGeom prst="rect">
            <a:avLst/>
          </a:prstGeom>
          <a:noFill/>
          <a:ln/>
        </p:spPr>
        <p:txBody>
          <a:bodyPr wrap="square" lIns="254" tIns="254" rIns="254" bIns="254" rtlCol="0" anchor="ctr">
            <a:normAutofit/>
          </a:bodyPr>
          <a:lstStyle/>
          <a:p>
            <a:pPr algn="ctr" indent="0" marL="0">
              <a:buNone/>
            </a:pPr>
            <a:r>
              <a:rPr lang="en-US" sz="2300" dirty="0">
                <a:solidFill>
                  <a:srgbClr val="25252B"/>
                </a:solidFill>
                <a:latin typeface="Cambria Math" pitchFamily="34" charset="0"/>
                <a:ea typeface="Cambria Math" pitchFamily="34" charset="-122"/>
                <a:cs typeface="Cambria Math" pitchFamily="34" charset="-120"/>
              </a:rPr>
              <a:t>∀s ∀z ∃i [ItemIn(i,z) ∧ Chosen(s,i)]</a:t>
            </a:r>
            <a:endParaRPr lang="en-US" sz="2300" dirty="0"/>
          </a:p>
        </p:txBody>
      </p:sp>
      <p:sp>
        <p:nvSpPr>
          <p:cNvPr id="15" name="Text 13"/>
          <p:cNvSpPr/>
          <p:nvPr/>
        </p:nvSpPr>
        <p:spPr>
          <a:xfrm>
            <a:off x="6400800" y="2743200"/>
            <a:ext cx="1097280" cy="365760"/>
          </a:xfrm>
          <a:prstGeom prst="rect">
            <a:avLst/>
          </a:prstGeom>
          <a:noFill/>
          <a:ln/>
        </p:spPr>
        <p:txBody>
          <a:bodyPr wrap="square" lIns="0" tIns="0" rIns="0" bIns="0" rtlCol="0" anchor="ctr"/>
          <a:lstStyle/>
          <a:p>
            <a:pPr indent="0" marL="0">
              <a:buNone/>
            </a:pPr>
            <a:r>
              <a:rPr lang="en-US" sz="2100" b="1" dirty="0">
                <a:solidFill>
                  <a:srgbClr val="B84A4A"/>
                </a:solidFill>
                <a:latin typeface="Arial" pitchFamily="34" charset="0"/>
                <a:ea typeface="Arial" pitchFamily="34" charset="-122"/>
                <a:cs typeface="Arial" pitchFamily="34" charset="-120"/>
              </a:rPr>
              <a:t>FALSE</a:t>
            </a:r>
            <a:endParaRPr lang="en-US" sz="2100" dirty="0"/>
          </a:p>
        </p:txBody>
      </p:sp>
      <p:sp>
        <p:nvSpPr>
          <p:cNvPr id="16" name="Text 14"/>
          <p:cNvSpPr/>
          <p:nvPr/>
        </p:nvSpPr>
        <p:spPr>
          <a:xfrm>
            <a:off x="6400800" y="3246120"/>
            <a:ext cx="4663440" cy="1143000"/>
          </a:xfrm>
          <a:prstGeom prst="rect">
            <a:avLst/>
          </a:prstGeom>
          <a:noFill/>
          <a:ln/>
        </p:spPr>
        <p:txBody>
          <a:bodyPr wrap="square" lIns="0" tIns="0" rIns="0" bIns="0" rtlCol="0" anchor="ctr"/>
          <a:lstStyle/>
          <a:p>
            <a:pPr indent="0" marL="0">
              <a:buNone/>
            </a:pPr>
            <a:r>
              <a:rPr lang="en-US" sz="1950" dirty="0">
                <a:solidFill>
                  <a:srgbClr val="25252B"/>
                </a:solidFill>
                <a:latin typeface="Arial" pitchFamily="34" charset="0"/>
                <a:ea typeface="Arial" pitchFamily="34" charset="-122"/>
                <a:cs typeface="Arial" pitchFamily="34" charset="-120"/>
              </a:rPr>
              <a:t>Counterexample: student Yuen and the salad station.</a:t>
            </a:r>
            <a:endParaRPr lang="en-US" sz="1950" dirty="0"/>
          </a:p>
          <a:p>
            <a:pPr indent="0" marL="0">
              <a:buNone/>
            </a:pPr>
            <a:r>
              <a:rPr lang="en-US" sz="1950" dirty="0">
                <a:solidFill>
                  <a:srgbClr val="25252B"/>
                </a:solidFill>
                <a:latin typeface="Arial" pitchFamily="34" charset="0"/>
                <a:ea typeface="Arial" pitchFamily="34" charset="-122"/>
                <a:cs typeface="Arial" pitchFamily="34" charset="-120"/>
              </a:rPr>
              <a:t>No salad item i satisfies Chosen(Yuen,i).</a:t>
            </a:r>
            <a:endParaRPr lang="en-US" sz="1950" dirty="0"/>
          </a:p>
        </p:txBody>
      </p:sp>
      <p:sp>
        <p:nvSpPr>
          <p:cNvPr id="17" name="Text 15"/>
          <p:cNvSpPr/>
          <p:nvPr/>
        </p:nvSpPr>
        <p:spPr>
          <a:xfrm>
            <a:off x="1325880" y="5257800"/>
            <a:ext cx="9509760" cy="62179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Nested quantifiers encode a sequence of dependent choices.</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FORMALIZATION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Tarski world: a finite geometric model</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16</a:t>
            </a:r>
            <a:endParaRPr lang="en-US" sz="1000" dirty="0"/>
          </a:p>
        </p:txBody>
      </p:sp>
      <p:sp>
        <p:nvSpPr>
          <p:cNvPr id="9" name="Shape 7"/>
          <p:cNvSpPr/>
          <p:nvPr/>
        </p:nvSpPr>
        <p:spPr>
          <a:xfrm>
            <a:off x="868680" y="1417320"/>
            <a:ext cx="4114800" cy="0"/>
          </a:xfrm>
          <a:prstGeom prst="line">
            <a:avLst/>
          </a:prstGeom>
          <a:noFill/>
          <a:ln w="10160">
            <a:solidFill>
              <a:srgbClr val="A9ADB3"/>
            </a:solidFill>
            <a:prstDash val="solid"/>
          </a:ln>
        </p:spPr>
      </p:sp>
      <p:sp>
        <p:nvSpPr>
          <p:cNvPr id="10" name="Shape 8"/>
          <p:cNvSpPr/>
          <p:nvPr/>
        </p:nvSpPr>
        <p:spPr>
          <a:xfrm>
            <a:off x="868680" y="2240280"/>
            <a:ext cx="4114800" cy="0"/>
          </a:xfrm>
          <a:prstGeom prst="line">
            <a:avLst/>
          </a:prstGeom>
          <a:noFill/>
          <a:ln w="10160">
            <a:solidFill>
              <a:srgbClr val="A9ADB3"/>
            </a:solidFill>
            <a:prstDash val="solid"/>
          </a:ln>
        </p:spPr>
      </p:sp>
      <p:sp>
        <p:nvSpPr>
          <p:cNvPr id="11" name="Shape 9"/>
          <p:cNvSpPr/>
          <p:nvPr/>
        </p:nvSpPr>
        <p:spPr>
          <a:xfrm>
            <a:off x="868680" y="3063240"/>
            <a:ext cx="4114800" cy="0"/>
          </a:xfrm>
          <a:prstGeom prst="line">
            <a:avLst/>
          </a:prstGeom>
          <a:noFill/>
          <a:ln w="10160">
            <a:solidFill>
              <a:srgbClr val="A9ADB3"/>
            </a:solidFill>
            <a:prstDash val="solid"/>
          </a:ln>
        </p:spPr>
      </p:sp>
      <p:sp>
        <p:nvSpPr>
          <p:cNvPr id="12" name="Shape 10"/>
          <p:cNvSpPr/>
          <p:nvPr/>
        </p:nvSpPr>
        <p:spPr>
          <a:xfrm>
            <a:off x="868680" y="3886200"/>
            <a:ext cx="4114800" cy="0"/>
          </a:xfrm>
          <a:prstGeom prst="line">
            <a:avLst/>
          </a:prstGeom>
          <a:noFill/>
          <a:ln w="10160">
            <a:solidFill>
              <a:srgbClr val="A9ADB3"/>
            </a:solidFill>
            <a:prstDash val="solid"/>
          </a:ln>
        </p:spPr>
      </p:sp>
      <p:sp>
        <p:nvSpPr>
          <p:cNvPr id="13" name="Shape 11"/>
          <p:cNvSpPr/>
          <p:nvPr/>
        </p:nvSpPr>
        <p:spPr>
          <a:xfrm>
            <a:off x="868680" y="4709160"/>
            <a:ext cx="4114800" cy="0"/>
          </a:xfrm>
          <a:prstGeom prst="line">
            <a:avLst/>
          </a:prstGeom>
          <a:noFill/>
          <a:ln w="10160">
            <a:solidFill>
              <a:srgbClr val="A9ADB3"/>
            </a:solidFill>
            <a:prstDash val="solid"/>
          </a:ln>
        </p:spPr>
      </p:sp>
      <p:sp>
        <p:nvSpPr>
          <p:cNvPr id="14" name="Shape 12"/>
          <p:cNvSpPr/>
          <p:nvPr/>
        </p:nvSpPr>
        <p:spPr>
          <a:xfrm>
            <a:off x="868680" y="5532120"/>
            <a:ext cx="4114800" cy="0"/>
          </a:xfrm>
          <a:prstGeom prst="line">
            <a:avLst/>
          </a:prstGeom>
          <a:noFill/>
          <a:ln w="10160">
            <a:solidFill>
              <a:srgbClr val="A9ADB3"/>
            </a:solidFill>
            <a:prstDash val="solid"/>
          </a:ln>
        </p:spPr>
      </p:sp>
      <p:sp>
        <p:nvSpPr>
          <p:cNvPr id="15" name="Shape 13"/>
          <p:cNvSpPr/>
          <p:nvPr/>
        </p:nvSpPr>
        <p:spPr>
          <a:xfrm>
            <a:off x="868680" y="1417320"/>
            <a:ext cx="0" cy="4114800"/>
          </a:xfrm>
          <a:prstGeom prst="line">
            <a:avLst/>
          </a:prstGeom>
          <a:noFill/>
          <a:ln w="10160">
            <a:solidFill>
              <a:srgbClr val="A9ADB3"/>
            </a:solidFill>
            <a:prstDash val="solid"/>
          </a:ln>
        </p:spPr>
      </p:sp>
      <p:sp>
        <p:nvSpPr>
          <p:cNvPr id="16" name="Shape 14"/>
          <p:cNvSpPr/>
          <p:nvPr/>
        </p:nvSpPr>
        <p:spPr>
          <a:xfrm>
            <a:off x="1691640" y="1417320"/>
            <a:ext cx="0" cy="4114800"/>
          </a:xfrm>
          <a:prstGeom prst="line">
            <a:avLst/>
          </a:prstGeom>
          <a:noFill/>
          <a:ln w="10160">
            <a:solidFill>
              <a:srgbClr val="A9ADB3"/>
            </a:solidFill>
            <a:prstDash val="solid"/>
          </a:ln>
        </p:spPr>
      </p:sp>
      <p:sp>
        <p:nvSpPr>
          <p:cNvPr id="17" name="Shape 15"/>
          <p:cNvSpPr/>
          <p:nvPr/>
        </p:nvSpPr>
        <p:spPr>
          <a:xfrm>
            <a:off x="2514600" y="1417320"/>
            <a:ext cx="0" cy="4114800"/>
          </a:xfrm>
          <a:prstGeom prst="line">
            <a:avLst/>
          </a:prstGeom>
          <a:noFill/>
          <a:ln w="10160">
            <a:solidFill>
              <a:srgbClr val="A9ADB3"/>
            </a:solidFill>
            <a:prstDash val="solid"/>
          </a:ln>
        </p:spPr>
      </p:sp>
      <p:sp>
        <p:nvSpPr>
          <p:cNvPr id="18" name="Shape 16"/>
          <p:cNvSpPr/>
          <p:nvPr/>
        </p:nvSpPr>
        <p:spPr>
          <a:xfrm>
            <a:off x="3337560" y="1417320"/>
            <a:ext cx="0" cy="4114800"/>
          </a:xfrm>
          <a:prstGeom prst="line">
            <a:avLst/>
          </a:prstGeom>
          <a:noFill/>
          <a:ln w="10160">
            <a:solidFill>
              <a:srgbClr val="A9ADB3"/>
            </a:solidFill>
            <a:prstDash val="solid"/>
          </a:ln>
        </p:spPr>
      </p:sp>
      <p:sp>
        <p:nvSpPr>
          <p:cNvPr id="19" name="Shape 17"/>
          <p:cNvSpPr/>
          <p:nvPr/>
        </p:nvSpPr>
        <p:spPr>
          <a:xfrm>
            <a:off x="4160520" y="1417320"/>
            <a:ext cx="0" cy="4114800"/>
          </a:xfrm>
          <a:prstGeom prst="line">
            <a:avLst/>
          </a:prstGeom>
          <a:noFill/>
          <a:ln w="10160">
            <a:solidFill>
              <a:srgbClr val="A9ADB3"/>
            </a:solidFill>
            <a:prstDash val="solid"/>
          </a:ln>
        </p:spPr>
      </p:sp>
      <p:sp>
        <p:nvSpPr>
          <p:cNvPr id="20" name="Shape 18"/>
          <p:cNvSpPr/>
          <p:nvPr/>
        </p:nvSpPr>
        <p:spPr>
          <a:xfrm>
            <a:off x="4983480" y="1417320"/>
            <a:ext cx="0" cy="4114800"/>
          </a:xfrm>
          <a:prstGeom prst="line">
            <a:avLst/>
          </a:prstGeom>
          <a:noFill/>
          <a:ln w="10160">
            <a:solidFill>
              <a:srgbClr val="A9ADB3"/>
            </a:solidFill>
            <a:prstDash val="solid"/>
          </a:ln>
        </p:spPr>
      </p:sp>
      <p:sp>
        <p:nvSpPr>
          <p:cNvPr id="21" name="Text 19"/>
          <p:cNvSpPr/>
          <p:nvPr/>
        </p:nvSpPr>
        <p:spPr>
          <a:xfrm>
            <a:off x="2660904" y="1545336"/>
            <a:ext cx="530352" cy="566928"/>
          </a:xfrm>
          <a:prstGeom prst="ellipse">
            <a:avLst/>
          </a:prstGeom>
          <a:solidFill>
            <a:srgbClr val="2F66B1"/>
          </a:solidFill>
          <a:ln>
            <a:solidFill>
              <a:srgbClr val="2F66B1"/>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22" name="Text 20"/>
          <p:cNvSpPr/>
          <p:nvPr/>
        </p:nvSpPr>
        <p:spPr>
          <a:xfrm>
            <a:off x="1014984" y="2368296"/>
            <a:ext cx="530352" cy="566928"/>
          </a:xfrm>
          <a:prstGeom prst="ellipse">
            <a:avLst/>
          </a:prstGeom>
          <a:solidFill>
            <a:srgbClr val="B8BBC0"/>
          </a:solidFill>
          <a:ln>
            <a:solidFill>
              <a:srgbClr val="B8BBC0"/>
            </a:solidFill>
          </a:ln>
        </p:spPr>
        <p:txBody>
          <a:bodyPr wrap="square" lIns="0" tIns="0" rIns="0" bIns="0" rtlCol="0" anchor="ctr"/>
          <a:lstStyle/>
          <a:p>
            <a:pPr algn="ctr" indent="0" marL="0">
              <a:buNone/>
            </a:pPr>
            <a:r>
              <a:rPr lang="en-US" sz="1400" b="1" dirty="0">
                <a:solidFill>
                  <a:srgbClr val="222222"/>
                </a:solidFill>
                <a:latin typeface="Arial" pitchFamily="34" charset="0"/>
                <a:ea typeface="Arial" pitchFamily="34" charset="-122"/>
                <a:cs typeface="Arial" pitchFamily="34" charset="-120"/>
              </a:rPr>
              <a:t>b</a:t>
            </a:r>
            <a:endParaRPr lang="en-US" sz="1400" dirty="0"/>
          </a:p>
        </p:txBody>
      </p:sp>
      <p:sp>
        <p:nvSpPr>
          <p:cNvPr id="23" name="Text 21"/>
          <p:cNvSpPr/>
          <p:nvPr/>
        </p:nvSpPr>
        <p:spPr>
          <a:xfrm>
            <a:off x="1837944" y="2368296"/>
            <a:ext cx="530352" cy="566928"/>
          </a:xfrm>
          <a:prstGeom prst="ellipse">
            <a:avLst/>
          </a:prstGeom>
          <a:solidFill>
            <a:srgbClr val="2F66B1"/>
          </a:solidFill>
          <a:ln>
            <a:solidFill>
              <a:srgbClr val="2F66B1"/>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24" name="Text 22"/>
          <p:cNvSpPr/>
          <p:nvPr/>
        </p:nvSpPr>
        <p:spPr>
          <a:xfrm>
            <a:off x="3483864" y="2368296"/>
            <a:ext cx="530352" cy="566928"/>
          </a:xfrm>
          <a:prstGeom prst="triangle">
            <a:avLst/>
          </a:prstGeom>
          <a:solidFill>
            <a:srgbClr val="2B2B2B"/>
          </a:solidFill>
          <a:ln>
            <a:solidFill>
              <a:srgbClr val="2B2B2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25" name="Text 23"/>
          <p:cNvSpPr/>
          <p:nvPr/>
        </p:nvSpPr>
        <p:spPr>
          <a:xfrm>
            <a:off x="1014984" y="3191256"/>
            <a:ext cx="530352" cy="566928"/>
          </a:xfrm>
          <a:prstGeom prst="rect">
            <a:avLst/>
          </a:prstGeom>
          <a:solidFill>
            <a:srgbClr val="2B2B2B"/>
          </a:solidFill>
          <a:ln>
            <a:solidFill>
              <a:srgbClr val="2B2B2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26" name="Text 24"/>
          <p:cNvSpPr/>
          <p:nvPr/>
        </p:nvSpPr>
        <p:spPr>
          <a:xfrm>
            <a:off x="2660904" y="3191256"/>
            <a:ext cx="530352" cy="566928"/>
          </a:xfrm>
          <a:prstGeom prst="triangle">
            <a:avLst/>
          </a:prstGeom>
          <a:solidFill>
            <a:srgbClr val="B8BBC0"/>
          </a:solidFill>
          <a:ln>
            <a:solidFill>
              <a:srgbClr val="B8BBC0"/>
            </a:solidFill>
          </a:ln>
        </p:spPr>
        <p:txBody>
          <a:bodyPr wrap="square" lIns="0" tIns="0" rIns="0" bIns="0" rtlCol="0" anchor="ctr"/>
          <a:lstStyle/>
          <a:p>
            <a:pPr algn="ctr" indent="0" marL="0">
              <a:buNone/>
            </a:pPr>
            <a:r>
              <a:rPr lang="en-US" sz="1400" b="1" dirty="0">
                <a:solidFill>
                  <a:srgbClr val="222222"/>
                </a:solidFill>
                <a:latin typeface="Arial" pitchFamily="34" charset="0"/>
                <a:ea typeface="Arial" pitchFamily="34" charset="-122"/>
                <a:cs typeface="Arial" pitchFamily="34" charset="-120"/>
              </a:rPr>
              <a:t>f</a:t>
            </a:r>
            <a:endParaRPr lang="en-US" sz="1400" dirty="0"/>
          </a:p>
        </p:txBody>
      </p:sp>
      <p:sp>
        <p:nvSpPr>
          <p:cNvPr id="27" name="Text 25"/>
          <p:cNvSpPr/>
          <p:nvPr/>
        </p:nvSpPr>
        <p:spPr>
          <a:xfrm>
            <a:off x="4306824" y="3191256"/>
            <a:ext cx="530352" cy="566928"/>
          </a:xfrm>
          <a:prstGeom prst="rect">
            <a:avLst/>
          </a:prstGeom>
          <a:solidFill>
            <a:srgbClr val="B8BBC0"/>
          </a:solidFill>
          <a:ln>
            <a:solidFill>
              <a:srgbClr val="B8BBC0"/>
            </a:solidFill>
          </a:ln>
        </p:spPr>
        <p:txBody>
          <a:bodyPr wrap="square" lIns="0" tIns="0" rIns="0" bIns="0" rtlCol="0" anchor="ctr"/>
          <a:lstStyle/>
          <a:p>
            <a:pPr algn="ctr" indent="0" marL="0">
              <a:buNone/>
            </a:pPr>
            <a:r>
              <a:rPr lang="en-US" sz="1400" b="1" dirty="0">
                <a:solidFill>
                  <a:srgbClr val="222222"/>
                </a:solidFill>
                <a:latin typeface="Arial" pitchFamily="34" charset="0"/>
                <a:ea typeface="Arial" pitchFamily="34" charset="-122"/>
                <a:cs typeface="Arial" pitchFamily="34" charset="-120"/>
              </a:rPr>
              <a:t>g</a:t>
            </a:r>
            <a:endParaRPr lang="en-US" sz="1400" dirty="0"/>
          </a:p>
        </p:txBody>
      </p:sp>
      <p:sp>
        <p:nvSpPr>
          <p:cNvPr id="28" name="Text 26"/>
          <p:cNvSpPr/>
          <p:nvPr/>
        </p:nvSpPr>
        <p:spPr>
          <a:xfrm>
            <a:off x="1837944" y="4014216"/>
            <a:ext cx="530352" cy="566928"/>
          </a:xfrm>
          <a:prstGeom prst="rect">
            <a:avLst/>
          </a:prstGeom>
          <a:solidFill>
            <a:srgbClr val="B8BBC0"/>
          </a:solidFill>
          <a:ln>
            <a:solidFill>
              <a:srgbClr val="B8BBC0"/>
            </a:solidFill>
          </a:ln>
        </p:spPr>
        <p:txBody>
          <a:bodyPr wrap="square" lIns="0" tIns="0" rIns="0" bIns="0" rtlCol="0" anchor="ctr"/>
          <a:lstStyle/>
          <a:p>
            <a:pPr algn="ctr" indent="0" marL="0">
              <a:buNone/>
            </a:pPr>
            <a:r>
              <a:rPr lang="en-US" sz="1400" b="1" dirty="0">
                <a:solidFill>
                  <a:srgbClr val="222222"/>
                </a:solidFill>
                <a:latin typeface="Arial" pitchFamily="34" charset="0"/>
                <a:ea typeface="Arial" pitchFamily="34" charset="-122"/>
                <a:cs typeface="Arial" pitchFamily="34" charset="-120"/>
              </a:rPr>
              <a:t>h</a:t>
            </a:r>
            <a:endParaRPr lang="en-US" sz="1400" dirty="0"/>
          </a:p>
        </p:txBody>
      </p:sp>
      <p:sp>
        <p:nvSpPr>
          <p:cNvPr id="29" name="Text 27"/>
          <p:cNvSpPr/>
          <p:nvPr/>
        </p:nvSpPr>
        <p:spPr>
          <a:xfrm>
            <a:off x="3483864" y="4837176"/>
            <a:ext cx="530352" cy="566928"/>
          </a:xfrm>
          <a:prstGeom prst="triangle">
            <a:avLst/>
          </a:prstGeom>
          <a:solidFill>
            <a:srgbClr val="B8BBC0"/>
          </a:solidFill>
          <a:ln>
            <a:solidFill>
              <a:srgbClr val="B8BBC0"/>
            </a:solidFill>
          </a:ln>
        </p:spPr>
        <p:txBody>
          <a:bodyPr wrap="square" lIns="0" tIns="0" rIns="0" bIns="0" rtlCol="0" anchor="ctr"/>
          <a:lstStyle/>
          <a:p>
            <a:pPr algn="ctr" indent="0" marL="0">
              <a:buNone/>
            </a:pPr>
            <a:r>
              <a:rPr lang="en-US" sz="1400" b="1" dirty="0">
                <a:solidFill>
                  <a:srgbClr val="222222"/>
                </a:solidFill>
                <a:latin typeface="Arial" pitchFamily="34" charset="0"/>
                <a:ea typeface="Arial" pitchFamily="34" charset="-122"/>
                <a:cs typeface="Arial" pitchFamily="34" charset="-120"/>
              </a:rPr>
              <a:t>i</a:t>
            </a:r>
            <a:endParaRPr lang="en-US" sz="1400" dirty="0"/>
          </a:p>
        </p:txBody>
      </p:sp>
      <p:sp>
        <p:nvSpPr>
          <p:cNvPr id="30" name="Text 28"/>
          <p:cNvSpPr/>
          <p:nvPr/>
        </p:nvSpPr>
        <p:spPr>
          <a:xfrm>
            <a:off x="4306824" y="4837176"/>
            <a:ext cx="530352" cy="566928"/>
          </a:xfrm>
          <a:prstGeom prst="rect">
            <a:avLst/>
          </a:prstGeom>
          <a:solidFill>
            <a:srgbClr val="2F66B1"/>
          </a:solidFill>
          <a:ln>
            <a:solidFill>
              <a:srgbClr val="2F66B1"/>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j</a:t>
            </a:r>
            <a:endParaRPr lang="en-US" sz="1400" dirty="0"/>
          </a:p>
        </p:txBody>
      </p:sp>
      <p:sp>
        <p:nvSpPr>
          <p:cNvPr id="31" name="Text 29"/>
          <p:cNvSpPr/>
          <p:nvPr/>
        </p:nvSpPr>
        <p:spPr>
          <a:xfrm>
            <a:off x="5349240" y="1298448"/>
            <a:ext cx="201168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Common domain</a:t>
            </a:r>
            <a:endParaRPr lang="en-US" sz="1900" dirty="0"/>
          </a:p>
        </p:txBody>
      </p:sp>
      <p:sp>
        <p:nvSpPr>
          <p:cNvPr id="32" name="Text 30"/>
          <p:cNvSpPr/>
          <p:nvPr/>
        </p:nvSpPr>
        <p:spPr>
          <a:xfrm>
            <a:off x="5413248" y="1920240"/>
            <a:ext cx="1920240" cy="621792"/>
          </a:xfrm>
          <a:prstGeom prst="rect">
            <a:avLst/>
          </a:prstGeom>
          <a:noFill/>
          <a:ln/>
        </p:spPr>
        <p:txBody>
          <a:bodyPr wrap="square" lIns="0" tIns="0" rIns="0" bIns="0" rtlCol="0" anchor="ctr">
            <a:normAutofit/>
          </a:bodyPr>
          <a:lstStyle/>
          <a:p>
            <a:pPr algn="ctr" indent="0" marL="0">
              <a:buNone/>
            </a:pPr>
            <a:r>
              <a:rPr lang="en-US" sz="1750" dirty="0">
                <a:solidFill>
                  <a:srgbClr val="25252B"/>
                </a:solidFill>
                <a:latin typeface="Arial" pitchFamily="34" charset="0"/>
                <a:ea typeface="Arial" pitchFamily="34" charset="-122"/>
                <a:cs typeface="Arial" pitchFamily="34" charset="-120"/>
              </a:rPr>
              <a:t>All ten objects a-j in the grid.</a:t>
            </a:r>
            <a:endParaRPr lang="en-US" sz="1750" dirty="0"/>
          </a:p>
        </p:txBody>
      </p:sp>
      <p:sp>
        <p:nvSpPr>
          <p:cNvPr id="33" name="Text 31"/>
          <p:cNvSpPr/>
          <p:nvPr/>
        </p:nvSpPr>
        <p:spPr>
          <a:xfrm>
            <a:off x="7635240" y="1298448"/>
            <a:ext cx="3566160" cy="43891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Unary predicates</a:t>
            </a:r>
            <a:endParaRPr lang="en-US" sz="1900" dirty="0"/>
          </a:p>
        </p:txBody>
      </p:sp>
      <p:sp>
        <p:nvSpPr>
          <p:cNvPr id="34" name="Text 32"/>
          <p:cNvSpPr/>
          <p:nvPr/>
        </p:nvSpPr>
        <p:spPr>
          <a:xfrm>
            <a:off x="7818120" y="1874520"/>
            <a:ext cx="3200400" cy="914400"/>
          </a:xfrm>
          <a:prstGeom prst="rect">
            <a:avLst/>
          </a:prstGeom>
          <a:noFill/>
          <a:ln/>
        </p:spPr>
        <p:txBody>
          <a:bodyPr wrap="square" lIns="0" tIns="0" rIns="0" bIns="0" rtlCol="0" anchor="ctr">
            <a:normAutofit/>
          </a:bodyPr>
          <a:lstStyle/>
          <a:p>
            <a:pPr algn="ctr" indent="0" marL="0">
              <a:buNone/>
            </a:pPr>
            <a:r>
              <a:rPr lang="en-US" sz="2000" dirty="0">
                <a:solidFill>
                  <a:srgbClr val="25252B"/>
                </a:solidFill>
                <a:latin typeface="Cambria Math" pitchFamily="34" charset="0"/>
                <a:ea typeface="Cambria Math" pitchFamily="34" charset="-122"/>
                <a:cs typeface="Cambria Math" pitchFamily="34" charset="-120"/>
              </a:rPr>
              <a:t>Circle(x), Square(x), Triangle(x)</a:t>
            </a:r>
            <a:endParaRPr lang="en-US" sz="2000" dirty="0"/>
          </a:p>
          <a:p>
            <a:pPr algn="ctr" indent="0" marL="0">
              <a:buNone/>
            </a:pPr>
            <a:r>
              <a:rPr lang="en-US" sz="2000" dirty="0">
                <a:solidFill>
                  <a:srgbClr val="25252B"/>
                </a:solidFill>
                <a:latin typeface="Cambria Math" pitchFamily="34" charset="0"/>
                <a:ea typeface="Cambria Math" pitchFamily="34" charset="-122"/>
                <a:cs typeface="Cambria Math" pitchFamily="34" charset="-120"/>
              </a:rPr>
              <a:t>Blue(x), Gray(x), Black(x)</a:t>
            </a:r>
            <a:endParaRPr lang="en-US" sz="2000" dirty="0"/>
          </a:p>
        </p:txBody>
      </p:sp>
      <p:sp>
        <p:nvSpPr>
          <p:cNvPr id="35" name="Text 33"/>
          <p:cNvSpPr/>
          <p:nvPr/>
        </p:nvSpPr>
        <p:spPr>
          <a:xfrm>
            <a:off x="5349240" y="3090672"/>
            <a:ext cx="5852160" cy="43891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Binary predicates</a:t>
            </a:r>
            <a:endParaRPr lang="en-US" sz="1900" dirty="0"/>
          </a:p>
        </p:txBody>
      </p:sp>
      <p:sp>
        <p:nvSpPr>
          <p:cNvPr id="36" name="Text 34"/>
          <p:cNvSpPr/>
          <p:nvPr/>
        </p:nvSpPr>
        <p:spPr>
          <a:xfrm>
            <a:off x="5486400" y="3794760"/>
            <a:ext cx="5577840" cy="502920"/>
          </a:xfrm>
          <a:prstGeom prst="rect">
            <a:avLst/>
          </a:prstGeom>
          <a:noFill/>
          <a:ln/>
        </p:spPr>
        <p:txBody>
          <a:bodyPr wrap="square" lIns="0" tIns="0" rIns="0" bIns="0" rtlCol="0" anchor="ctr">
            <a:normAutofit/>
          </a:bodyPr>
          <a:lstStyle/>
          <a:p>
            <a:pPr algn="ctr" indent="0" marL="0">
              <a:buNone/>
            </a:pPr>
            <a:r>
              <a:rPr lang="en-US" sz="2100" dirty="0">
                <a:solidFill>
                  <a:srgbClr val="25252B"/>
                </a:solidFill>
                <a:latin typeface="Cambria Math" pitchFamily="34" charset="0"/>
                <a:ea typeface="Cambria Math" pitchFamily="34" charset="-122"/>
                <a:cs typeface="Cambria Math" pitchFamily="34" charset="-120"/>
              </a:rPr>
              <a:t>Above(x,y)    RightOf(x,y)    SameColor(x,y)</a:t>
            </a:r>
            <a:endParaRPr lang="en-US" sz="2100" dirty="0"/>
          </a:p>
        </p:txBody>
      </p:sp>
      <p:sp>
        <p:nvSpPr>
          <p:cNvPr id="37" name="Text 35"/>
          <p:cNvSpPr/>
          <p:nvPr/>
        </p:nvSpPr>
        <p:spPr>
          <a:xfrm>
            <a:off x="5257800" y="4736592"/>
            <a:ext cx="6035040" cy="73152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Read a formula by tracing its domain restrictions, quantifier order, and spatial relation.</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FORMALIZATION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Formalizing statements in Tarski world</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1298448"/>
          <a:ext cx="10881360" cy="3566160"/>
        </p:xfrm>
        <a:graphic>
          <a:graphicData uri="http://schemas.openxmlformats.org/drawingml/2006/table">
            <a:tbl>
              <a:tblPr/>
              <a:tblGrid>
                <a:gridCol w="3657600"/>
                <a:gridCol w="6172200"/>
                <a:gridCol w="1051560"/>
              </a:tblGrid>
              <a:tr h="694944">
                <a:tc>
                  <a:txBody>
                    <a:bodyPr/>
                    <a:lstStyle/>
                    <a:p>
                      <a:pPr algn="ctr" indent="0" marL="0">
                        <a:buNone/>
                      </a:pPr>
                      <a:r>
                        <a:rPr lang="en-US" sz="1750" b="1" dirty="0">
                          <a:solidFill>
                            <a:srgbClr val="FFFFFF"/>
                          </a:solidFill>
                          <a:latin typeface="Arial" pitchFamily="34" charset="0"/>
                          <a:ea typeface="Arial" pitchFamily="34" charset="-122"/>
                          <a:cs typeface="Arial" pitchFamily="34" charset="-120"/>
                        </a:rPr>
                        <a:t>English statement</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750" b="1" dirty="0">
                          <a:solidFill>
                            <a:srgbClr val="FFFFFF"/>
                          </a:solidFill>
                          <a:latin typeface="Arial" pitchFamily="34" charset="0"/>
                          <a:ea typeface="Arial" pitchFamily="34" charset="-122"/>
                          <a:cs typeface="Arial" pitchFamily="34" charset="-120"/>
                        </a:rPr>
                        <a:t>Formal statement</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750" b="1" dirty="0">
                          <a:solidFill>
                            <a:srgbClr val="FFFFFF"/>
                          </a:solidFill>
                          <a:latin typeface="Arial" pitchFamily="34" charset="0"/>
                          <a:ea typeface="Arial" pitchFamily="34" charset="-122"/>
                          <a:cs typeface="Arial" pitchFamily="34" charset="-120"/>
                        </a:rPr>
                        <a:t>Truth</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solidFill>
                      <a:srgbClr val="A52A75"/>
                    </a:solidFill>
                  </a:tcPr>
                </a:tc>
              </a:tr>
              <a:tr h="694944">
                <a:tc>
                  <a:txBody>
                    <a:bodyPr/>
                    <a:lstStyle/>
                    <a:p>
                      <a:pPr indent="0" marL="0">
                        <a:buNone/>
                      </a:pPr>
                      <a:r>
                        <a:rPr lang="en-US" sz="1750" dirty="0">
                          <a:solidFill>
                            <a:srgbClr val="25252B"/>
                          </a:solidFill>
                          <a:latin typeface="Arial" pitchFamily="34" charset="0"/>
                          <a:ea typeface="Arial" pitchFamily="34" charset="-122"/>
                          <a:cs typeface="Arial" pitchFamily="34" charset="-120"/>
                        </a:rPr>
                        <a:t>Every circle is above f.</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800" dirty="0">
                          <a:solidFill>
                            <a:srgbClr val="25252B"/>
                          </a:solidFill>
                          <a:latin typeface="Cambria Math" pitchFamily="34" charset="0"/>
                          <a:ea typeface="Cambria Math" pitchFamily="34" charset="-122"/>
                          <a:cs typeface="Cambria Math" pitchFamily="34" charset="-120"/>
                        </a:rPr>
                        <a:t>∀x(Circle(x) → Above(x,f))</a:t>
                      </a:r>
                      <a:endParaRPr lang="en-US" sz="1800" dirty="0">
                        <a:latin typeface="Cambria Math" charset="0"/>
                        <a:ea typeface="Cambria Math" charset="0"/>
                        <a:cs typeface="Cambria Math"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algn="ctr" indent="0" marL="0">
                        <a:buNone/>
                      </a:pPr>
                      <a:r>
                        <a:rPr lang="en-US" sz="1750" b="1" dirty="0">
                          <a:solidFill>
                            <a:srgbClr val="4B8B5B"/>
                          </a:solidFill>
                          <a:latin typeface="Arial" pitchFamily="34" charset="0"/>
                          <a:ea typeface="Arial" pitchFamily="34" charset="-122"/>
                          <a:cs typeface="Arial" pitchFamily="34" charset="-120"/>
                        </a:rPr>
                        <a:t>True</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94944">
                <a:tc>
                  <a:txBody>
                    <a:bodyPr/>
                    <a:lstStyle/>
                    <a:p>
                      <a:pPr indent="0" marL="0">
                        <a:buNone/>
                      </a:pPr>
                      <a:r>
                        <a:rPr lang="en-US" sz="1750" dirty="0">
                          <a:solidFill>
                            <a:srgbClr val="25252B"/>
                          </a:solidFill>
                          <a:latin typeface="Arial" pitchFamily="34" charset="0"/>
                          <a:ea typeface="Arial" pitchFamily="34" charset="-122"/>
                          <a:cs typeface="Arial" pitchFamily="34" charset="-120"/>
                        </a:rPr>
                        <a:t>There is a black square.</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800" dirty="0">
                          <a:solidFill>
                            <a:srgbClr val="25252B"/>
                          </a:solidFill>
                          <a:latin typeface="Cambria Math" pitchFamily="34" charset="0"/>
                          <a:ea typeface="Cambria Math" pitchFamily="34" charset="-122"/>
                          <a:cs typeface="Cambria Math" pitchFamily="34" charset="-120"/>
                        </a:rPr>
                        <a:t>∃x(Square(x) ∧ Black(x))</a:t>
                      </a:r>
                      <a:endParaRPr lang="en-US" sz="1800" dirty="0">
                        <a:latin typeface="Cambria Math" charset="0"/>
                        <a:ea typeface="Cambria Math" charset="0"/>
                        <a:cs typeface="Cambria Math"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algn="ctr" indent="0" marL="0">
                        <a:buNone/>
                      </a:pPr>
                      <a:r>
                        <a:rPr lang="en-US" sz="1750" b="1" dirty="0">
                          <a:solidFill>
                            <a:srgbClr val="4B8B5B"/>
                          </a:solidFill>
                          <a:latin typeface="Arial" pitchFamily="34" charset="0"/>
                          <a:ea typeface="Arial" pitchFamily="34" charset="-122"/>
                          <a:cs typeface="Arial" pitchFamily="34" charset="-120"/>
                        </a:rPr>
                        <a:t>True</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94944">
                <a:tc>
                  <a:txBody>
                    <a:bodyPr/>
                    <a:lstStyle/>
                    <a:p>
                      <a:pPr indent="0" marL="0">
                        <a:buNone/>
                      </a:pPr>
                      <a:r>
                        <a:rPr lang="en-US" sz="1750" dirty="0">
                          <a:solidFill>
                            <a:srgbClr val="25252B"/>
                          </a:solidFill>
                          <a:latin typeface="Arial" pitchFamily="34" charset="0"/>
                          <a:ea typeface="Arial" pitchFamily="34" charset="-122"/>
                          <a:cs typeface="Arial" pitchFamily="34" charset="-120"/>
                        </a:rPr>
                        <a:t>Every circle has a square of the same color.</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700" dirty="0">
                          <a:solidFill>
                            <a:srgbClr val="25252B"/>
                          </a:solidFill>
                          <a:latin typeface="Cambria Math" pitchFamily="34" charset="0"/>
                          <a:ea typeface="Cambria Math" pitchFamily="34" charset="-122"/>
                          <a:cs typeface="Cambria Math" pitchFamily="34" charset="-120"/>
                        </a:rPr>
                        <a:t>∀x(Circle(x) → ∃y(Square(y) ∧ SameColor(x,y)))</a:t>
                      </a:r>
                      <a:endParaRPr lang="en-US" sz="1700" dirty="0">
                        <a:latin typeface="Cambria Math" charset="0"/>
                        <a:ea typeface="Cambria Math" charset="0"/>
                        <a:cs typeface="Cambria Math"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algn="ctr" indent="0" marL="0">
                        <a:buNone/>
                      </a:pPr>
                      <a:r>
                        <a:rPr lang="en-US" sz="1750" b="1" dirty="0">
                          <a:solidFill>
                            <a:srgbClr val="4B8B5B"/>
                          </a:solidFill>
                          <a:latin typeface="Arial" pitchFamily="34" charset="0"/>
                          <a:ea typeface="Arial" pitchFamily="34" charset="-122"/>
                          <a:cs typeface="Arial" pitchFamily="34" charset="-120"/>
                        </a:rPr>
                        <a:t>True</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94944">
                <a:tc>
                  <a:txBody>
                    <a:bodyPr/>
                    <a:lstStyle/>
                    <a:p>
                      <a:pPr indent="0" marL="0">
                        <a:buNone/>
                      </a:pPr>
                      <a:r>
                        <a:rPr lang="en-US" sz="1750" dirty="0">
                          <a:solidFill>
                            <a:srgbClr val="25252B"/>
                          </a:solidFill>
                          <a:latin typeface="Arial" pitchFamily="34" charset="0"/>
                          <a:ea typeface="Arial" pitchFamily="34" charset="-122"/>
                          <a:cs typeface="Arial" pitchFamily="34" charset="-120"/>
                        </a:rPr>
                        <a:t>There is a square to the right of every triangle.</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700" dirty="0">
                          <a:solidFill>
                            <a:srgbClr val="25252B"/>
                          </a:solidFill>
                          <a:latin typeface="Cambria Math" pitchFamily="34" charset="0"/>
                          <a:ea typeface="Cambria Math" pitchFamily="34" charset="-122"/>
                          <a:cs typeface="Cambria Math" pitchFamily="34" charset="-120"/>
                        </a:rPr>
                        <a:t>∃x(Square(x) ∧ ∀y(Triangle(y) → RightOf(x,y)))</a:t>
                      </a:r>
                      <a:endParaRPr lang="en-US" sz="1700" dirty="0">
                        <a:latin typeface="Cambria Math" charset="0"/>
                        <a:ea typeface="Cambria Math" charset="0"/>
                        <a:cs typeface="Cambria Math"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algn="ctr" indent="0" marL="0">
                        <a:buNone/>
                      </a:pPr>
                      <a:r>
                        <a:rPr lang="en-US" sz="1750" b="1" dirty="0">
                          <a:solidFill>
                            <a:srgbClr val="4B8B5B"/>
                          </a:solidFill>
                          <a:latin typeface="Arial" pitchFamily="34" charset="0"/>
                          <a:ea typeface="Arial" pitchFamily="34" charset="-122"/>
                          <a:cs typeface="Arial" pitchFamily="34" charset="-120"/>
                        </a:rPr>
                        <a:t>True</a:t>
                      </a:r>
                      <a:endParaRPr lang="en-US" sz="1750" dirty="0">
                        <a:latin typeface="Arial" charset="0"/>
                        <a:ea typeface="Arial" charset="0"/>
                        <a:cs typeface="Arial" charset="0"/>
                      </a:endParaRPr>
                    </a:p>
                  </a:txBody>
                  <a:tcPr marL="73152" marR="73152" marT="73152" marB="73152"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bl>
          </a:graphicData>
        </a:graphic>
      </p:graphicFrame>
      <p:sp>
        <p:nvSpPr>
          <p:cNvPr id="10" name="Text 7"/>
          <p:cNvSpPr/>
          <p:nvPr/>
        </p:nvSpPr>
        <p:spPr>
          <a:xfrm>
            <a:off x="777240" y="5257800"/>
            <a:ext cx="3886200" cy="50292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Check the grammar of the domain restriction</a:t>
            </a:r>
            <a:endParaRPr lang="en-US" sz="1800" dirty="0"/>
          </a:p>
        </p:txBody>
      </p:sp>
      <p:sp>
        <p:nvSpPr>
          <p:cNvPr id="11" name="Text 8"/>
          <p:cNvSpPr/>
          <p:nvPr/>
        </p:nvSpPr>
        <p:spPr>
          <a:xfrm>
            <a:off x="4846320" y="5193792"/>
            <a:ext cx="2926080" cy="621792"/>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2100" dirty="0">
                <a:solidFill>
                  <a:srgbClr val="25252B"/>
                </a:solidFill>
                <a:latin typeface="Cambria Math" pitchFamily="34" charset="0"/>
                <a:ea typeface="Cambria Math" pitchFamily="34" charset="-122"/>
                <a:cs typeface="Cambria Math" pitchFamily="34" charset="-120"/>
              </a:rPr>
              <a:t>∀x:  Type(x) → property</a:t>
            </a:r>
            <a:endParaRPr lang="en-US" sz="2100" dirty="0"/>
          </a:p>
        </p:txBody>
      </p:sp>
      <p:sp>
        <p:nvSpPr>
          <p:cNvPr id="12" name="Text 9"/>
          <p:cNvSpPr/>
          <p:nvPr/>
        </p:nvSpPr>
        <p:spPr>
          <a:xfrm>
            <a:off x="8001000" y="5193792"/>
            <a:ext cx="3108960" cy="621792"/>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2100" dirty="0">
                <a:solidFill>
                  <a:srgbClr val="25252B"/>
                </a:solidFill>
                <a:latin typeface="Cambria Math" pitchFamily="34" charset="0"/>
                <a:ea typeface="Cambria Math" pitchFamily="34" charset="-122"/>
                <a:cs typeface="Cambria Math" pitchFamily="34" charset="-120"/>
              </a:rPr>
              <a:t>∃x:  Type(x) ∧ property</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FORMAL NOTATION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Restricted domains: implication versus conjunction</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18</a:t>
            </a:r>
            <a:endParaRPr lang="en-US" sz="1000" dirty="0"/>
          </a:p>
        </p:txBody>
      </p:sp>
      <p:sp>
        <p:nvSpPr>
          <p:cNvPr id="9" name="Text 7"/>
          <p:cNvSpPr/>
          <p:nvPr/>
        </p:nvSpPr>
        <p:spPr>
          <a:xfrm>
            <a:off x="658368" y="1143000"/>
            <a:ext cx="10789920" cy="411480"/>
          </a:xfrm>
          <a:prstGeom prst="rect">
            <a:avLst/>
          </a:prstGeom>
          <a:noFill/>
          <a:ln/>
        </p:spPr>
        <p:txBody>
          <a:bodyPr wrap="square" lIns="0" tIns="0" rIns="0" bIns="0" rtlCol="0" anchor="ctr"/>
          <a:lstStyle/>
          <a:p>
            <a:pPr indent="0" marL="0">
              <a:buNone/>
            </a:pPr>
            <a:r>
              <a:rPr lang="en-US" sz="1900" dirty="0">
                <a:solidFill>
                  <a:srgbClr val="5E626B"/>
                </a:solidFill>
                <a:latin typeface="Arial" pitchFamily="34" charset="0"/>
                <a:ea typeface="Arial" pitchFamily="34" charset="-122"/>
                <a:cs typeface="Arial" pitchFamily="34" charset="-120"/>
              </a:rPr>
              <a:t>When the common domain is larger than the intended subdomain, restricted quantifiers are abbreviations.</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49808" y="1874520"/>
          <a:ext cx="10698480" cy="2194560"/>
        </p:xfrm>
        <a:graphic>
          <a:graphicData uri="http://schemas.openxmlformats.org/drawingml/2006/table">
            <a:tbl>
              <a:tblPr/>
              <a:tblGrid>
                <a:gridCol w="2743200"/>
                <a:gridCol w="3657600"/>
                <a:gridCol w="4297680"/>
              </a:tblGrid>
              <a:tr h="658368">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Restricted form</a:t>
                      </a:r>
                      <a:endParaRPr lang="en-US" sz="18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Unrestricted-domain form</a:t>
                      </a:r>
                      <a:endParaRPr lang="en-US" sz="18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Why</a:t>
                      </a:r>
                      <a:endParaRPr lang="en-US" sz="18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solidFill>
                      <a:srgbClr val="A52A75"/>
                    </a:solidFill>
                  </a:tcPr>
                </a:tc>
              </a:tr>
              <a:tr h="658368">
                <a:tc>
                  <a:txBody>
                    <a:bodyPr/>
                    <a:lstStyle/>
                    <a:p>
                      <a:pPr indent="0" marL="0">
                        <a:buNone/>
                      </a:pPr>
                      <a:r>
                        <a:rPr lang="en-US" sz="2300" dirty="0">
                          <a:solidFill>
                            <a:srgbClr val="25252B"/>
                          </a:solidFill>
                          <a:latin typeface="Cambria Math" pitchFamily="34" charset="0"/>
                          <a:ea typeface="Cambria Math" pitchFamily="34" charset="-122"/>
                          <a:cs typeface="Cambria Math" pitchFamily="34" charset="-120"/>
                        </a:rPr>
                        <a:t>∀x∈D  P(x)</a:t>
                      </a:r>
                      <a:endParaRPr lang="en-US" sz="2300" dirty="0">
                        <a:latin typeface="Cambria Math" charset="0"/>
                        <a:ea typeface="Cambria Math" charset="0"/>
                        <a:cs typeface="Cambria Math"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2300" dirty="0">
                          <a:solidFill>
                            <a:srgbClr val="25252B"/>
                          </a:solidFill>
                          <a:latin typeface="Cambria Math" pitchFamily="34" charset="0"/>
                          <a:ea typeface="Cambria Math" pitchFamily="34" charset="-122"/>
                          <a:cs typeface="Cambria Math" pitchFamily="34" charset="-120"/>
                        </a:rPr>
                        <a:t>∀x(D(x) → P(x))</a:t>
                      </a:r>
                      <a:endParaRPr lang="en-US" sz="2300" dirty="0">
                        <a:latin typeface="Cambria Math" charset="0"/>
                        <a:ea typeface="Cambria Math" charset="0"/>
                        <a:cs typeface="Cambria Math"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Only members of D are required to satisfy P.</a:t>
                      </a:r>
                      <a:endParaRPr lang="en-US" sz="18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r>
              <a:tr h="658368">
                <a:tc>
                  <a:txBody>
                    <a:bodyPr/>
                    <a:lstStyle/>
                    <a:p>
                      <a:pPr indent="0" marL="0">
                        <a:buNone/>
                      </a:pPr>
                      <a:r>
                        <a:rPr lang="en-US" sz="2300" dirty="0">
                          <a:solidFill>
                            <a:srgbClr val="25252B"/>
                          </a:solidFill>
                          <a:latin typeface="Cambria Math" pitchFamily="34" charset="0"/>
                          <a:ea typeface="Cambria Math" pitchFamily="34" charset="-122"/>
                          <a:cs typeface="Cambria Math" pitchFamily="34" charset="-120"/>
                        </a:rPr>
                        <a:t>∃x∈D  P(x)</a:t>
                      </a:r>
                      <a:endParaRPr lang="en-US" sz="2300" dirty="0">
                        <a:latin typeface="Cambria Math" charset="0"/>
                        <a:ea typeface="Cambria Math" charset="0"/>
                        <a:cs typeface="Cambria Math"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2300" dirty="0">
                          <a:solidFill>
                            <a:srgbClr val="25252B"/>
                          </a:solidFill>
                          <a:latin typeface="Cambria Math" pitchFamily="34" charset="0"/>
                          <a:ea typeface="Cambria Math" pitchFamily="34" charset="-122"/>
                          <a:cs typeface="Cambria Math" pitchFamily="34" charset="-120"/>
                        </a:rPr>
                        <a:t>∃x(D(x) ∧ P(x))</a:t>
                      </a:r>
                      <a:endParaRPr lang="en-US" sz="2300" dirty="0">
                        <a:latin typeface="Cambria Math" charset="0"/>
                        <a:ea typeface="Cambria Math" charset="0"/>
                        <a:cs typeface="Cambria Math"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c>
                  <a:txBody>
                    <a:bodyPr/>
                    <a:lstStyle/>
                    <a:p>
                      <a:pPr indent="0" marL="0">
                        <a:buNone/>
                      </a:pPr>
                      <a:r>
                        <a:rPr lang="en-US" sz="1800" dirty="0">
                          <a:solidFill>
                            <a:srgbClr val="25252B"/>
                          </a:solidFill>
                          <a:latin typeface="Arial" pitchFamily="34" charset="0"/>
                          <a:ea typeface="Arial" pitchFamily="34" charset="-122"/>
                          <a:cs typeface="Arial" pitchFamily="34" charset="-120"/>
                        </a:rPr>
                        <a:t>The witness must be both in D and satisfy P.</a:t>
                      </a:r>
                      <a:endParaRPr lang="en-US" sz="1800" dirty="0">
                        <a:latin typeface="Arial" charset="0"/>
                        <a:ea typeface="Arial" charset="0"/>
                        <a:cs typeface="Arial" charset="0"/>
                      </a:endParaRPr>
                    </a:p>
                  </a:txBody>
                  <a:tcPr marL="73152" marR="73152" marT="73152" marB="73152" anchor="mid">
                    <a:lnL w="12700" cap="flat" cmpd="sng" algn="ctr">
                      <a:solidFill>
                        <a:srgbClr val="D8D2D6"/>
                      </a:solidFill>
                      <a:prstDash val="solid"/>
                      <a:round/>
                      <a:headEnd type="none" w="med" len="med"/>
                      <a:tailEnd type="none" w="med" len="med"/>
                    </a:lnL>
                    <a:lnR w="12700" cap="flat" cmpd="sng" algn="ctr">
                      <a:solidFill>
                        <a:srgbClr val="D8D2D6"/>
                      </a:solidFill>
                      <a:prstDash val="solid"/>
                      <a:round/>
                      <a:headEnd type="none" w="med" len="med"/>
                      <a:tailEnd type="none" w="med" len="med"/>
                    </a:lnR>
                    <a:lnT w="12700" cap="flat" cmpd="sng" algn="ctr">
                      <a:solidFill>
                        <a:srgbClr val="D8D2D6"/>
                      </a:solidFill>
                      <a:prstDash val="solid"/>
                      <a:round/>
                      <a:headEnd type="none" w="med" len="med"/>
                      <a:tailEnd type="none" w="med" len="med"/>
                    </a:lnT>
                    <a:lnB w="12700" cap="flat" cmpd="sng" algn="ctr">
                      <a:solidFill>
                        <a:srgbClr val="D8D2D6"/>
                      </a:solidFill>
                      <a:prstDash val="solid"/>
                      <a:round/>
                      <a:headEnd type="none" w="med" len="med"/>
                      <a:tailEnd type="none" w="med" len="med"/>
                    </a:lnB>
                  </a:tcPr>
                </a:tc>
              </a:tr>
            </a:tbl>
          </a:graphicData>
        </a:graphic>
      </p:graphicFrame>
      <p:sp>
        <p:nvSpPr>
          <p:cNvPr id="11" name="Text 8"/>
          <p:cNvSpPr/>
          <p:nvPr/>
        </p:nvSpPr>
        <p:spPr>
          <a:xfrm>
            <a:off x="822960" y="4526280"/>
            <a:ext cx="210312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Universal example</a:t>
            </a:r>
            <a:endParaRPr lang="en-US" sz="1900" dirty="0"/>
          </a:p>
        </p:txBody>
      </p:sp>
      <p:sp>
        <p:nvSpPr>
          <p:cNvPr id="12" name="Text 9"/>
          <p:cNvSpPr/>
          <p:nvPr/>
        </p:nvSpPr>
        <p:spPr>
          <a:xfrm>
            <a:off x="3108960" y="4434840"/>
            <a:ext cx="3840480" cy="621792"/>
          </a:xfrm>
          <a:prstGeom prst="rect">
            <a:avLst/>
          </a:prstGeom>
          <a:noFill/>
          <a:ln/>
        </p:spPr>
        <p:txBody>
          <a:bodyPr wrap="square" lIns="254" tIns="254" rIns="254" bIns="254" rtlCol="0" anchor="ctr">
            <a:normAutofit/>
          </a:bodyPr>
          <a:lstStyle/>
          <a:p>
            <a:pPr algn="ctr" indent="0" marL="0">
              <a:buNone/>
            </a:pPr>
            <a:r>
              <a:rPr lang="en-US" sz="2300" dirty="0">
                <a:solidFill>
                  <a:srgbClr val="25252B"/>
                </a:solidFill>
                <a:latin typeface="Cambria Math" pitchFamily="34" charset="0"/>
                <a:ea typeface="Cambria Math" pitchFamily="34" charset="-122"/>
                <a:cs typeface="Cambria Math" pitchFamily="34" charset="-120"/>
              </a:rPr>
              <a:t>∀x(Student(x) → Passed(x))</a:t>
            </a:r>
            <a:endParaRPr lang="en-US" sz="2300" dirty="0"/>
          </a:p>
        </p:txBody>
      </p:sp>
      <p:sp>
        <p:nvSpPr>
          <p:cNvPr id="13" name="Text 10"/>
          <p:cNvSpPr/>
          <p:nvPr/>
        </p:nvSpPr>
        <p:spPr>
          <a:xfrm>
            <a:off x="7132320" y="4562856"/>
            <a:ext cx="3566160" cy="365760"/>
          </a:xfrm>
          <a:prstGeom prst="rect">
            <a:avLst/>
          </a:prstGeom>
          <a:noFill/>
          <a:ln/>
        </p:spPr>
        <p:txBody>
          <a:bodyPr wrap="square" lIns="0" tIns="0" rIns="0" bIns="0" rtlCol="0" anchor="ctr"/>
          <a:lstStyle/>
          <a:p>
            <a:pPr indent="0" marL="0">
              <a:buNone/>
            </a:pPr>
            <a:r>
              <a:rPr lang="en-US" sz="1900" dirty="0">
                <a:solidFill>
                  <a:srgbClr val="25252B"/>
                </a:solidFill>
                <a:latin typeface="Arial" pitchFamily="34" charset="0"/>
                <a:ea typeface="Arial" pitchFamily="34" charset="-122"/>
                <a:cs typeface="Arial" pitchFamily="34" charset="-120"/>
              </a:rPr>
              <a:t>Every student passed.</a:t>
            </a:r>
            <a:endParaRPr lang="en-US" sz="1900" dirty="0"/>
          </a:p>
        </p:txBody>
      </p:sp>
      <p:sp>
        <p:nvSpPr>
          <p:cNvPr id="14" name="Text 11"/>
          <p:cNvSpPr/>
          <p:nvPr/>
        </p:nvSpPr>
        <p:spPr>
          <a:xfrm>
            <a:off x="822960" y="5440680"/>
            <a:ext cx="2103120" cy="457200"/>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Existential example</a:t>
            </a:r>
            <a:endParaRPr lang="en-US" sz="1900" dirty="0"/>
          </a:p>
        </p:txBody>
      </p:sp>
      <p:sp>
        <p:nvSpPr>
          <p:cNvPr id="15" name="Text 12"/>
          <p:cNvSpPr/>
          <p:nvPr/>
        </p:nvSpPr>
        <p:spPr>
          <a:xfrm>
            <a:off x="3108960" y="5349240"/>
            <a:ext cx="3840480" cy="621792"/>
          </a:xfrm>
          <a:prstGeom prst="rect">
            <a:avLst/>
          </a:prstGeom>
          <a:noFill/>
          <a:ln/>
        </p:spPr>
        <p:txBody>
          <a:bodyPr wrap="square" lIns="254" tIns="254" rIns="254" bIns="254" rtlCol="0" anchor="ctr">
            <a:normAutofit/>
          </a:bodyPr>
          <a:lstStyle/>
          <a:p>
            <a:pPr algn="ctr" indent="0" marL="0">
              <a:buNone/>
            </a:pPr>
            <a:r>
              <a:rPr lang="en-US" sz="2300" dirty="0">
                <a:solidFill>
                  <a:srgbClr val="25252B"/>
                </a:solidFill>
                <a:latin typeface="Cambria Math" pitchFamily="34" charset="0"/>
                <a:ea typeface="Cambria Math" pitchFamily="34" charset="-122"/>
                <a:cs typeface="Cambria Math" pitchFamily="34" charset="-120"/>
              </a:rPr>
              <a:t>∃x(Student(x) ∧ Passed(x))</a:t>
            </a:r>
            <a:endParaRPr lang="en-US" sz="2300" dirty="0"/>
          </a:p>
        </p:txBody>
      </p:sp>
      <p:sp>
        <p:nvSpPr>
          <p:cNvPr id="16" name="Text 13"/>
          <p:cNvSpPr/>
          <p:nvPr/>
        </p:nvSpPr>
        <p:spPr>
          <a:xfrm>
            <a:off x="7132320" y="5477256"/>
            <a:ext cx="3566160" cy="365760"/>
          </a:xfrm>
          <a:prstGeom prst="rect">
            <a:avLst/>
          </a:prstGeom>
          <a:noFill/>
          <a:ln/>
        </p:spPr>
        <p:txBody>
          <a:bodyPr wrap="square" lIns="0" tIns="0" rIns="0" bIns="0" rtlCol="0" anchor="ctr"/>
          <a:lstStyle/>
          <a:p>
            <a:pPr indent="0" marL="0">
              <a:buNone/>
            </a:pPr>
            <a:r>
              <a:rPr lang="en-US" sz="1900" dirty="0">
                <a:solidFill>
                  <a:srgbClr val="25252B"/>
                </a:solidFill>
                <a:latin typeface="Arial" pitchFamily="34" charset="0"/>
                <a:ea typeface="Arial" pitchFamily="34" charset="-122"/>
                <a:cs typeface="Arial" pitchFamily="34" charset="-120"/>
              </a:rPr>
              <a:t>Some student passed.</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WORKED EXAMPLE</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Formalization example: reciprocals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19</a:t>
            </a:r>
            <a:endParaRPr lang="en-US" sz="1000" dirty="0"/>
          </a:p>
        </p:txBody>
      </p:sp>
      <p:sp>
        <p:nvSpPr>
          <p:cNvPr id="9" name="Text 7"/>
          <p:cNvSpPr/>
          <p:nvPr/>
        </p:nvSpPr>
        <p:spPr>
          <a:xfrm>
            <a:off x="685800" y="1143000"/>
            <a:ext cx="7498080" cy="411480"/>
          </a:xfrm>
          <a:prstGeom prst="rect">
            <a:avLst/>
          </a:prstGeom>
          <a:noFill/>
          <a:ln/>
        </p:spPr>
        <p:txBody>
          <a:bodyPr wrap="square" lIns="0" tIns="0" rIns="0" bIns="0" rtlCol="0" anchor="ctr"/>
          <a:lstStyle/>
          <a:p>
            <a:pPr indent="0" marL="0">
              <a:buNone/>
            </a:pPr>
            <a:r>
              <a:rPr lang="en-US" sz="2000" dirty="0">
                <a:solidFill>
                  <a:srgbClr val="5E626B"/>
                </a:solidFill>
                <a:latin typeface="Arial" pitchFamily="34" charset="0"/>
                <a:ea typeface="Arial" pitchFamily="34" charset="-122"/>
                <a:cs typeface="Arial" pitchFamily="34" charset="-120"/>
              </a:rPr>
              <a:t>Definition: b is a reciprocal of a exactly when ab = 1.</a:t>
            </a:r>
            <a:endParaRPr lang="en-US" sz="2000" dirty="0"/>
          </a:p>
        </p:txBody>
      </p:sp>
      <p:sp>
        <p:nvSpPr>
          <p:cNvPr id="10" name="Text 8"/>
          <p:cNvSpPr/>
          <p:nvPr/>
        </p:nvSpPr>
        <p:spPr>
          <a:xfrm>
            <a:off x="713232" y="1783080"/>
            <a:ext cx="5166360" cy="548640"/>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Every nonzero real number has a reciprocal.</a:t>
            </a:r>
            <a:endParaRPr lang="en-US" sz="2000" dirty="0"/>
          </a:p>
        </p:txBody>
      </p:sp>
      <p:sp>
        <p:nvSpPr>
          <p:cNvPr id="11" name="Text 9"/>
          <p:cNvSpPr/>
          <p:nvPr/>
        </p:nvSpPr>
        <p:spPr>
          <a:xfrm>
            <a:off x="896112" y="2606040"/>
            <a:ext cx="4800600" cy="68580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∀u∈ℝ{0} ∃v∈ℝ  (uv = 1)</a:t>
            </a:r>
            <a:endParaRPr lang="en-US" sz="2700" dirty="0"/>
          </a:p>
        </p:txBody>
      </p:sp>
      <p:sp>
        <p:nvSpPr>
          <p:cNvPr id="12" name="Text 10"/>
          <p:cNvSpPr/>
          <p:nvPr/>
        </p:nvSpPr>
        <p:spPr>
          <a:xfrm>
            <a:off x="1097280" y="3520440"/>
            <a:ext cx="4389120" cy="457200"/>
          </a:xfrm>
          <a:prstGeom prst="rect">
            <a:avLst/>
          </a:prstGeom>
          <a:noFill/>
          <a:ln/>
        </p:spPr>
        <p:txBody>
          <a:bodyPr wrap="square" lIns="0" tIns="0" rIns="0" bIns="0" rtlCol="0" anchor="ctr"/>
          <a:lstStyle/>
          <a:p>
            <a:pPr algn="ctr" indent="0" marL="0">
              <a:buNone/>
            </a:pPr>
            <a:r>
              <a:rPr lang="en-US" sz="1900" b="1" dirty="0">
                <a:solidFill>
                  <a:srgbClr val="4B8B5B"/>
                </a:solidFill>
                <a:latin typeface="Arial" pitchFamily="34" charset="0"/>
                <a:ea typeface="Arial" pitchFamily="34" charset="-122"/>
                <a:cs typeface="Arial" pitchFamily="34" charset="-120"/>
              </a:rPr>
              <a:t>Given u ≠ 0, choose v = 1/u.</a:t>
            </a:r>
            <a:endParaRPr lang="en-US" sz="1900" dirty="0"/>
          </a:p>
        </p:txBody>
      </p:sp>
      <p:sp>
        <p:nvSpPr>
          <p:cNvPr id="13" name="Text 11"/>
          <p:cNvSpPr/>
          <p:nvPr/>
        </p:nvSpPr>
        <p:spPr>
          <a:xfrm>
            <a:off x="6309360" y="1783080"/>
            <a:ext cx="5166360" cy="54864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There is a real number with no reciprocal.</a:t>
            </a:r>
            <a:endParaRPr lang="en-US" sz="2000" dirty="0"/>
          </a:p>
        </p:txBody>
      </p:sp>
      <p:sp>
        <p:nvSpPr>
          <p:cNvPr id="14" name="Text 12"/>
          <p:cNvSpPr/>
          <p:nvPr/>
        </p:nvSpPr>
        <p:spPr>
          <a:xfrm>
            <a:off x="6492240" y="2606040"/>
            <a:ext cx="4800600" cy="68580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∃c∈ℝ ∀d∈ℝ  (cd ≠ 1)</a:t>
            </a:r>
            <a:endParaRPr lang="en-US" sz="2700" dirty="0"/>
          </a:p>
        </p:txBody>
      </p:sp>
      <p:sp>
        <p:nvSpPr>
          <p:cNvPr id="15" name="Text 13"/>
          <p:cNvSpPr/>
          <p:nvPr/>
        </p:nvSpPr>
        <p:spPr>
          <a:xfrm>
            <a:off x="6629400" y="3520440"/>
            <a:ext cx="4526280" cy="640080"/>
          </a:xfrm>
          <a:prstGeom prst="rect">
            <a:avLst/>
          </a:prstGeom>
          <a:noFill/>
          <a:ln/>
        </p:spPr>
        <p:txBody>
          <a:bodyPr wrap="square" lIns="0" tIns="0" rIns="0" bIns="0" rtlCol="0" anchor="ctr">
            <a:normAutofit/>
          </a:bodyPr>
          <a:lstStyle/>
          <a:p>
            <a:pPr algn="ctr" indent="0" marL="0">
              <a:buNone/>
            </a:pPr>
            <a:r>
              <a:rPr lang="en-US" sz="1900" b="1" dirty="0">
                <a:solidFill>
                  <a:srgbClr val="B84A4A"/>
                </a:solidFill>
                <a:latin typeface="Arial" pitchFamily="34" charset="0"/>
                <a:ea typeface="Arial" pitchFamily="34" charset="-122"/>
                <a:cs typeface="Arial" pitchFamily="34" charset="-120"/>
              </a:rPr>
              <a:t>Witness: c = 0, because 0·d = 0 for every real d.</a:t>
            </a:r>
            <a:endParaRPr lang="en-US" sz="1900" dirty="0"/>
          </a:p>
        </p:txBody>
      </p:sp>
      <p:sp>
        <p:nvSpPr>
          <p:cNvPr id="16" name="Text 14"/>
          <p:cNvSpPr/>
          <p:nvPr/>
        </p:nvSpPr>
        <p:spPr>
          <a:xfrm>
            <a:off x="868680" y="4800600"/>
            <a:ext cx="1600200" cy="45720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Boundary case</a:t>
            </a:r>
            <a:endParaRPr lang="en-US" sz="1800" dirty="0"/>
          </a:p>
        </p:txBody>
      </p:sp>
      <p:sp>
        <p:nvSpPr>
          <p:cNvPr id="17" name="Text 15"/>
          <p:cNvSpPr/>
          <p:nvPr/>
        </p:nvSpPr>
        <p:spPr>
          <a:xfrm>
            <a:off x="2697480" y="4828032"/>
            <a:ext cx="8046720" cy="475488"/>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The restriction u ≠ 0 is essential. Without it, the first statement is false.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WORKED EXAMPLE</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Two order-sensitive number statements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TRANSLATION &amp; MODELS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20</a:t>
            </a:r>
            <a:endParaRPr lang="en-US" sz="1000" dirty="0"/>
          </a:p>
        </p:txBody>
      </p:sp>
      <p:sp>
        <p:nvSpPr>
          <p:cNvPr id="9" name="Text 7"/>
          <p:cNvSpPr/>
          <p:nvPr/>
        </p:nvSpPr>
        <p:spPr>
          <a:xfrm>
            <a:off x="685800" y="1234440"/>
            <a:ext cx="5257800" cy="53035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There is a smallest positive integer.</a:t>
            </a:r>
            <a:endParaRPr lang="en-US" sz="2100" dirty="0"/>
          </a:p>
        </p:txBody>
      </p:sp>
      <p:sp>
        <p:nvSpPr>
          <p:cNvPr id="10" name="Text 8"/>
          <p:cNvSpPr/>
          <p:nvPr/>
        </p:nvSpPr>
        <p:spPr>
          <a:xfrm>
            <a:off x="914400" y="1965960"/>
            <a:ext cx="4800600" cy="68580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∃m∈ℤ⁺ ∀n∈ℤ⁺  (m ≤ n)</a:t>
            </a:r>
            <a:endParaRPr lang="en-US" sz="2700" dirty="0"/>
          </a:p>
        </p:txBody>
      </p:sp>
      <p:sp>
        <p:nvSpPr>
          <p:cNvPr id="11" name="Text 9"/>
          <p:cNvSpPr/>
          <p:nvPr/>
        </p:nvSpPr>
        <p:spPr>
          <a:xfrm>
            <a:off x="914400" y="2788920"/>
            <a:ext cx="4663440" cy="438912"/>
          </a:xfrm>
          <a:prstGeom prst="rect">
            <a:avLst/>
          </a:prstGeom>
          <a:noFill/>
          <a:ln/>
        </p:spPr>
        <p:txBody>
          <a:bodyPr wrap="square" lIns="0" tIns="0" rIns="0" bIns="0" rtlCol="0" anchor="ctr"/>
          <a:lstStyle/>
          <a:p>
            <a:pPr algn="ctr" indent="0" marL="0">
              <a:buNone/>
            </a:pPr>
            <a:r>
              <a:rPr lang="en-US" sz="2000" b="1" dirty="0">
                <a:solidFill>
                  <a:srgbClr val="4B8B5B"/>
                </a:solidFill>
                <a:latin typeface="Arial" pitchFamily="34" charset="0"/>
                <a:ea typeface="Arial" pitchFamily="34" charset="-122"/>
                <a:cs typeface="Arial" pitchFamily="34" charset="-120"/>
              </a:rPr>
              <a:t>TRUE. The common witness is m = 1.</a:t>
            </a:r>
            <a:endParaRPr lang="en-US" sz="2000" dirty="0"/>
          </a:p>
        </p:txBody>
      </p:sp>
      <p:sp>
        <p:nvSpPr>
          <p:cNvPr id="12" name="Shape 10"/>
          <p:cNvSpPr/>
          <p:nvPr/>
        </p:nvSpPr>
        <p:spPr>
          <a:xfrm>
            <a:off x="1097280" y="4069080"/>
            <a:ext cx="4297680" cy="0"/>
          </a:xfrm>
          <a:prstGeom prst="line">
            <a:avLst/>
          </a:prstGeom>
          <a:noFill/>
          <a:ln w="19050">
            <a:solidFill>
              <a:srgbClr val="25252B"/>
            </a:solidFill>
            <a:prstDash val="solid"/>
            <a:headEnd type="none"/>
            <a:tailEnd type="triangle"/>
          </a:ln>
        </p:spPr>
      </p:sp>
      <p:sp>
        <p:nvSpPr>
          <p:cNvPr id="13" name="Shape 11"/>
          <p:cNvSpPr/>
          <p:nvPr/>
        </p:nvSpPr>
        <p:spPr>
          <a:xfrm>
            <a:off x="1097280" y="3913632"/>
            <a:ext cx="0" cy="310896"/>
          </a:xfrm>
          <a:prstGeom prst="line">
            <a:avLst/>
          </a:prstGeom>
          <a:noFill/>
          <a:ln w="12700">
            <a:solidFill>
              <a:srgbClr val="25252B"/>
            </a:solidFill>
            <a:prstDash val="solid"/>
          </a:ln>
        </p:spPr>
      </p:sp>
      <p:sp>
        <p:nvSpPr>
          <p:cNvPr id="14" name="Text 12"/>
          <p:cNvSpPr/>
          <p:nvPr/>
        </p:nvSpPr>
        <p:spPr>
          <a:xfrm>
            <a:off x="950976" y="4187952"/>
            <a:ext cx="292608" cy="228600"/>
          </a:xfrm>
          <a:prstGeom prst="rect">
            <a:avLst/>
          </a:prstGeom>
          <a:noFill/>
          <a:ln/>
        </p:spPr>
        <p:txBody>
          <a:bodyPr wrap="square" lIns="0" tIns="0" rIns="0" bIns="0" rtlCol="0" anchor="ctr"/>
          <a:lstStyle/>
          <a:p>
            <a:pPr algn="ctr" indent="0" marL="0">
              <a:buNone/>
            </a:pPr>
            <a:r>
              <a:rPr lang="en-US" sz="1400" b="1" dirty="0">
                <a:solidFill>
                  <a:srgbClr val="A52A75"/>
                </a:solidFill>
                <a:latin typeface="Arial" pitchFamily="34" charset="0"/>
                <a:ea typeface="Arial" pitchFamily="34" charset="-122"/>
                <a:cs typeface="Arial" pitchFamily="34" charset="-120"/>
              </a:rPr>
              <a:t>1</a:t>
            </a:r>
            <a:endParaRPr lang="en-US" sz="1400" dirty="0"/>
          </a:p>
        </p:txBody>
      </p:sp>
      <p:sp>
        <p:nvSpPr>
          <p:cNvPr id="15" name="Shape 13"/>
          <p:cNvSpPr/>
          <p:nvPr/>
        </p:nvSpPr>
        <p:spPr>
          <a:xfrm>
            <a:off x="2011680" y="3913632"/>
            <a:ext cx="0" cy="310896"/>
          </a:xfrm>
          <a:prstGeom prst="line">
            <a:avLst/>
          </a:prstGeom>
          <a:noFill/>
          <a:ln w="12700">
            <a:solidFill>
              <a:srgbClr val="25252B"/>
            </a:solidFill>
            <a:prstDash val="solid"/>
          </a:ln>
        </p:spPr>
      </p:sp>
      <p:sp>
        <p:nvSpPr>
          <p:cNvPr id="16" name="Text 14"/>
          <p:cNvSpPr/>
          <p:nvPr/>
        </p:nvSpPr>
        <p:spPr>
          <a:xfrm>
            <a:off x="1865376" y="4187952"/>
            <a:ext cx="292608" cy="228600"/>
          </a:xfrm>
          <a:prstGeom prst="rect">
            <a:avLst/>
          </a:prstGeom>
          <a:noFill/>
          <a:ln/>
        </p:spPr>
        <p:txBody>
          <a:bodyPr wrap="square" lIns="0" tIns="0" rIns="0" bIns="0" rtlCol="0" anchor="ctr"/>
          <a:lstStyle/>
          <a:p>
            <a:pPr algn="ctr" indent="0" marL="0">
              <a:buNone/>
            </a:pPr>
            <a:r>
              <a:rPr lang="en-US" sz="1400" dirty="0">
                <a:solidFill>
                  <a:srgbClr val="25252B"/>
                </a:solidFill>
                <a:latin typeface="Arial" pitchFamily="34" charset="0"/>
                <a:ea typeface="Arial" pitchFamily="34" charset="-122"/>
                <a:cs typeface="Arial" pitchFamily="34" charset="-120"/>
              </a:rPr>
              <a:t>2</a:t>
            </a:r>
            <a:endParaRPr lang="en-US" sz="1400" dirty="0"/>
          </a:p>
        </p:txBody>
      </p:sp>
      <p:sp>
        <p:nvSpPr>
          <p:cNvPr id="17" name="Shape 15"/>
          <p:cNvSpPr/>
          <p:nvPr/>
        </p:nvSpPr>
        <p:spPr>
          <a:xfrm>
            <a:off x="2926080" y="3913632"/>
            <a:ext cx="0" cy="310896"/>
          </a:xfrm>
          <a:prstGeom prst="line">
            <a:avLst/>
          </a:prstGeom>
          <a:noFill/>
          <a:ln w="12700">
            <a:solidFill>
              <a:srgbClr val="25252B"/>
            </a:solidFill>
            <a:prstDash val="solid"/>
          </a:ln>
        </p:spPr>
      </p:sp>
      <p:sp>
        <p:nvSpPr>
          <p:cNvPr id="18" name="Text 16"/>
          <p:cNvSpPr/>
          <p:nvPr/>
        </p:nvSpPr>
        <p:spPr>
          <a:xfrm>
            <a:off x="2779776" y="4187952"/>
            <a:ext cx="292608" cy="228600"/>
          </a:xfrm>
          <a:prstGeom prst="rect">
            <a:avLst/>
          </a:prstGeom>
          <a:noFill/>
          <a:ln/>
        </p:spPr>
        <p:txBody>
          <a:bodyPr wrap="square" lIns="0" tIns="0" rIns="0" bIns="0" rtlCol="0" anchor="ctr"/>
          <a:lstStyle/>
          <a:p>
            <a:pPr algn="ctr" indent="0" marL="0">
              <a:buNone/>
            </a:pPr>
            <a:r>
              <a:rPr lang="en-US" sz="1400" dirty="0">
                <a:solidFill>
                  <a:srgbClr val="25252B"/>
                </a:solidFill>
                <a:latin typeface="Arial" pitchFamily="34" charset="0"/>
                <a:ea typeface="Arial" pitchFamily="34" charset="-122"/>
                <a:cs typeface="Arial" pitchFamily="34" charset="-120"/>
              </a:rPr>
              <a:t>3</a:t>
            </a:r>
            <a:endParaRPr lang="en-US" sz="1400" dirty="0"/>
          </a:p>
        </p:txBody>
      </p:sp>
      <p:sp>
        <p:nvSpPr>
          <p:cNvPr id="19" name="Shape 17"/>
          <p:cNvSpPr/>
          <p:nvPr/>
        </p:nvSpPr>
        <p:spPr>
          <a:xfrm>
            <a:off x="3840480" y="3913632"/>
            <a:ext cx="0" cy="310896"/>
          </a:xfrm>
          <a:prstGeom prst="line">
            <a:avLst/>
          </a:prstGeom>
          <a:noFill/>
          <a:ln w="12700">
            <a:solidFill>
              <a:srgbClr val="25252B"/>
            </a:solidFill>
            <a:prstDash val="solid"/>
          </a:ln>
        </p:spPr>
      </p:sp>
      <p:sp>
        <p:nvSpPr>
          <p:cNvPr id="20" name="Text 18"/>
          <p:cNvSpPr/>
          <p:nvPr/>
        </p:nvSpPr>
        <p:spPr>
          <a:xfrm>
            <a:off x="3694176" y="4187952"/>
            <a:ext cx="292608" cy="228600"/>
          </a:xfrm>
          <a:prstGeom prst="rect">
            <a:avLst/>
          </a:prstGeom>
          <a:noFill/>
          <a:ln/>
        </p:spPr>
        <p:txBody>
          <a:bodyPr wrap="square" lIns="0" tIns="0" rIns="0" bIns="0" rtlCol="0" anchor="ctr"/>
          <a:lstStyle/>
          <a:p>
            <a:pPr algn="ctr" indent="0" marL="0">
              <a:buNone/>
            </a:pPr>
            <a:r>
              <a:rPr lang="en-US" sz="1400" dirty="0">
                <a:solidFill>
                  <a:srgbClr val="25252B"/>
                </a:solidFill>
                <a:latin typeface="Arial" pitchFamily="34" charset="0"/>
                <a:ea typeface="Arial" pitchFamily="34" charset="-122"/>
                <a:cs typeface="Arial" pitchFamily="34" charset="-120"/>
              </a:rPr>
              <a:t>4</a:t>
            </a:r>
            <a:endParaRPr lang="en-US" sz="1400" dirty="0"/>
          </a:p>
        </p:txBody>
      </p:sp>
      <p:sp>
        <p:nvSpPr>
          <p:cNvPr id="21" name="Shape 19"/>
          <p:cNvSpPr/>
          <p:nvPr/>
        </p:nvSpPr>
        <p:spPr>
          <a:xfrm>
            <a:off x="4754880" y="3913632"/>
            <a:ext cx="0" cy="310896"/>
          </a:xfrm>
          <a:prstGeom prst="line">
            <a:avLst/>
          </a:prstGeom>
          <a:noFill/>
          <a:ln w="12700">
            <a:solidFill>
              <a:srgbClr val="25252B"/>
            </a:solidFill>
            <a:prstDash val="solid"/>
          </a:ln>
        </p:spPr>
      </p:sp>
      <p:sp>
        <p:nvSpPr>
          <p:cNvPr id="22" name="Text 20"/>
          <p:cNvSpPr/>
          <p:nvPr/>
        </p:nvSpPr>
        <p:spPr>
          <a:xfrm>
            <a:off x="4608576" y="4187952"/>
            <a:ext cx="292608" cy="228600"/>
          </a:xfrm>
          <a:prstGeom prst="rect">
            <a:avLst/>
          </a:prstGeom>
          <a:noFill/>
          <a:ln/>
        </p:spPr>
        <p:txBody>
          <a:bodyPr wrap="square" lIns="0" tIns="0" rIns="0" bIns="0" rtlCol="0" anchor="ctr"/>
          <a:lstStyle/>
          <a:p>
            <a:pPr algn="ctr" indent="0" marL="0">
              <a:buNone/>
            </a:pPr>
            <a:r>
              <a:rPr lang="en-US" sz="1400" dirty="0">
                <a:solidFill>
                  <a:srgbClr val="25252B"/>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6263640" y="1234440"/>
            <a:ext cx="5257800" cy="53035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There is no smallest positive real number.</a:t>
            </a:r>
            <a:endParaRPr lang="en-US" sz="2100" dirty="0"/>
          </a:p>
        </p:txBody>
      </p:sp>
      <p:sp>
        <p:nvSpPr>
          <p:cNvPr id="24" name="Text 22"/>
          <p:cNvSpPr/>
          <p:nvPr/>
        </p:nvSpPr>
        <p:spPr>
          <a:xfrm>
            <a:off x="6492240" y="1965960"/>
            <a:ext cx="4800600" cy="68580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∀x∈ℝ⁺ ∃y∈ℝ⁺  (y &lt; x)</a:t>
            </a:r>
            <a:endParaRPr lang="en-US" sz="2700" dirty="0"/>
          </a:p>
        </p:txBody>
      </p:sp>
      <p:sp>
        <p:nvSpPr>
          <p:cNvPr id="25" name="Text 23"/>
          <p:cNvSpPr/>
          <p:nvPr/>
        </p:nvSpPr>
        <p:spPr>
          <a:xfrm>
            <a:off x="6446520" y="2788920"/>
            <a:ext cx="4800600" cy="438912"/>
          </a:xfrm>
          <a:prstGeom prst="rect">
            <a:avLst/>
          </a:prstGeom>
          <a:noFill/>
          <a:ln/>
        </p:spPr>
        <p:txBody>
          <a:bodyPr wrap="square" lIns="0" tIns="0" rIns="0" bIns="0" rtlCol="0" anchor="ctr"/>
          <a:lstStyle/>
          <a:p>
            <a:pPr algn="ctr" indent="0" marL="0">
              <a:buNone/>
            </a:pPr>
            <a:r>
              <a:rPr lang="en-US" sz="2000" b="1" dirty="0">
                <a:solidFill>
                  <a:srgbClr val="3E7DA6"/>
                </a:solidFill>
                <a:latin typeface="Arial" pitchFamily="34" charset="0"/>
                <a:ea typeface="Arial" pitchFamily="34" charset="-122"/>
                <a:cs typeface="Arial" pitchFamily="34" charset="-120"/>
              </a:rPr>
              <a:t>TRUE. After x is chosen, choose y = x/2.</a:t>
            </a:r>
            <a:endParaRPr lang="en-US" sz="2000" dirty="0"/>
          </a:p>
        </p:txBody>
      </p:sp>
      <p:sp>
        <p:nvSpPr>
          <p:cNvPr id="26" name="Shape 24"/>
          <p:cNvSpPr/>
          <p:nvPr/>
        </p:nvSpPr>
        <p:spPr>
          <a:xfrm>
            <a:off x="6675120" y="4069080"/>
            <a:ext cx="4206240" cy="0"/>
          </a:xfrm>
          <a:prstGeom prst="line">
            <a:avLst/>
          </a:prstGeom>
          <a:noFill/>
          <a:ln w="19050">
            <a:solidFill>
              <a:srgbClr val="25252B"/>
            </a:solidFill>
            <a:prstDash val="solid"/>
            <a:headEnd type="none"/>
            <a:tailEnd type="triangle"/>
          </a:ln>
        </p:spPr>
      </p:sp>
      <p:sp>
        <p:nvSpPr>
          <p:cNvPr id="27" name="Text 25"/>
          <p:cNvSpPr/>
          <p:nvPr/>
        </p:nvSpPr>
        <p:spPr>
          <a:xfrm>
            <a:off x="6537960" y="4187952"/>
            <a:ext cx="320040" cy="228600"/>
          </a:xfrm>
          <a:prstGeom prst="rect">
            <a:avLst/>
          </a:prstGeom>
          <a:noFill/>
          <a:ln/>
        </p:spPr>
        <p:txBody>
          <a:bodyPr wrap="square" lIns="0" tIns="0" rIns="0" bIns="0" rtlCol="0" anchor="ctr"/>
          <a:lstStyle/>
          <a:p>
            <a:pPr algn="ctr" indent="0" marL="0">
              <a:buNone/>
            </a:pPr>
            <a:r>
              <a:rPr lang="en-US" sz="1400" dirty="0">
                <a:solidFill>
                  <a:srgbClr val="25252B"/>
                </a:solidFill>
                <a:latin typeface="Arial" pitchFamily="34" charset="0"/>
                <a:ea typeface="Arial" pitchFamily="34" charset="-122"/>
                <a:cs typeface="Arial" pitchFamily="34" charset="-120"/>
              </a:rPr>
              <a:t>0</a:t>
            </a:r>
            <a:endParaRPr lang="en-US" sz="1400" dirty="0"/>
          </a:p>
        </p:txBody>
      </p:sp>
      <p:sp>
        <p:nvSpPr>
          <p:cNvPr id="28" name="Text 26"/>
          <p:cNvSpPr/>
          <p:nvPr/>
        </p:nvSpPr>
        <p:spPr>
          <a:xfrm>
            <a:off x="7955280" y="3703320"/>
            <a:ext cx="1097280" cy="320040"/>
          </a:xfrm>
          <a:prstGeom prst="rect">
            <a:avLst/>
          </a:prstGeom>
          <a:noFill/>
          <a:ln/>
        </p:spPr>
        <p:txBody>
          <a:bodyPr wrap="square" lIns="0" tIns="0" rIns="0" bIns="0" rtlCol="0" anchor="ctr"/>
          <a:lstStyle/>
          <a:p>
            <a:pPr algn="ctr" indent="0" marL="0">
              <a:buNone/>
            </a:pPr>
            <a:r>
              <a:rPr lang="en-US" sz="1600" b="1" dirty="0">
                <a:solidFill>
                  <a:srgbClr val="A52A75"/>
                </a:solidFill>
                <a:latin typeface="Cambria Math" pitchFamily="34" charset="0"/>
                <a:ea typeface="Cambria Math" pitchFamily="34" charset="-122"/>
                <a:cs typeface="Cambria Math" pitchFamily="34" charset="-120"/>
              </a:rPr>
              <a:t>y=x/2</a:t>
            </a:r>
            <a:endParaRPr lang="en-US" sz="1600" dirty="0"/>
          </a:p>
        </p:txBody>
      </p:sp>
      <p:sp>
        <p:nvSpPr>
          <p:cNvPr id="29" name="Shape 27"/>
          <p:cNvSpPr/>
          <p:nvPr/>
        </p:nvSpPr>
        <p:spPr>
          <a:xfrm>
            <a:off x="8503920" y="3913632"/>
            <a:ext cx="0" cy="310896"/>
          </a:xfrm>
          <a:prstGeom prst="line">
            <a:avLst/>
          </a:prstGeom>
          <a:noFill/>
          <a:ln w="25400">
            <a:solidFill>
              <a:srgbClr val="A52A75"/>
            </a:solidFill>
            <a:prstDash val="solid"/>
          </a:ln>
        </p:spPr>
      </p:sp>
      <p:sp>
        <p:nvSpPr>
          <p:cNvPr id="30" name="Text 28"/>
          <p:cNvSpPr/>
          <p:nvPr/>
        </p:nvSpPr>
        <p:spPr>
          <a:xfrm>
            <a:off x="9601200" y="3703320"/>
            <a:ext cx="457200" cy="320040"/>
          </a:xfrm>
          <a:prstGeom prst="rect">
            <a:avLst/>
          </a:prstGeom>
          <a:noFill/>
          <a:ln/>
        </p:spPr>
        <p:txBody>
          <a:bodyPr wrap="square" lIns="0" tIns="0" rIns="0" bIns="0" rtlCol="0" anchor="ctr"/>
          <a:lstStyle/>
          <a:p>
            <a:pPr algn="ctr" indent="0" marL="0">
              <a:buNone/>
            </a:pPr>
            <a:r>
              <a:rPr lang="en-US" sz="1800" b="1" dirty="0">
                <a:solidFill>
                  <a:srgbClr val="3E7DA6"/>
                </a:solidFill>
                <a:latin typeface="Cambria Math" pitchFamily="34" charset="0"/>
                <a:ea typeface="Cambria Math" pitchFamily="34" charset="-122"/>
                <a:cs typeface="Cambria Math" pitchFamily="34" charset="-120"/>
              </a:rPr>
              <a:t>x</a:t>
            </a:r>
            <a:endParaRPr lang="en-US" sz="1800" dirty="0"/>
          </a:p>
        </p:txBody>
      </p:sp>
      <p:sp>
        <p:nvSpPr>
          <p:cNvPr id="31" name="Shape 29"/>
          <p:cNvSpPr/>
          <p:nvPr/>
        </p:nvSpPr>
        <p:spPr>
          <a:xfrm>
            <a:off x="9829800" y="3913632"/>
            <a:ext cx="0" cy="310896"/>
          </a:xfrm>
          <a:prstGeom prst="line">
            <a:avLst/>
          </a:prstGeom>
          <a:noFill/>
          <a:ln w="25400">
            <a:solidFill>
              <a:srgbClr val="3E7DA6"/>
            </a:solidFill>
            <a:prstDash val="solid"/>
          </a:ln>
        </p:spPr>
      </p:sp>
      <p:sp>
        <p:nvSpPr>
          <p:cNvPr id="32" name="Text 30"/>
          <p:cNvSpPr/>
          <p:nvPr/>
        </p:nvSpPr>
        <p:spPr>
          <a:xfrm>
            <a:off x="1188720" y="5120640"/>
            <a:ext cx="9829800" cy="64008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Same topic, different witness structure: one fixed minimum vs. a smaller value chosen after x.</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NEGATION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Negating multiple quantifiers: a mechanical method</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21</a:t>
            </a:r>
            <a:endParaRPr lang="en-US" sz="1000" dirty="0"/>
          </a:p>
        </p:txBody>
      </p:sp>
      <p:sp>
        <p:nvSpPr>
          <p:cNvPr id="9" name="Text 7"/>
          <p:cNvSpPr/>
          <p:nvPr/>
        </p:nvSpPr>
        <p:spPr>
          <a:xfrm>
            <a:off x="685800" y="1234440"/>
            <a:ext cx="3017520" cy="475488"/>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Quantifier rules</a:t>
            </a:r>
            <a:endParaRPr lang="en-US" sz="2100" dirty="0"/>
          </a:p>
        </p:txBody>
      </p:sp>
      <p:sp>
        <p:nvSpPr>
          <p:cNvPr id="10" name="Text 8"/>
          <p:cNvSpPr/>
          <p:nvPr/>
        </p:nvSpPr>
        <p:spPr>
          <a:xfrm>
            <a:off x="1005840" y="1965960"/>
            <a:ext cx="2377440" cy="566928"/>
          </a:xfrm>
          <a:prstGeom prst="rect">
            <a:avLst/>
          </a:prstGeom>
          <a:noFill/>
          <a:ln/>
        </p:spPr>
        <p:txBody>
          <a:bodyPr wrap="square" lIns="254" tIns="254" rIns="254" bIns="254" rtlCol="0" anchor="ctr">
            <a:normAutofit/>
          </a:bodyPr>
          <a:lstStyle/>
          <a:p>
            <a:pPr algn="ctr" indent="0" marL="0">
              <a:buNone/>
            </a:pPr>
            <a:r>
              <a:rPr lang="en-US" sz="2800" dirty="0">
                <a:solidFill>
                  <a:srgbClr val="25252B"/>
                </a:solidFill>
                <a:latin typeface="Cambria Math" pitchFamily="34" charset="0"/>
                <a:ea typeface="Cambria Math" pitchFamily="34" charset="-122"/>
                <a:cs typeface="Cambria Math" pitchFamily="34" charset="-120"/>
              </a:rPr>
              <a:t>¬∀  ≡  ∃¬</a:t>
            </a:r>
            <a:endParaRPr lang="en-US" sz="2800" dirty="0"/>
          </a:p>
        </p:txBody>
      </p:sp>
      <p:sp>
        <p:nvSpPr>
          <p:cNvPr id="11" name="Text 9"/>
          <p:cNvSpPr/>
          <p:nvPr/>
        </p:nvSpPr>
        <p:spPr>
          <a:xfrm>
            <a:off x="1005840" y="2788920"/>
            <a:ext cx="2377440" cy="566928"/>
          </a:xfrm>
          <a:prstGeom prst="rect">
            <a:avLst/>
          </a:prstGeom>
          <a:noFill/>
          <a:ln/>
        </p:spPr>
        <p:txBody>
          <a:bodyPr wrap="square" lIns="254" tIns="254" rIns="254" bIns="254" rtlCol="0" anchor="ctr">
            <a:normAutofit/>
          </a:bodyPr>
          <a:lstStyle/>
          <a:p>
            <a:pPr algn="ctr" indent="0" marL="0">
              <a:buNone/>
            </a:pPr>
            <a:r>
              <a:rPr lang="en-US" sz="2800" dirty="0">
                <a:solidFill>
                  <a:srgbClr val="25252B"/>
                </a:solidFill>
                <a:latin typeface="Cambria Math" pitchFamily="34" charset="0"/>
                <a:ea typeface="Cambria Math" pitchFamily="34" charset="-122"/>
                <a:cs typeface="Cambria Math" pitchFamily="34" charset="-120"/>
              </a:rPr>
              <a:t>¬∃  ≡  ∀¬</a:t>
            </a:r>
            <a:endParaRPr lang="en-US" sz="2800" dirty="0"/>
          </a:p>
        </p:txBody>
      </p:sp>
      <p:sp>
        <p:nvSpPr>
          <p:cNvPr id="12" name="Text 10"/>
          <p:cNvSpPr/>
          <p:nvPr/>
        </p:nvSpPr>
        <p:spPr>
          <a:xfrm>
            <a:off x="868680" y="3657600"/>
            <a:ext cx="2697480" cy="914400"/>
          </a:xfrm>
          <a:prstGeom prst="rect">
            <a:avLst/>
          </a:prstGeom>
          <a:noFill/>
          <a:ln/>
        </p:spPr>
        <p:txBody>
          <a:bodyPr wrap="square" lIns="0" tIns="0" rIns="0" bIns="0"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Move the negation inward one quantifier at a time.</a:t>
            </a:r>
            <a:endParaRPr lang="en-US" sz="1900" dirty="0"/>
          </a:p>
        </p:txBody>
      </p:sp>
      <p:sp>
        <p:nvSpPr>
          <p:cNvPr id="13" name="Text 11"/>
          <p:cNvSpPr/>
          <p:nvPr/>
        </p:nvSpPr>
        <p:spPr>
          <a:xfrm>
            <a:off x="4069080" y="1234440"/>
            <a:ext cx="7406640" cy="475488"/>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General pattern</a:t>
            </a:r>
            <a:endParaRPr lang="en-US" sz="2100" dirty="0"/>
          </a:p>
        </p:txBody>
      </p:sp>
      <p:sp>
        <p:nvSpPr>
          <p:cNvPr id="14" name="Text 12"/>
          <p:cNvSpPr/>
          <p:nvPr/>
        </p:nvSpPr>
        <p:spPr>
          <a:xfrm>
            <a:off x="4343400" y="1856232"/>
            <a:ext cx="6858000" cy="594360"/>
          </a:xfrm>
          <a:prstGeom prst="rect">
            <a:avLst/>
          </a:prstGeom>
          <a:noFill/>
          <a:ln/>
        </p:spPr>
        <p:txBody>
          <a:bodyPr wrap="square" lIns="254" tIns="254" rIns="254" bIns="254" rtlCol="0" anchor="ctr">
            <a:normAutofit/>
          </a:bodyPr>
          <a:lstStyle/>
          <a:p>
            <a:pPr algn="ctr" indent="0" marL="0">
              <a:buNone/>
            </a:pPr>
            <a:r>
              <a:rPr lang="en-US" sz="2600" dirty="0">
                <a:solidFill>
                  <a:srgbClr val="25252B"/>
                </a:solidFill>
                <a:latin typeface="Cambria Math" pitchFamily="34" charset="0"/>
                <a:ea typeface="Cambria Math" pitchFamily="34" charset="-122"/>
                <a:cs typeface="Cambria Math" pitchFamily="34" charset="-120"/>
              </a:rPr>
              <a:t>¬(Q₁x₁ Q₂x₂ ··· Qₙxₙ P)</a:t>
            </a:r>
            <a:endParaRPr lang="en-US" sz="2600" dirty="0"/>
          </a:p>
        </p:txBody>
      </p:sp>
      <p:sp>
        <p:nvSpPr>
          <p:cNvPr id="15" name="Text 13"/>
          <p:cNvSpPr/>
          <p:nvPr/>
        </p:nvSpPr>
        <p:spPr>
          <a:xfrm>
            <a:off x="4800600" y="2542032"/>
            <a:ext cx="5943600" cy="384048"/>
          </a:xfrm>
          <a:prstGeom prst="rect">
            <a:avLst/>
          </a:prstGeom>
          <a:noFill/>
          <a:ln/>
        </p:spPr>
        <p:txBody>
          <a:bodyPr wrap="square" lIns="0" tIns="0" rIns="0" bIns="0" rtlCol="0" anchor="ctr"/>
          <a:lstStyle/>
          <a:p>
            <a:pPr algn="ctr" indent="0" marL="0">
              <a:buNone/>
            </a:pPr>
            <a:r>
              <a:rPr lang="en-US" sz="1850" dirty="0">
                <a:solidFill>
                  <a:srgbClr val="5E626B"/>
                </a:solidFill>
                <a:latin typeface="Arial" pitchFamily="34" charset="0"/>
                <a:ea typeface="Arial" pitchFamily="34" charset="-122"/>
                <a:cs typeface="Arial" pitchFamily="34" charset="-120"/>
              </a:rPr>
              <a:t>Flip each quantifier and negate the final predicate.</a:t>
            </a:r>
            <a:endParaRPr lang="en-US" sz="1850" dirty="0"/>
          </a:p>
        </p:txBody>
      </p:sp>
      <p:sp>
        <p:nvSpPr>
          <p:cNvPr id="16" name="Text 14"/>
          <p:cNvSpPr/>
          <p:nvPr/>
        </p:nvSpPr>
        <p:spPr>
          <a:xfrm>
            <a:off x="4251960" y="3154680"/>
            <a:ext cx="2743200" cy="411480"/>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Three-quantifier example</a:t>
            </a:r>
            <a:endParaRPr lang="en-US" sz="1800" dirty="0"/>
          </a:p>
        </p:txBody>
      </p:sp>
      <p:sp>
        <p:nvSpPr>
          <p:cNvPr id="17" name="Text 15"/>
          <p:cNvSpPr/>
          <p:nvPr/>
        </p:nvSpPr>
        <p:spPr>
          <a:xfrm>
            <a:off x="4389120" y="3794760"/>
            <a:ext cx="6583680" cy="566928"/>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¬∀x∃y∀z P(x,y,z)</a:t>
            </a:r>
            <a:endParaRPr lang="en-US" sz="2500" dirty="0"/>
          </a:p>
        </p:txBody>
      </p:sp>
      <p:sp>
        <p:nvSpPr>
          <p:cNvPr id="18" name="Text 16"/>
          <p:cNvSpPr/>
          <p:nvPr/>
        </p:nvSpPr>
        <p:spPr>
          <a:xfrm>
            <a:off x="4389120" y="4709160"/>
            <a:ext cx="6583680" cy="566928"/>
          </a:xfrm>
          <a:prstGeom prst="rect">
            <a:avLst/>
          </a:prstGeom>
          <a:solidFill>
            <a:srgbClr val="E9F4EA"/>
          </a:solidFill>
          <a:ln w="12700">
            <a:solidFill>
              <a:srgbClr val="4B8B5B"/>
            </a:solid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 ∃x∀y∃z ¬P(x,y,z)</a:t>
            </a:r>
            <a:endParaRPr lang="en-US" sz="2500" dirty="0"/>
          </a:p>
        </p:txBody>
      </p:sp>
      <p:sp>
        <p:nvSpPr>
          <p:cNvPr id="19" name="Text 17"/>
          <p:cNvSpPr/>
          <p:nvPr/>
        </p:nvSpPr>
        <p:spPr>
          <a:xfrm>
            <a:off x="1143000" y="5623560"/>
            <a:ext cx="9829800" cy="53035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50" b="1" dirty="0">
                <a:solidFill>
                  <a:srgbClr val="25252B"/>
                </a:solidFill>
                <a:latin typeface="Arial" pitchFamily="34" charset="0"/>
                <a:ea typeface="Arial" pitchFamily="34" charset="-122"/>
                <a:cs typeface="Arial" pitchFamily="34" charset="-120"/>
              </a:rPr>
              <a:t>Sanity check: the negation must describe exactly how the original statement can fail.</a:t>
            </a: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NEGATION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Worked negations with Loves(x,y)</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22</a:t>
            </a:r>
            <a:endParaRPr lang="en-US" sz="1000" dirty="0"/>
          </a:p>
        </p:txBody>
      </p:sp>
      <p:sp>
        <p:nvSpPr>
          <p:cNvPr id="9" name="Text 7"/>
          <p:cNvSpPr/>
          <p:nvPr/>
        </p:nvSpPr>
        <p:spPr>
          <a:xfrm>
            <a:off x="685800" y="1234440"/>
            <a:ext cx="182880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Original claim</a:t>
            </a:r>
            <a:endParaRPr lang="en-US" sz="1900" dirty="0"/>
          </a:p>
        </p:txBody>
      </p:sp>
      <p:sp>
        <p:nvSpPr>
          <p:cNvPr id="10" name="Text 8"/>
          <p:cNvSpPr/>
          <p:nvPr/>
        </p:nvSpPr>
        <p:spPr>
          <a:xfrm>
            <a:off x="2697480" y="1170432"/>
            <a:ext cx="3108960" cy="594360"/>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11" name="Text 9"/>
          <p:cNvSpPr/>
          <p:nvPr/>
        </p:nvSpPr>
        <p:spPr>
          <a:xfrm>
            <a:off x="6080760" y="1298448"/>
            <a:ext cx="4480560" cy="41148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Everyone loves someone.</a:t>
            </a:r>
            <a:endParaRPr lang="en-US" sz="2000" dirty="0"/>
          </a:p>
        </p:txBody>
      </p:sp>
      <p:sp>
        <p:nvSpPr>
          <p:cNvPr id="12" name="Text 10"/>
          <p:cNvSpPr/>
          <p:nvPr/>
        </p:nvSpPr>
        <p:spPr>
          <a:xfrm>
            <a:off x="685800" y="2148840"/>
            <a:ext cx="182880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Negation</a:t>
            </a:r>
            <a:endParaRPr lang="en-US" sz="1900" dirty="0"/>
          </a:p>
        </p:txBody>
      </p:sp>
      <p:sp>
        <p:nvSpPr>
          <p:cNvPr id="13" name="Text 11"/>
          <p:cNvSpPr/>
          <p:nvPr/>
        </p:nvSpPr>
        <p:spPr>
          <a:xfrm>
            <a:off x="2697480" y="2084832"/>
            <a:ext cx="3108960" cy="594360"/>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14" name="Text 12"/>
          <p:cNvSpPr/>
          <p:nvPr/>
        </p:nvSpPr>
        <p:spPr>
          <a:xfrm>
            <a:off x="6080760" y="2212848"/>
            <a:ext cx="4754880" cy="411480"/>
          </a:xfrm>
          <a:prstGeom prst="rect">
            <a:avLst/>
          </a:prstGeom>
          <a:noFill/>
          <a:ln/>
        </p:spPr>
        <p:txBody>
          <a:bodyPr wrap="square" lIns="0" tIns="0" rIns="0" bIns="0" rtlCol="0" anchor="ctr"/>
          <a:lstStyle/>
          <a:p>
            <a:pPr indent="0" marL="0">
              <a:buNone/>
            </a:pPr>
            <a:r>
              <a:rPr lang="en-US" sz="2000" b="1" dirty="0">
                <a:solidFill>
                  <a:srgbClr val="7D1F58"/>
                </a:solidFill>
                <a:latin typeface="Arial" pitchFamily="34" charset="0"/>
                <a:ea typeface="Arial" pitchFamily="34" charset="-122"/>
                <a:cs typeface="Arial" pitchFamily="34" charset="-120"/>
              </a:rPr>
              <a:t>There is a person who loves nobody.</a:t>
            </a:r>
            <a:endParaRPr lang="en-US" sz="2000" dirty="0"/>
          </a:p>
        </p:txBody>
      </p:sp>
      <p:sp>
        <p:nvSpPr>
          <p:cNvPr id="15" name="Shape 13"/>
          <p:cNvSpPr/>
          <p:nvPr/>
        </p:nvSpPr>
        <p:spPr>
          <a:xfrm>
            <a:off x="777240" y="3017520"/>
            <a:ext cx="10515600" cy="0"/>
          </a:xfrm>
          <a:prstGeom prst="line">
            <a:avLst/>
          </a:prstGeom>
          <a:noFill/>
          <a:ln w="12700">
            <a:solidFill>
              <a:srgbClr val="D8D2D6"/>
            </a:solidFill>
            <a:prstDash val="solid"/>
          </a:ln>
        </p:spPr>
      </p:sp>
      <p:sp>
        <p:nvSpPr>
          <p:cNvPr id="16" name="Text 14"/>
          <p:cNvSpPr/>
          <p:nvPr/>
        </p:nvSpPr>
        <p:spPr>
          <a:xfrm>
            <a:off x="685800" y="3337560"/>
            <a:ext cx="1828800" cy="45720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Original claim</a:t>
            </a:r>
            <a:endParaRPr lang="en-US" sz="1900" dirty="0"/>
          </a:p>
        </p:txBody>
      </p:sp>
      <p:sp>
        <p:nvSpPr>
          <p:cNvPr id="17" name="Text 15"/>
          <p:cNvSpPr/>
          <p:nvPr/>
        </p:nvSpPr>
        <p:spPr>
          <a:xfrm>
            <a:off x="2697480" y="3273552"/>
            <a:ext cx="3108960" cy="594360"/>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18" name="Text 16"/>
          <p:cNvSpPr/>
          <p:nvPr/>
        </p:nvSpPr>
        <p:spPr>
          <a:xfrm>
            <a:off x="6080760" y="3401568"/>
            <a:ext cx="4480560" cy="41148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Someone loves everyone.</a:t>
            </a:r>
            <a:endParaRPr lang="en-US" sz="2000" dirty="0"/>
          </a:p>
        </p:txBody>
      </p:sp>
      <p:sp>
        <p:nvSpPr>
          <p:cNvPr id="19" name="Text 17"/>
          <p:cNvSpPr/>
          <p:nvPr/>
        </p:nvSpPr>
        <p:spPr>
          <a:xfrm>
            <a:off x="685800" y="4251960"/>
            <a:ext cx="182880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Negation</a:t>
            </a:r>
            <a:endParaRPr lang="en-US" sz="1900" dirty="0"/>
          </a:p>
        </p:txBody>
      </p:sp>
      <p:sp>
        <p:nvSpPr>
          <p:cNvPr id="20" name="Text 18"/>
          <p:cNvSpPr/>
          <p:nvPr/>
        </p:nvSpPr>
        <p:spPr>
          <a:xfrm>
            <a:off x="2697480" y="4187952"/>
            <a:ext cx="3108960" cy="594360"/>
          </a:xfrm>
          <a:prstGeom prst="rect">
            <a:avLst/>
          </a:prstGeom>
          <a:noFill/>
          <a:ln/>
        </p:spPr>
        <p:txBody>
          <a:bodyPr wrap="square" lIns="254" tIns="254" rIns="254" bIns="254" rtlCol="0" anchor="ctr">
            <a:normAutofit/>
          </a:bodyPr>
          <a:lstStyle/>
          <a:p>
            <a:pPr algn="ctr" indent="0" marL="0">
              <a:buNone/>
            </a:pPr>
            <a:r>
              <a:rPr lang="en-US" sz="2500" dirty="0">
                <a:solidFill>
                  <a:srgbClr val="25252B"/>
                </a:solidFill>
                <a:latin typeface="Cambria Math" pitchFamily="34" charset="0"/>
                <a:ea typeface="Cambria Math" pitchFamily="34" charset="-122"/>
                <a:cs typeface="Cambria Math" pitchFamily="34" charset="-120"/>
              </a:rPr>
              <a:t>∀x∃y ¬Loves(x,y)</a:t>
            </a:r>
            <a:endParaRPr lang="en-US" sz="2500" dirty="0"/>
          </a:p>
        </p:txBody>
      </p:sp>
      <p:sp>
        <p:nvSpPr>
          <p:cNvPr id="21" name="Text 19"/>
          <p:cNvSpPr/>
          <p:nvPr/>
        </p:nvSpPr>
        <p:spPr>
          <a:xfrm>
            <a:off x="6080760" y="4315968"/>
            <a:ext cx="4846320" cy="438912"/>
          </a:xfrm>
          <a:prstGeom prst="rect">
            <a:avLst/>
          </a:prstGeom>
          <a:noFill/>
          <a:ln/>
        </p:spPr>
        <p:txBody>
          <a:bodyPr wrap="square" lIns="0" tIns="0" rIns="0" bIns="0" rtlCol="0" anchor="ctr">
            <a:normAutofit/>
          </a:bodyPr>
          <a:lstStyle/>
          <a:p>
            <a:pPr indent="0" marL="0">
              <a:buNone/>
            </a:pPr>
            <a:r>
              <a:rPr lang="en-US" sz="1950" b="1" dirty="0">
                <a:solidFill>
                  <a:srgbClr val="7D1F58"/>
                </a:solidFill>
                <a:latin typeface="Arial" pitchFamily="34" charset="0"/>
                <a:ea typeface="Arial" pitchFamily="34" charset="-122"/>
                <a:cs typeface="Arial" pitchFamily="34" charset="-120"/>
              </a:rPr>
              <a:t>Every person fails to love at least one person.</a:t>
            </a:r>
            <a:endParaRPr lang="en-US" sz="1950" dirty="0"/>
          </a:p>
        </p:txBody>
      </p:sp>
      <p:sp>
        <p:nvSpPr>
          <p:cNvPr id="22" name="Text 20"/>
          <p:cNvSpPr/>
          <p:nvPr/>
        </p:nvSpPr>
        <p:spPr>
          <a:xfrm>
            <a:off x="1143000" y="5440680"/>
            <a:ext cx="978408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Not all ≠ none. Preserve the full quantifier structure when verbalizing a negation.</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NEGATION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Negation with domains and connectives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23</a:t>
            </a:r>
            <a:endParaRPr lang="en-US" sz="1000" dirty="0"/>
          </a:p>
        </p:txBody>
      </p:sp>
      <p:sp>
        <p:nvSpPr>
          <p:cNvPr id="9" name="Text 7"/>
          <p:cNvSpPr/>
          <p:nvPr/>
        </p:nvSpPr>
        <p:spPr>
          <a:xfrm>
            <a:off x="685800" y="1143000"/>
            <a:ext cx="8321040" cy="393192"/>
          </a:xfrm>
          <a:prstGeom prst="rect">
            <a:avLst/>
          </a:prstGeom>
          <a:noFill/>
          <a:ln/>
        </p:spPr>
        <p:txBody>
          <a:bodyPr wrap="square" lIns="0" tIns="0" rIns="0" bIns="0" rtlCol="0" anchor="ctr"/>
          <a:lstStyle/>
          <a:p>
            <a:pPr indent="0" marL="0">
              <a:buNone/>
            </a:pPr>
            <a:r>
              <a:rPr lang="en-US" sz="2000" dirty="0">
                <a:solidFill>
                  <a:srgbClr val="5E626B"/>
                </a:solidFill>
                <a:latin typeface="Arial" pitchFamily="34" charset="0"/>
                <a:ea typeface="Arial" pitchFamily="34" charset="-122"/>
                <a:cs typeface="Arial" pitchFamily="34" charset="-120"/>
              </a:rPr>
              <a:t>Original statement: every circle has a square of the same color.</a:t>
            </a:r>
            <a:endParaRPr lang="en-US" sz="2000" dirty="0"/>
          </a:p>
        </p:txBody>
      </p:sp>
      <p:sp>
        <p:nvSpPr>
          <p:cNvPr id="10" name="Text 8"/>
          <p:cNvSpPr/>
          <p:nvPr/>
        </p:nvSpPr>
        <p:spPr>
          <a:xfrm>
            <a:off x="749808" y="1755648"/>
            <a:ext cx="10698480" cy="685800"/>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2400" dirty="0">
                <a:solidFill>
                  <a:srgbClr val="25252B"/>
                </a:solidFill>
                <a:latin typeface="Cambria Math" pitchFamily="34" charset="0"/>
                <a:ea typeface="Cambria Math" pitchFamily="34" charset="-122"/>
                <a:cs typeface="Cambria Math" pitchFamily="34" charset="-120"/>
              </a:rPr>
              <a:t>∀x(Circle(x) → ∃y(Square(y) ∧ SameColor(x,y)))</a:t>
            </a:r>
            <a:endParaRPr lang="en-US" sz="2400" dirty="0"/>
          </a:p>
        </p:txBody>
      </p:sp>
      <p:sp>
        <p:nvSpPr>
          <p:cNvPr id="11" name="Text 9"/>
          <p:cNvSpPr/>
          <p:nvPr/>
        </p:nvSpPr>
        <p:spPr>
          <a:xfrm>
            <a:off x="731520" y="2697480"/>
            <a:ext cx="1828800" cy="43891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750" b="1" dirty="0">
                <a:solidFill>
                  <a:srgbClr val="25252B"/>
                </a:solidFill>
                <a:latin typeface="Arial" pitchFamily="34" charset="0"/>
                <a:ea typeface="Arial" pitchFamily="34" charset="-122"/>
                <a:cs typeface="Arial" pitchFamily="34" charset="-120"/>
              </a:rPr>
              <a:t>1. Flip ∀</a:t>
            </a:r>
            <a:endParaRPr lang="en-US" sz="1750" dirty="0"/>
          </a:p>
        </p:txBody>
      </p:sp>
      <p:sp>
        <p:nvSpPr>
          <p:cNvPr id="12" name="Text 10"/>
          <p:cNvSpPr/>
          <p:nvPr/>
        </p:nvSpPr>
        <p:spPr>
          <a:xfrm>
            <a:off x="2788920" y="2642616"/>
            <a:ext cx="8458200" cy="530352"/>
          </a:xfrm>
          <a:prstGeom prst="rect">
            <a:avLst/>
          </a:prstGeom>
          <a:noFill/>
          <a:ln/>
        </p:spPr>
        <p:txBody>
          <a:bodyPr wrap="square" lIns="254" tIns="254" rIns="254" bIns="254" rtlCol="0" anchor="ctr">
            <a:normAutofit/>
          </a:bodyPr>
          <a:lstStyle/>
          <a:p>
            <a:pPr algn="l" indent="0" marL="0">
              <a:buNone/>
            </a:pPr>
            <a:r>
              <a:rPr lang="en-US" sz="2000" dirty="0">
                <a:solidFill>
                  <a:srgbClr val="25252B"/>
                </a:solidFill>
                <a:latin typeface="Cambria Math" pitchFamily="34" charset="0"/>
                <a:ea typeface="Cambria Math" pitchFamily="34" charset="-122"/>
                <a:cs typeface="Cambria Math" pitchFamily="34" charset="-120"/>
              </a:rPr>
              <a:t>∃x ¬(Circle(x) → ∃y(...))</a:t>
            </a:r>
            <a:endParaRPr lang="en-US" sz="2000" dirty="0"/>
          </a:p>
        </p:txBody>
      </p:sp>
      <p:sp>
        <p:nvSpPr>
          <p:cNvPr id="13" name="Text 11"/>
          <p:cNvSpPr/>
          <p:nvPr/>
        </p:nvSpPr>
        <p:spPr>
          <a:xfrm>
            <a:off x="731520" y="3383280"/>
            <a:ext cx="182880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750" b="1" dirty="0">
                <a:solidFill>
                  <a:srgbClr val="25252B"/>
                </a:solidFill>
                <a:latin typeface="Arial" pitchFamily="34" charset="0"/>
                <a:ea typeface="Arial" pitchFamily="34" charset="-122"/>
                <a:cs typeface="Arial" pitchFamily="34" charset="-120"/>
              </a:rPr>
              <a:t>2. Negate →</a:t>
            </a:r>
            <a:endParaRPr lang="en-US" sz="1750" dirty="0"/>
          </a:p>
        </p:txBody>
      </p:sp>
      <p:sp>
        <p:nvSpPr>
          <p:cNvPr id="14" name="Text 12"/>
          <p:cNvSpPr/>
          <p:nvPr/>
        </p:nvSpPr>
        <p:spPr>
          <a:xfrm>
            <a:off x="2788920" y="3328416"/>
            <a:ext cx="8458200" cy="530352"/>
          </a:xfrm>
          <a:prstGeom prst="rect">
            <a:avLst/>
          </a:prstGeom>
          <a:noFill/>
          <a:ln/>
        </p:spPr>
        <p:txBody>
          <a:bodyPr wrap="square" lIns="254" tIns="254" rIns="254" bIns="254" rtlCol="0" anchor="ctr">
            <a:normAutofit/>
          </a:bodyPr>
          <a:lstStyle/>
          <a:p>
            <a:pPr algn="l" indent="0" marL="0">
              <a:buNone/>
            </a:pPr>
            <a:r>
              <a:rPr lang="en-US" sz="2000" dirty="0">
                <a:solidFill>
                  <a:srgbClr val="25252B"/>
                </a:solidFill>
                <a:latin typeface="Cambria Math" pitchFamily="34" charset="0"/>
                <a:ea typeface="Cambria Math" pitchFamily="34" charset="-122"/>
                <a:cs typeface="Cambria Math" pitchFamily="34" charset="-120"/>
              </a:rPr>
              <a:t>∃x(Circle(x) ∧ ¬∃y(...))</a:t>
            </a:r>
            <a:endParaRPr lang="en-US" sz="2000" dirty="0"/>
          </a:p>
        </p:txBody>
      </p:sp>
      <p:sp>
        <p:nvSpPr>
          <p:cNvPr id="15" name="Text 13"/>
          <p:cNvSpPr/>
          <p:nvPr/>
        </p:nvSpPr>
        <p:spPr>
          <a:xfrm>
            <a:off x="731520" y="4069080"/>
            <a:ext cx="1828800" cy="43891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750" b="1" dirty="0">
                <a:solidFill>
                  <a:srgbClr val="25252B"/>
                </a:solidFill>
                <a:latin typeface="Arial" pitchFamily="34" charset="0"/>
                <a:ea typeface="Arial" pitchFamily="34" charset="-122"/>
                <a:cs typeface="Arial" pitchFamily="34" charset="-120"/>
              </a:rPr>
              <a:t>3. Flip ∃</a:t>
            </a:r>
            <a:endParaRPr lang="en-US" sz="1750" dirty="0"/>
          </a:p>
        </p:txBody>
      </p:sp>
      <p:sp>
        <p:nvSpPr>
          <p:cNvPr id="16" name="Text 14"/>
          <p:cNvSpPr/>
          <p:nvPr/>
        </p:nvSpPr>
        <p:spPr>
          <a:xfrm>
            <a:off x="2788920" y="4014216"/>
            <a:ext cx="8458200" cy="530352"/>
          </a:xfrm>
          <a:prstGeom prst="rect">
            <a:avLst/>
          </a:prstGeom>
          <a:no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∃x(Circle(x) ∧ ∀y ¬(Square(y) ∧ SameColor(x,y)))</a:t>
            </a:r>
            <a:endParaRPr lang="en-US" sz="1850" dirty="0"/>
          </a:p>
        </p:txBody>
      </p:sp>
      <p:sp>
        <p:nvSpPr>
          <p:cNvPr id="17" name="Text 15"/>
          <p:cNvSpPr/>
          <p:nvPr/>
        </p:nvSpPr>
        <p:spPr>
          <a:xfrm>
            <a:off x="731520" y="4754880"/>
            <a:ext cx="182880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750" b="1" dirty="0">
                <a:solidFill>
                  <a:srgbClr val="25252B"/>
                </a:solidFill>
                <a:latin typeface="Arial" pitchFamily="34" charset="0"/>
                <a:ea typeface="Arial" pitchFamily="34" charset="-122"/>
                <a:cs typeface="Arial" pitchFamily="34" charset="-120"/>
              </a:rPr>
              <a:t>4. Apply De Morgan</a:t>
            </a:r>
            <a:endParaRPr lang="en-US" sz="1750" dirty="0"/>
          </a:p>
        </p:txBody>
      </p:sp>
      <p:sp>
        <p:nvSpPr>
          <p:cNvPr id="18" name="Text 16"/>
          <p:cNvSpPr/>
          <p:nvPr/>
        </p:nvSpPr>
        <p:spPr>
          <a:xfrm>
            <a:off x="2788920" y="4700016"/>
            <a:ext cx="8458200" cy="530352"/>
          </a:xfrm>
          <a:prstGeom prst="rect">
            <a:avLst/>
          </a:prstGeom>
          <a:no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∃x(Circle(x) ∧ ∀y(¬Square(y) ∨ ¬SameColor(x,y)))</a:t>
            </a:r>
            <a:endParaRPr lang="en-US" sz="1850" dirty="0"/>
          </a:p>
        </p:txBody>
      </p:sp>
      <p:sp>
        <p:nvSpPr>
          <p:cNvPr id="19" name="Text 17"/>
          <p:cNvSpPr/>
          <p:nvPr/>
        </p:nvSpPr>
        <p:spPr>
          <a:xfrm>
            <a:off x="1051560" y="5577840"/>
            <a:ext cx="1005840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English negation: there is a circle that has no square of the same color.</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MISCONCEPTION CHECK</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Common errors - and how to repair them</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24</a:t>
            </a:r>
            <a:endParaRPr lang="en-US" sz="1000" dirty="0"/>
          </a:p>
        </p:txBody>
      </p:sp>
      <p:sp>
        <p:nvSpPr>
          <p:cNvPr id="9" name="Text 7"/>
          <p:cNvSpPr/>
          <p:nvPr/>
        </p:nvSpPr>
        <p:spPr>
          <a:xfrm>
            <a:off x="685800" y="1234440"/>
            <a:ext cx="5212080" cy="45720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Swapping mixed quantifiers</a:t>
            </a:r>
            <a:endParaRPr lang="en-US" sz="1900" dirty="0"/>
          </a:p>
        </p:txBody>
      </p:sp>
      <p:sp>
        <p:nvSpPr>
          <p:cNvPr id="10" name="Text 8"/>
          <p:cNvSpPr/>
          <p:nvPr/>
        </p:nvSpPr>
        <p:spPr>
          <a:xfrm>
            <a:off x="822960" y="1874520"/>
            <a:ext cx="4937760" cy="576072"/>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000" dirty="0">
                <a:solidFill>
                  <a:srgbClr val="25252B"/>
                </a:solidFill>
                <a:latin typeface="Cambria Math" pitchFamily="34" charset="0"/>
                <a:ea typeface="Cambria Math" pitchFamily="34" charset="-122"/>
                <a:cs typeface="Cambria Math" pitchFamily="34" charset="-120"/>
              </a:rPr>
              <a:t>∀x∃y P  ⇒  ∃y∀x P</a:t>
            </a:r>
            <a:endParaRPr lang="en-US" sz="2000" dirty="0"/>
          </a:p>
        </p:txBody>
      </p:sp>
      <p:sp>
        <p:nvSpPr>
          <p:cNvPr id="11" name="Text 9"/>
          <p:cNvSpPr/>
          <p:nvPr/>
        </p:nvSpPr>
        <p:spPr>
          <a:xfrm>
            <a:off x="868680" y="2651760"/>
            <a:ext cx="4800600" cy="594360"/>
          </a:xfrm>
          <a:prstGeom prst="rect">
            <a:avLst/>
          </a:prstGeom>
          <a:noFill/>
          <a:ln/>
        </p:spPr>
        <p:txBody>
          <a:bodyPr wrap="square" lIns="0" tIns="0" rIns="0" bIns="0" rtlCol="0" anchor="ctr">
            <a:normAutofit/>
          </a:bodyPr>
          <a:lstStyle/>
          <a:p>
            <a:pPr algn="ctr" indent="0" marL="0">
              <a:buNone/>
            </a:pPr>
            <a:r>
              <a:rPr lang="en-US" sz="1800" b="1" dirty="0">
                <a:solidFill>
                  <a:srgbClr val="4B8B5B"/>
                </a:solidFill>
                <a:latin typeface="Arial" pitchFamily="34" charset="0"/>
                <a:ea typeface="Arial" pitchFamily="34" charset="-122"/>
                <a:cs typeface="Arial" pitchFamily="34" charset="-120"/>
              </a:rPr>
              <a:t>Ask whether one common witness exists.</a:t>
            </a:r>
            <a:endParaRPr lang="en-US" sz="1800" dirty="0"/>
          </a:p>
        </p:txBody>
      </p:sp>
      <p:sp>
        <p:nvSpPr>
          <p:cNvPr id="12" name="Text 10"/>
          <p:cNvSpPr/>
          <p:nvPr/>
        </p:nvSpPr>
        <p:spPr>
          <a:xfrm>
            <a:off x="6355080" y="1234440"/>
            <a:ext cx="5212080" cy="45720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Flipping only the first quantifier</a:t>
            </a:r>
            <a:endParaRPr lang="en-US" sz="1900" dirty="0"/>
          </a:p>
        </p:txBody>
      </p:sp>
      <p:sp>
        <p:nvSpPr>
          <p:cNvPr id="13" name="Text 11"/>
          <p:cNvSpPr/>
          <p:nvPr/>
        </p:nvSpPr>
        <p:spPr>
          <a:xfrm>
            <a:off x="6492240" y="1874520"/>
            <a:ext cx="4937760" cy="576072"/>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000" dirty="0">
                <a:solidFill>
                  <a:srgbClr val="25252B"/>
                </a:solidFill>
                <a:latin typeface="Cambria Math" pitchFamily="34" charset="0"/>
                <a:ea typeface="Cambria Math" pitchFamily="34" charset="-122"/>
                <a:cs typeface="Cambria Math" pitchFamily="34" charset="-120"/>
              </a:rPr>
              <a:t>¬∀x∃y P  ⇒  ∃x∃y¬P</a:t>
            </a:r>
            <a:endParaRPr lang="en-US" sz="2000" dirty="0"/>
          </a:p>
        </p:txBody>
      </p:sp>
      <p:sp>
        <p:nvSpPr>
          <p:cNvPr id="14" name="Text 12"/>
          <p:cNvSpPr/>
          <p:nvPr/>
        </p:nvSpPr>
        <p:spPr>
          <a:xfrm>
            <a:off x="6537960" y="2651760"/>
            <a:ext cx="4800600" cy="594360"/>
          </a:xfrm>
          <a:prstGeom prst="rect">
            <a:avLst/>
          </a:prstGeom>
          <a:noFill/>
          <a:ln/>
        </p:spPr>
        <p:txBody>
          <a:bodyPr wrap="square" lIns="0" tIns="0" rIns="0" bIns="0" rtlCol="0" anchor="ctr">
            <a:normAutofit/>
          </a:bodyPr>
          <a:lstStyle/>
          <a:p>
            <a:pPr algn="ctr" indent="0" marL="0">
              <a:buNone/>
            </a:pPr>
            <a:r>
              <a:rPr lang="en-US" sz="1800" b="1" dirty="0">
                <a:solidFill>
                  <a:srgbClr val="4B8B5B"/>
                </a:solidFill>
                <a:latin typeface="Arial" pitchFamily="34" charset="0"/>
                <a:ea typeface="Arial" pitchFamily="34" charset="-122"/>
                <a:cs typeface="Arial" pitchFamily="34" charset="-120"/>
              </a:rPr>
              <a:t>Push ¬ inward through every quantifier.</a:t>
            </a:r>
            <a:endParaRPr lang="en-US" sz="1800" dirty="0"/>
          </a:p>
        </p:txBody>
      </p:sp>
      <p:sp>
        <p:nvSpPr>
          <p:cNvPr id="15" name="Text 13"/>
          <p:cNvSpPr/>
          <p:nvPr/>
        </p:nvSpPr>
        <p:spPr>
          <a:xfrm>
            <a:off x="685800" y="3566160"/>
            <a:ext cx="5212080" cy="45720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Using ∧ in a universal restriction</a:t>
            </a:r>
            <a:endParaRPr lang="en-US" sz="1900" dirty="0"/>
          </a:p>
        </p:txBody>
      </p:sp>
      <p:sp>
        <p:nvSpPr>
          <p:cNvPr id="16" name="Text 14"/>
          <p:cNvSpPr/>
          <p:nvPr/>
        </p:nvSpPr>
        <p:spPr>
          <a:xfrm>
            <a:off x="822960" y="4206240"/>
            <a:ext cx="4937760" cy="576072"/>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000" dirty="0">
                <a:solidFill>
                  <a:srgbClr val="25252B"/>
                </a:solidFill>
                <a:latin typeface="Cambria Math" pitchFamily="34" charset="0"/>
                <a:ea typeface="Cambria Math" pitchFamily="34" charset="-122"/>
                <a:cs typeface="Cambria Math" pitchFamily="34" charset="-120"/>
              </a:rPr>
              <a:t>∀x(Student(x) ∧ Passed(x))</a:t>
            </a:r>
            <a:endParaRPr lang="en-US" sz="2000" dirty="0"/>
          </a:p>
        </p:txBody>
      </p:sp>
      <p:sp>
        <p:nvSpPr>
          <p:cNvPr id="17" name="Text 15"/>
          <p:cNvSpPr/>
          <p:nvPr/>
        </p:nvSpPr>
        <p:spPr>
          <a:xfrm>
            <a:off x="868680" y="4983480"/>
            <a:ext cx="4800600" cy="594360"/>
          </a:xfrm>
          <a:prstGeom prst="rect">
            <a:avLst/>
          </a:prstGeom>
          <a:noFill/>
          <a:ln/>
        </p:spPr>
        <p:txBody>
          <a:bodyPr wrap="square" lIns="0" tIns="0" rIns="0" bIns="0" rtlCol="0" anchor="ctr">
            <a:normAutofit/>
          </a:bodyPr>
          <a:lstStyle/>
          <a:p>
            <a:pPr algn="ctr" indent="0" marL="0">
              <a:buNone/>
            </a:pPr>
            <a:r>
              <a:rPr lang="en-US" sz="1800" b="1" dirty="0">
                <a:solidFill>
                  <a:srgbClr val="4B8B5B"/>
                </a:solidFill>
                <a:latin typeface="Arial" pitchFamily="34" charset="0"/>
                <a:ea typeface="Arial" pitchFamily="34" charset="-122"/>
                <a:cs typeface="Arial" pitchFamily="34" charset="-120"/>
              </a:rPr>
              <a:t>Use Student(x) → Passed(x).</a:t>
            </a:r>
            <a:endParaRPr lang="en-US" sz="1800" dirty="0"/>
          </a:p>
        </p:txBody>
      </p:sp>
      <p:sp>
        <p:nvSpPr>
          <p:cNvPr id="18" name="Text 16"/>
          <p:cNvSpPr/>
          <p:nvPr/>
        </p:nvSpPr>
        <p:spPr>
          <a:xfrm>
            <a:off x="6355080" y="3566160"/>
            <a:ext cx="5212080" cy="45720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Confusing “not all” with “none”</a:t>
            </a:r>
            <a:endParaRPr lang="en-US" sz="1900" dirty="0"/>
          </a:p>
        </p:txBody>
      </p:sp>
      <p:sp>
        <p:nvSpPr>
          <p:cNvPr id="19" name="Text 17"/>
          <p:cNvSpPr/>
          <p:nvPr/>
        </p:nvSpPr>
        <p:spPr>
          <a:xfrm>
            <a:off x="6492240" y="4206240"/>
            <a:ext cx="4937760" cy="576072"/>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000" dirty="0">
                <a:solidFill>
                  <a:srgbClr val="25252B"/>
                </a:solidFill>
                <a:latin typeface="Cambria Math" pitchFamily="34" charset="0"/>
                <a:ea typeface="Cambria Math" pitchFamily="34" charset="-122"/>
                <a:cs typeface="Cambria Math" pitchFamily="34" charset="-120"/>
              </a:rPr>
              <a:t>¬∀x P(x)  ⇒  ∀x¬P(x)</a:t>
            </a:r>
            <a:endParaRPr lang="en-US" sz="2000" dirty="0"/>
          </a:p>
        </p:txBody>
      </p:sp>
      <p:sp>
        <p:nvSpPr>
          <p:cNvPr id="20" name="Text 18"/>
          <p:cNvSpPr/>
          <p:nvPr/>
        </p:nvSpPr>
        <p:spPr>
          <a:xfrm>
            <a:off x="6537960" y="4983480"/>
            <a:ext cx="4800600" cy="594360"/>
          </a:xfrm>
          <a:prstGeom prst="rect">
            <a:avLst/>
          </a:prstGeom>
          <a:noFill/>
          <a:ln/>
        </p:spPr>
        <p:txBody>
          <a:bodyPr wrap="square" lIns="0" tIns="0" rIns="0" bIns="0" rtlCol="0" anchor="ctr">
            <a:normAutofit/>
          </a:bodyPr>
          <a:lstStyle/>
          <a:p>
            <a:pPr algn="ctr" indent="0" marL="0">
              <a:buNone/>
            </a:pPr>
            <a:r>
              <a:rPr lang="en-US" sz="1800" b="1" dirty="0">
                <a:solidFill>
                  <a:srgbClr val="4B8B5B"/>
                </a:solidFill>
                <a:latin typeface="Arial" pitchFamily="34" charset="0"/>
                <a:ea typeface="Arial" pitchFamily="34" charset="-122"/>
                <a:cs typeface="Arial" pitchFamily="34" charset="-120"/>
              </a:rPr>
              <a:t>Correct: ∃x¬P(x).</a:t>
            </a:r>
            <a:endParaRPr lang="en-US" sz="1800" dirty="0"/>
          </a:p>
        </p:txBody>
      </p:sp>
      <p:sp>
        <p:nvSpPr>
          <p:cNvPr id="21" name="Text 19"/>
          <p:cNvSpPr/>
          <p:nvPr/>
        </p:nvSpPr>
        <p:spPr>
          <a:xfrm>
            <a:off x="1417320" y="5715000"/>
            <a:ext cx="9326880" cy="53035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Repair strategy: verbalize the formula, test a tiny model, then formalize again.</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CYBERSECURITY / CS</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Application: access-control policies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25</a:t>
            </a:r>
            <a:endParaRPr lang="en-US" sz="1000" dirty="0"/>
          </a:p>
        </p:txBody>
      </p:sp>
      <p:sp>
        <p:nvSpPr>
          <p:cNvPr id="9" name="Text 7"/>
          <p:cNvSpPr/>
          <p:nvPr/>
        </p:nvSpPr>
        <p:spPr>
          <a:xfrm>
            <a:off x="10469880" y="6108192"/>
            <a:ext cx="1051560" cy="228600"/>
          </a:xfrm>
          <a:prstGeom prst="rect">
            <a:avLst/>
          </a:prstGeom>
          <a:solidFill>
            <a:srgbClr val="F3DFEA"/>
          </a:solidFill>
          <a:ln>
            <a:solidFill>
              <a:srgbClr val="F3DFEA">
                <a:alpha val="0"/>
              </a:srgbClr>
            </a:solidFill>
          </a:ln>
        </p:spPr>
        <p:txBody>
          <a:bodyPr wrap="square" lIns="381" tIns="381" rIns="381" bIns="381" rtlCol="0" anchor="ctr"/>
          <a:lstStyle/>
          <a:p>
            <a:pPr algn="ctr" indent="0" marL="0">
              <a:buNone/>
            </a:pPr>
            <a:r>
              <a:rPr lang="en-US" sz="900" b="1" dirty="0">
                <a:solidFill>
                  <a:srgbClr val="A52A75"/>
                </a:solidFill>
                <a:latin typeface="Arial" pitchFamily="34" charset="0"/>
                <a:ea typeface="Arial" pitchFamily="34" charset="-122"/>
                <a:cs typeface="Arial" pitchFamily="34" charset="-120"/>
              </a:rPr>
              <a:t>EXTENSION</a:t>
            </a:r>
            <a:endParaRPr lang="en-US" sz="900" dirty="0"/>
          </a:p>
        </p:txBody>
      </p:sp>
      <p:sp>
        <p:nvSpPr>
          <p:cNvPr id="10" name="Text 8"/>
          <p:cNvSpPr/>
          <p:nvPr/>
        </p:nvSpPr>
        <p:spPr>
          <a:xfrm>
            <a:off x="685800" y="1143000"/>
            <a:ext cx="5486400" cy="384048"/>
          </a:xfrm>
          <a:prstGeom prst="rect">
            <a:avLst/>
          </a:prstGeom>
          <a:noFill/>
          <a:ln/>
        </p:spPr>
        <p:txBody>
          <a:bodyPr wrap="square" lIns="0" tIns="0" rIns="0" bIns="0" rtlCol="0" anchor="ctr"/>
          <a:lstStyle/>
          <a:p>
            <a:pPr indent="0" marL="0">
              <a:buNone/>
            </a:pPr>
            <a:r>
              <a:rPr lang="en-US" sz="2000" dirty="0">
                <a:solidFill>
                  <a:srgbClr val="5E626B"/>
                </a:solidFill>
                <a:latin typeface="Cambria Math" pitchFamily="34" charset="0"/>
                <a:ea typeface="Cambria Math" pitchFamily="34" charset="-122"/>
                <a:cs typeface="Cambria Math" pitchFamily="34" charset="-120"/>
              </a:rPr>
              <a:t>Access(u,s): user u can access server s.</a:t>
            </a:r>
            <a:endParaRPr lang="en-US" sz="2000" dirty="0"/>
          </a:p>
        </p:txBody>
      </p:sp>
      <p:sp>
        <p:nvSpPr>
          <p:cNvPr id="11" name="Text 9"/>
          <p:cNvSpPr/>
          <p:nvPr/>
        </p:nvSpPr>
        <p:spPr>
          <a:xfrm>
            <a:off x="685800" y="1783080"/>
            <a:ext cx="5257800" cy="502920"/>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Every user can access some server.</a:t>
            </a:r>
            <a:endParaRPr lang="en-US" sz="2000" dirty="0"/>
          </a:p>
        </p:txBody>
      </p:sp>
      <p:sp>
        <p:nvSpPr>
          <p:cNvPr id="12" name="Text 10"/>
          <p:cNvSpPr/>
          <p:nvPr/>
        </p:nvSpPr>
        <p:spPr>
          <a:xfrm>
            <a:off x="914400" y="2468880"/>
            <a:ext cx="4754880" cy="59436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∀u ∃s  Access(u,s)</a:t>
            </a:r>
            <a:endParaRPr lang="en-US" sz="2700" dirty="0"/>
          </a:p>
        </p:txBody>
      </p:sp>
      <p:sp>
        <p:nvSpPr>
          <p:cNvPr id="13" name="Text 11"/>
          <p:cNvSpPr/>
          <p:nvPr/>
        </p:nvSpPr>
        <p:spPr>
          <a:xfrm>
            <a:off x="960120" y="3246120"/>
            <a:ext cx="4663440" cy="658368"/>
          </a:xfrm>
          <a:prstGeom prst="rect">
            <a:avLst/>
          </a:prstGeom>
          <a:noFill/>
          <a:ln/>
        </p:spPr>
        <p:txBody>
          <a:bodyPr wrap="square" lIns="0" tIns="0" rIns="0" bIns="0" rtlCol="0" anchor="ctr">
            <a:normAutofit/>
          </a:bodyPr>
          <a:lstStyle/>
          <a:p>
            <a:pPr algn="ctr" indent="0" marL="0">
              <a:buNone/>
            </a:pPr>
            <a:r>
              <a:rPr lang="en-US" sz="1900" dirty="0">
                <a:solidFill>
                  <a:srgbClr val="25252B"/>
                </a:solidFill>
                <a:latin typeface="Arial" pitchFamily="34" charset="0"/>
                <a:ea typeface="Arial" pitchFamily="34" charset="-122"/>
                <a:cs typeface="Arial" pitchFamily="34" charset="-120"/>
              </a:rPr>
              <a:t>Different users may have access to different servers.</a:t>
            </a:r>
            <a:endParaRPr lang="en-US" sz="1900" dirty="0"/>
          </a:p>
        </p:txBody>
      </p:sp>
      <p:sp>
        <p:nvSpPr>
          <p:cNvPr id="14" name="Text 12"/>
          <p:cNvSpPr/>
          <p:nvPr/>
        </p:nvSpPr>
        <p:spPr>
          <a:xfrm>
            <a:off x="6263640" y="1783080"/>
            <a:ext cx="5257800" cy="502920"/>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One server is accessible by every user.</a:t>
            </a:r>
            <a:endParaRPr lang="en-US" sz="2000" dirty="0"/>
          </a:p>
        </p:txBody>
      </p:sp>
      <p:sp>
        <p:nvSpPr>
          <p:cNvPr id="15" name="Text 13"/>
          <p:cNvSpPr/>
          <p:nvPr/>
        </p:nvSpPr>
        <p:spPr>
          <a:xfrm>
            <a:off x="6492240" y="2468880"/>
            <a:ext cx="4754880" cy="594360"/>
          </a:xfrm>
          <a:prstGeom prst="rect">
            <a:avLst/>
          </a:prstGeom>
          <a:noFill/>
          <a:ln/>
        </p:spPr>
        <p:txBody>
          <a:bodyPr wrap="square" lIns="254" tIns="254" rIns="254" bIns="254" rtlCol="0" anchor="ctr">
            <a:normAutofit/>
          </a:bodyPr>
          <a:lstStyle/>
          <a:p>
            <a:pPr algn="ctr" indent="0" marL="0">
              <a:buNone/>
            </a:pPr>
            <a:r>
              <a:rPr lang="en-US" sz="2700" dirty="0">
                <a:solidFill>
                  <a:srgbClr val="25252B"/>
                </a:solidFill>
                <a:latin typeface="Cambria Math" pitchFamily="34" charset="0"/>
                <a:ea typeface="Cambria Math" pitchFamily="34" charset="-122"/>
                <a:cs typeface="Cambria Math" pitchFamily="34" charset="-120"/>
              </a:rPr>
              <a:t>∃s ∀u  Access(u,s)</a:t>
            </a:r>
            <a:endParaRPr lang="en-US" sz="2700" dirty="0"/>
          </a:p>
        </p:txBody>
      </p:sp>
      <p:sp>
        <p:nvSpPr>
          <p:cNvPr id="16" name="Text 14"/>
          <p:cNvSpPr/>
          <p:nvPr/>
        </p:nvSpPr>
        <p:spPr>
          <a:xfrm>
            <a:off x="6537960" y="3246120"/>
            <a:ext cx="4663440" cy="658368"/>
          </a:xfrm>
          <a:prstGeom prst="rect">
            <a:avLst/>
          </a:prstGeom>
          <a:noFill/>
          <a:ln/>
        </p:spPr>
        <p:txBody>
          <a:bodyPr wrap="square" lIns="0" tIns="0" rIns="0" bIns="0" rtlCol="0" anchor="ctr">
            <a:normAutofit/>
          </a:bodyPr>
          <a:lstStyle/>
          <a:p>
            <a:pPr algn="ctr" indent="0" marL="0">
              <a:buNone/>
            </a:pPr>
            <a:r>
              <a:rPr lang="en-US" sz="1900" b="1" dirty="0">
                <a:solidFill>
                  <a:srgbClr val="B84A4A"/>
                </a:solidFill>
                <a:latin typeface="Arial" pitchFamily="34" charset="0"/>
                <a:ea typeface="Arial" pitchFamily="34" charset="-122"/>
                <a:cs typeface="Arial" pitchFamily="34" charset="-120"/>
              </a:rPr>
              <a:t>This is a much stronger - and potentially risky - policy.</a:t>
            </a:r>
            <a:endParaRPr lang="en-US" sz="1900" dirty="0"/>
          </a:p>
        </p:txBody>
      </p:sp>
      <p:sp>
        <p:nvSpPr>
          <p:cNvPr id="17" name="Text 15"/>
          <p:cNvSpPr/>
          <p:nvPr/>
        </p:nvSpPr>
        <p:spPr>
          <a:xfrm>
            <a:off x="868680" y="4389120"/>
            <a:ext cx="274320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Negation of the first policy</a:t>
            </a:r>
            <a:endParaRPr lang="en-US" sz="1800" dirty="0"/>
          </a:p>
        </p:txBody>
      </p:sp>
      <p:sp>
        <p:nvSpPr>
          <p:cNvPr id="18" name="Text 16"/>
          <p:cNvSpPr/>
          <p:nvPr/>
        </p:nvSpPr>
        <p:spPr>
          <a:xfrm>
            <a:off x="3794760" y="4315968"/>
            <a:ext cx="7315200" cy="621792"/>
          </a:xfrm>
          <a:prstGeom prst="rect">
            <a:avLst/>
          </a:prstGeom>
          <a:noFill/>
          <a:ln/>
        </p:spPr>
        <p:txBody>
          <a:bodyPr wrap="square" lIns="254" tIns="254" rIns="254" bIns="254" rtlCol="0" anchor="ctr">
            <a:normAutofit/>
          </a:bodyPr>
          <a:lstStyle/>
          <a:p>
            <a:pPr algn="ctr" indent="0" marL="0">
              <a:buNone/>
            </a:pPr>
            <a:r>
              <a:rPr lang="en-US" sz="2300" dirty="0">
                <a:solidFill>
                  <a:srgbClr val="25252B"/>
                </a:solidFill>
                <a:latin typeface="Cambria Math" pitchFamily="34" charset="0"/>
                <a:ea typeface="Cambria Math" pitchFamily="34" charset="-122"/>
                <a:cs typeface="Cambria Math" pitchFamily="34" charset="-120"/>
              </a:rPr>
              <a:t>¬∀u∃s Access(u,s)  ≡  ∃u∀s ¬Access(u,s)</a:t>
            </a:r>
            <a:endParaRPr lang="en-US" sz="2300" dirty="0"/>
          </a:p>
        </p:txBody>
      </p:sp>
      <p:sp>
        <p:nvSpPr>
          <p:cNvPr id="19" name="Text 17"/>
          <p:cNvSpPr/>
          <p:nvPr/>
        </p:nvSpPr>
        <p:spPr>
          <a:xfrm>
            <a:off x="2103120" y="5303520"/>
            <a:ext cx="7955280" cy="457200"/>
          </a:xfrm>
          <a:prstGeom prst="rect">
            <a:avLst/>
          </a:prstGeom>
          <a:noFill/>
          <a:ln/>
        </p:spPr>
        <p:txBody>
          <a:bodyPr wrap="square" lIns="0" tIns="0" rIns="0" bIns="0" rtlCol="0" anchor="ctr"/>
          <a:lstStyle/>
          <a:p>
            <a:pPr algn="ctr" indent="0" marL="0">
              <a:buNone/>
            </a:pPr>
            <a:r>
              <a:rPr lang="en-US" sz="2100" b="1" dirty="0">
                <a:solidFill>
                  <a:srgbClr val="7D1F58"/>
                </a:solidFill>
                <a:latin typeface="Arial" pitchFamily="34" charset="0"/>
                <a:ea typeface="Arial" pitchFamily="34" charset="-122"/>
                <a:cs typeface="Arial" pitchFamily="34" charset="-120"/>
              </a:rPr>
              <a:t>There is a user who cannot access any server.</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ARTIFICIAL INTELLIGENCE</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AI knowledge representation: the Nono scenario</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26</a:t>
            </a:r>
            <a:endParaRPr lang="en-US" sz="1000" dirty="0"/>
          </a:p>
        </p:txBody>
      </p:sp>
      <p:sp>
        <p:nvSpPr>
          <p:cNvPr id="9" name="Text 7"/>
          <p:cNvSpPr/>
          <p:nvPr/>
        </p:nvSpPr>
        <p:spPr>
          <a:xfrm>
            <a:off x="10469880" y="6108192"/>
            <a:ext cx="1051560" cy="228600"/>
          </a:xfrm>
          <a:prstGeom prst="rect">
            <a:avLst/>
          </a:prstGeom>
          <a:solidFill>
            <a:srgbClr val="F3DFEA"/>
          </a:solidFill>
          <a:ln>
            <a:solidFill>
              <a:srgbClr val="F3DFEA">
                <a:alpha val="0"/>
              </a:srgbClr>
            </a:solidFill>
          </a:ln>
        </p:spPr>
        <p:txBody>
          <a:bodyPr wrap="square" lIns="381" tIns="381" rIns="381" bIns="381" rtlCol="0" anchor="ctr"/>
          <a:lstStyle/>
          <a:p>
            <a:pPr algn="ctr" indent="0" marL="0">
              <a:buNone/>
            </a:pPr>
            <a:r>
              <a:rPr lang="en-US" sz="900" b="1" dirty="0">
                <a:solidFill>
                  <a:srgbClr val="A52A75"/>
                </a:solidFill>
                <a:latin typeface="Arial" pitchFamily="34" charset="0"/>
                <a:ea typeface="Arial" pitchFamily="34" charset="-122"/>
                <a:cs typeface="Arial" pitchFamily="34" charset="-120"/>
              </a:rPr>
              <a:t>EXTENSION</a:t>
            </a:r>
            <a:endParaRPr lang="en-US" sz="900" dirty="0"/>
          </a:p>
        </p:txBody>
      </p:sp>
      <p:sp>
        <p:nvSpPr>
          <p:cNvPr id="10" name="Text 8"/>
          <p:cNvSpPr/>
          <p:nvPr/>
        </p:nvSpPr>
        <p:spPr>
          <a:xfrm>
            <a:off x="685800" y="1234440"/>
            <a:ext cx="5257800" cy="475488"/>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Natural-language knowledge base</a:t>
            </a:r>
            <a:endParaRPr lang="en-US" sz="2000" dirty="0"/>
          </a:p>
        </p:txBody>
      </p:sp>
      <p:sp>
        <p:nvSpPr>
          <p:cNvPr id="11" name="Text 9"/>
          <p:cNvSpPr/>
          <p:nvPr/>
        </p:nvSpPr>
        <p:spPr>
          <a:xfrm>
            <a:off x="868680" y="1920240"/>
            <a:ext cx="4892040" cy="2331720"/>
          </a:xfrm>
          <a:prstGeom prst="rect">
            <a:avLst/>
          </a:prstGeom>
          <a:noFill/>
          <a:ln/>
        </p:spPr>
        <p:txBody>
          <a:bodyPr wrap="square" lIns="635" tIns="635" rIns="635" bIns="635" rtlCol="0" anchor="ctr">
            <a:normAutofit/>
          </a:bodyPr>
          <a:lstStyle/>
          <a:p>
            <a:pPr indent="0" marL="0">
              <a:buNone/>
            </a:pPr>
            <a:r>
              <a:rPr lang="en-US" sz="2000" dirty="0">
                <a:solidFill>
                  <a:srgbClr val="25252B"/>
                </a:solidFill>
                <a:latin typeface="Arial" pitchFamily="34" charset="0"/>
                <a:ea typeface="Arial" pitchFamily="34" charset="-122"/>
                <a:cs typeface="Arial" pitchFamily="34" charset="-120"/>
              </a:rPr>
              <a:t>The law says it is a crime for an American to sell weapons to hostile nations. Nono is an enemy of America, owns some missiles, and all its missiles were sold to it by Colonel West, who is American.</a:t>
            </a:r>
            <a:endParaRPr lang="en-US" sz="2000" dirty="0"/>
          </a:p>
        </p:txBody>
      </p:sp>
      <p:sp>
        <p:nvSpPr>
          <p:cNvPr id="12" name="Text 10"/>
          <p:cNvSpPr/>
          <p:nvPr/>
        </p:nvSpPr>
        <p:spPr>
          <a:xfrm>
            <a:off x="6309360" y="1234440"/>
            <a:ext cx="5166360" cy="475488"/>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Predicate dictionary</a:t>
            </a:r>
            <a:endParaRPr lang="en-US" sz="2000" dirty="0"/>
          </a:p>
        </p:txBody>
      </p:sp>
      <p:sp>
        <p:nvSpPr>
          <p:cNvPr id="13" name="Text 11"/>
          <p:cNvSpPr/>
          <p:nvPr/>
        </p:nvSpPr>
        <p:spPr>
          <a:xfrm>
            <a:off x="6400800" y="187452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American(x)</a:t>
            </a:r>
            <a:endParaRPr lang="en-US" sz="1550" dirty="0"/>
          </a:p>
        </p:txBody>
      </p:sp>
      <p:sp>
        <p:nvSpPr>
          <p:cNvPr id="14" name="Text 12"/>
          <p:cNvSpPr/>
          <p:nvPr/>
        </p:nvSpPr>
        <p:spPr>
          <a:xfrm>
            <a:off x="6400800" y="220370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x is American</a:t>
            </a:r>
            <a:endParaRPr lang="en-US" sz="1450" dirty="0"/>
          </a:p>
        </p:txBody>
      </p:sp>
      <p:sp>
        <p:nvSpPr>
          <p:cNvPr id="15" name="Text 13"/>
          <p:cNvSpPr/>
          <p:nvPr/>
        </p:nvSpPr>
        <p:spPr>
          <a:xfrm>
            <a:off x="8915400" y="187452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Weapon(y)</a:t>
            </a:r>
            <a:endParaRPr lang="en-US" sz="1550" dirty="0"/>
          </a:p>
        </p:txBody>
      </p:sp>
      <p:sp>
        <p:nvSpPr>
          <p:cNvPr id="16" name="Text 14"/>
          <p:cNvSpPr/>
          <p:nvPr/>
        </p:nvSpPr>
        <p:spPr>
          <a:xfrm>
            <a:off x="8915400" y="220370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y is a weapon</a:t>
            </a:r>
            <a:endParaRPr lang="en-US" sz="1450" dirty="0"/>
          </a:p>
        </p:txBody>
      </p:sp>
      <p:sp>
        <p:nvSpPr>
          <p:cNvPr id="17" name="Text 15"/>
          <p:cNvSpPr/>
          <p:nvPr/>
        </p:nvSpPr>
        <p:spPr>
          <a:xfrm>
            <a:off x="6400800" y="269748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Sells(x,y,z)</a:t>
            </a:r>
            <a:endParaRPr lang="en-US" sz="1550" dirty="0"/>
          </a:p>
        </p:txBody>
      </p:sp>
      <p:sp>
        <p:nvSpPr>
          <p:cNvPr id="18" name="Text 16"/>
          <p:cNvSpPr/>
          <p:nvPr/>
        </p:nvSpPr>
        <p:spPr>
          <a:xfrm>
            <a:off x="6400800" y="302666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x sells y to z</a:t>
            </a:r>
            <a:endParaRPr lang="en-US" sz="1450" dirty="0"/>
          </a:p>
        </p:txBody>
      </p:sp>
      <p:sp>
        <p:nvSpPr>
          <p:cNvPr id="19" name="Text 17"/>
          <p:cNvSpPr/>
          <p:nvPr/>
        </p:nvSpPr>
        <p:spPr>
          <a:xfrm>
            <a:off x="8915400" y="269748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Hostile(z)</a:t>
            </a:r>
            <a:endParaRPr lang="en-US" sz="1550" dirty="0"/>
          </a:p>
        </p:txBody>
      </p:sp>
      <p:sp>
        <p:nvSpPr>
          <p:cNvPr id="20" name="Text 18"/>
          <p:cNvSpPr/>
          <p:nvPr/>
        </p:nvSpPr>
        <p:spPr>
          <a:xfrm>
            <a:off x="8915400" y="302666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z is hostile</a:t>
            </a:r>
            <a:endParaRPr lang="en-US" sz="1450" dirty="0"/>
          </a:p>
        </p:txBody>
      </p:sp>
      <p:sp>
        <p:nvSpPr>
          <p:cNvPr id="21" name="Text 19"/>
          <p:cNvSpPr/>
          <p:nvPr/>
        </p:nvSpPr>
        <p:spPr>
          <a:xfrm>
            <a:off x="6400800" y="352044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Owns(z,y)</a:t>
            </a:r>
            <a:endParaRPr lang="en-US" sz="1550" dirty="0"/>
          </a:p>
        </p:txBody>
      </p:sp>
      <p:sp>
        <p:nvSpPr>
          <p:cNvPr id="22" name="Text 20"/>
          <p:cNvSpPr/>
          <p:nvPr/>
        </p:nvSpPr>
        <p:spPr>
          <a:xfrm>
            <a:off x="6400800" y="384962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z owns y</a:t>
            </a:r>
            <a:endParaRPr lang="en-US" sz="1450" dirty="0"/>
          </a:p>
        </p:txBody>
      </p:sp>
      <p:sp>
        <p:nvSpPr>
          <p:cNvPr id="23" name="Text 21"/>
          <p:cNvSpPr/>
          <p:nvPr/>
        </p:nvSpPr>
        <p:spPr>
          <a:xfrm>
            <a:off x="8915400" y="352044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Missile(y)</a:t>
            </a:r>
            <a:endParaRPr lang="en-US" sz="1550" dirty="0"/>
          </a:p>
        </p:txBody>
      </p:sp>
      <p:sp>
        <p:nvSpPr>
          <p:cNvPr id="24" name="Text 22"/>
          <p:cNvSpPr/>
          <p:nvPr/>
        </p:nvSpPr>
        <p:spPr>
          <a:xfrm>
            <a:off x="8915400" y="384962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y is a missile</a:t>
            </a:r>
            <a:endParaRPr lang="en-US" sz="1450" dirty="0"/>
          </a:p>
        </p:txBody>
      </p:sp>
      <p:sp>
        <p:nvSpPr>
          <p:cNvPr id="25" name="Text 23"/>
          <p:cNvSpPr/>
          <p:nvPr/>
        </p:nvSpPr>
        <p:spPr>
          <a:xfrm>
            <a:off x="6400800" y="434340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Enemy(z,America)</a:t>
            </a:r>
            <a:endParaRPr lang="en-US" sz="1550" dirty="0"/>
          </a:p>
        </p:txBody>
      </p:sp>
      <p:sp>
        <p:nvSpPr>
          <p:cNvPr id="26" name="Text 24"/>
          <p:cNvSpPr/>
          <p:nvPr/>
        </p:nvSpPr>
        <p:spPr>
          <a:xfrm>
            <a:off x="6400800" y="467258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z is an enemy of America</a:t>
            </a:r>
            <a:endParaRPr lang="en-US" sz="1450" dirty="0"/>
          </a:p>
        </p:txBody>
      </p:sp>
      <p:sp>
        <p:nvSpPr>
          <p:cNvPr id="27" name="Text 25"/>
          <p:cNvSpPr/>
          <p:nvPr/>
        </p:nvSpPr>
        <p:spPr>
          <a:xfrm>
            <a:off x="8915400" y="4343400"/>
            <a:ext cx="2331720" cy="274320"/>
          </a:xfrm>
          <a:prstGeom prst="rect">
            <a:avLst/>
          </a:prstGeom>
          <a:noFill/>
          <a:ln/>
        </p:spPr>
        <p:txBody>
          <a:bodyPr wrap="square" lIns="0" tIns="0" rIns="0" bIns="0" rtlCol="0" anchor="ctr">
            <a:normAutofit/>
          </a:bodyPr>
          <a:lstStyle/>
          <a:p>
            <a:pPr indent="0" marL="0">
              <a:buNone/>
            </a:pPr>
            <a:r>
              <a:rPr lang="en-US" sz="1550" b="1" dirty="0">
                <a:solidFill>
                  <a:srgbClr val="7D1F58"/>
                </a:solidFill>
                <a:latin typeface="Cambria Math" pitchFamily="34" charset="0"/>
                <a:ea typeface="Cambria Math" pitchFamily="34" charset="-122"/>
                <a:cs typeface="Cambria Math" pitchFamily="34" charset="-120"/>
              </a:rPr>
              <a:t>Criminal(x)</a:t>
            </a:r>
            <a:endParaRPr lang="en-US" sz="1550" dirty="0"/>
          </a:p>
        </p:txBody>
      </p:sp>
      <p:sp>
        <p:nvSpPr>
          <p:cNvPr id="28" name="Text 26"/>
          <p:cNvSpPr/>
          <p:nvPr/>
        </p:nvSpPr>
        <p:spPr>
          <a:xfrm>
            <a:off x="8915400" y="4672584"/>
            <a:ext cx="2331720" cy="320040"/>
          </a:xfrm>
          <a:prstGeom prst="rect">
            <a:avLst/>
          </a:prstGeom>
          <a:noFill/>
          <a:ln/>
        </p:spPr>
        <p:txBody>
          <a:bodyPr wrap="square" lIns="0" tIns="0" rIns="0" bIns="0" rtlCol="0" anchor="ctr">
            <a:normAutofit/>
          </a:bodyPr>
          <a:lstStyle/>
          <a:p>
            <a:pPr indent="0" marL="0">
              <a:buNone/>
            </a:pPr>
            <a:r>
              <a:rPr lang="en-US" sz="1450" dirty="0">
                <a:solidFill>
                  <a:srgbClr val="5E626B"/>
                </a:solidFill>
                <a:latin typeface="Arial" pitchFamily="34" charset="0"/>
                <a:ea typeface="Arial" pitchFamily="34" charset="-122"/>
                <a:cs typeface="Arial" pitchFamily="34" charset="-120"/>
              </a:rPr>
              <a:t>x is a criminal</a:t>
            </a:r>
            <a:endParaRPr lang="en-US" sz="1450" dirty="0"/>
          </a:p>
        </p:txBody>
      </p:sp>
      <p:sp>
        <p:nvSpPr>
          <p:cNvPr id="29" name="Text 27"/>
          <p:cNvSpPr/>
          <p:nvPr/>
        </p:nvSpPr>
        <p:spPr>
          <a:xfrm>
            <a:off x="1234440" y="5349240"/>
            <a:ext cx="9738360" cy="566928"/>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The first task is not “reasoning”; it is precise formalization with correct scope.</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ARTIFICIAL INTELLIGENCE</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Nono scenario: formal rules and inference</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27</a:t>
            </a:r>
            <a:endParaRPr lang="en-US" sz="1000" dirty="0"/>
          </a:p>
        </p:txBody>
      </p:sp>
      <p:sp>
        <p:nvSpPr>
          <p:cNvPr id="9" name="Text 7"/>
          <p:cNvSpPr/>
          <p:nvPr/>
        </p:nvSpPr>
        <p:spPr>
          <a:xfrm>
            <a:off x="10469880" y="6108192"/>
            <a:ext cx="1051560" cy="228600"/>
          </a:xfrm>
          <a:prstGeom prst="rect">
            <a:avLst/>
          </a:prstGeom>
          <a:solidFill>
            <a:srgbClr val="F3DFEA"/>
          </a:solidFill>
          <a:ln>
            <a:solidFill>
              <a:srgbClr val="F3DFEA">
                <a:alpha val="0"/>
              </a:srgbClr>
            </a:solidFill>
          </a:ln>
        </p:spPr>
        <p:txBody>
          <a:bodyPr wrap="square" lIns="381" tIns="381" rIns="381" bIns="381" rtlCol="0" anchor="ctr"/>
          <a:lstStyle/>
          <a:p>
            <a:pPr algn="ctr" indent="0" marL="0">
              <a:buNone/>
            </a:pPr>
            <a:r>
              <a:rPr lang="en-US" sz="900" b="1" dirty="0">
                <a:solidFill>
                  <a:srgbClr val="A52A75"/>
                </a:solidFill>
                <a:latin typeface="Arial" pitchFamily="34" charset="0"/>
                <a:ea typeface="Arial" pitchFamily="34" charset="-122"/>
                <a:cs typeface="Arial" pitchFamily="34" charset="-120"/>
              </a:rPr>
              <a:t>EXTENSION</a:t>
            </a:r>
            <a:endParaRPr lang="en-US" sz="900" dirty="0"/>
          </a:p>
        </p:txBody>
      </p:sp>
      <p:sp>
        <p:nvSpPr>
          <p:cNvPr id="10" name="Text 8"/>
          <p:cNvSpPr/>
          <p:nvPr/>
        </p:nvSpPr>
        <p:spPr>
          <a:xfrm>
            <a:off x="685800" y="1170432"/>
            <a:ext cx="10835640" cy="493776"/>
          </a:xfrm>
          <a:prstGeom prst="rect">
            <a:avLst/>
          </a:prstGeom>
          <a:solidFill>
            <a:srgbClr val="F3DFEA"/>
          </a:solidFill>
          <a:ln w="12700">
            <a:solidFill>
              <a:srgbClr val="A52A75"/>
            </a:solidFill>
          </a:ln>
        </p:spPr>
        <p:txBody>
          <a:bodyPr wrap="square" lIns="254" tIns="254" rIns="254" bIns="254" rtlCol="0" anchor="ctr">
            <a:normAutofit/>
          </a:bodyPr>
          <a:lstStyle/>
          <a:p>
            <a:pPr algn="l" indent="0" marL="0">
              <a:buNone/>
            </a:pPr>
            <a:r>
              <a:rPr lang="en-US" sz="1650" dirty="0">
                <a:solidFill>
                  <a:srgbClr val="25252B"/>
                </a:solidFill>
                <a:latin typeface="Cambria Math" pitchFamily="34" charset="0"/>
                <a:ea typeface="Cambria Math" pitchFamily="34" charset="-122"/>
                <a:cs typeface="Cambria Math" pitchFamily="34" charset="-120"/>
              </a:rPr>
              <a:t>∀x∀y∀z [(American(x) ∧ Weapon(y) ∧ Sells(x,y,z) ∧ Hostile(z)) → Criminal(x)]</a:t>
            </a:r>
            <a:endParaRPr lang="en-US" sz="1650" dirty="0"/>
          </a:p>
        </p:txBody>
      </p:sp>
      <p:sp>
        <p:nvSpPr>
          <p:cNvPr id="11" name="Text 9"/>
          <p:cNvSpPr/>
          <p:nvPr/>
        </p:nvSpPr>
        <p:spPr>
          <a:xfrm>
            <a:off x="685800" y="1764792"/>
            <a:ext cx="10835640" cy="493776"/>
          </a:xfrm>
          <a:prstGeom prst="rect">
            <a:avLst/>
          </a:prstGeom>
          <a:no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∃m [Owns(Nono,m) ∧ Missile(m)]</a:t>
            </a:r>
            <a:endParaRPr lang="en-US" sz="1850" dirty="0"/>
          </a:p>
        </p:txBody>
      </p:sp>
      <p:sp>
        <p:nvSpPr>
          <p:cNvPr id="12" name="Text 10"/>
          <p:cNvSpPr/>
          <p:nvPr/>
        </p:nvSpPr>
        <p:spPr>
          <a:xfrm>
            <a:off x="685800" y="2359152"/>
            <a:ext cx="10835640" cy="493776"/>
          </a:xfrm>
          <a:prstGeom prst="rect">
            <a:avLst/>
          </a:prstGeom>
          <a:no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∀m [(Missile(m) ∧ Owns(Nono,m)) → Sells(West,m,Nono)]</a:t>
            </a:r>
            <a:endParaRPr lang="en-US" sz="1850" dirty="0"/>
          </a:p>
        </p:txBody>
      </p:sp>
      <p:sp>
        <p:nvSpPr>
          <p:cNvPr id="13" name="Text 11"/>
          <p:cNvSpPr/>
          <p:nvPr/>
        </p:nvSpPr>
        <p:spPr>
          <a:xfrm>
            <a:off x="685800" y="2953512"/>
            <a:ext cx="10835640" cy="493776"/>
          </a:xfrm>
          <a:prstGeom prst="rect">
            <a:avLst/>
          </a:prstGeom>
          <a:no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∀m [Missile(m) → Weapon(m)]</a:t>
            </a:r>
            <a:endParaRPr lang="en-US" sz="1850" dirty="0"/>
          </a:p>
        </p:txBody>
      </p:sp>
      <p:sp>
        <p:nvSpPr>
          <p:cNvPr id="14" name="Text 12"/>
          <p:cNvSpPr/>
          <p:nvPr/>
        </p:nvSpPr>
        <p:spPr>
          <a:xfrm>
            <a:off x="685800" y="3547872"/>
            <a:ext cx="10835640" cy="493776"/>
          </a:xfrm>
          <a:prstGeom prst="rect">
            <a:avLst/>
          </a:prstGeom>
          <a:no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∀z [Enemy(z,America) → Hostile(z)]</a:t>
            </a:r>
            <a:endParaRPr lang="en-US" sz="1850" dirty="0"/>
          </a:p>
        </p:txBody>
      </p:sp>
      <p:sp>
        <p:nvSpPr>
          <p:cNvPr id="15" name="Text 13"/>
          <p:cNvSpPr/>
          <p:nvPr/>
        </p:nvSpPr>
        <p:spPr>
          <a:xfrm>
            <a:off x="685800" y="4142232"/>
            <a:ext cx="10835640" cy="493776"/>
          </a:xfrm>
          <a:prstGeom prst="rect">
            <a:avLst/>
          </a:prstGeom>
          <a:solidFill>
            <a:srgbClr val="E8F2F8"/>
          </a:solidFill>
          <a:ln w="12700">
            <a:solidFill>
              <a:srgbClr val="3E7DA6"/>
            </a:solidFill>
          </a:ln>
        </p:spPr>
        <p:txBody>
          <a:bodyPr wrap="square" lIns="254" tIns="254" rIns="254" bIns="254" rtlCol="0" anchor="ctr">
            <a:normAutofit/>
          </a:bodyPr>
          <a:lstStyle/>
          <a:p>
            <a:pPr algn="l" indent="0" marL="0">
              <a:buNone/>
            </a:pPr>
            <a:r>
              <a:rPr lang="en-US" sz="1850" dirty="0">
                <a:solidFill>
                  <a:srgbClr val="25252B"/>
                </a:solidFill>
                <a:latin typeface="Cambria Math" pitchFamily="34" charset="0"/>
                <a:ea typeface="Cambria Math" pitchFamily="34" charset="-122"/>
                <a:cs typeface="Cambria Math" pitchFamily="34" charset="-120"/>
              </a:rPr>
              <a:t>American(West)     Enemy(Nono,America)</a:t>
            </a:r>
            <a:endParaRPr lang="en-US" sz="1850" dirty="0"/>
          </a:p>
        </p:txBody>
      </p:sp>
      <p:sp>
        <p:nvSpPr>
          <p:cNvPr id="16" name="Shape 14"/>
          <p:cNvSpPr/>
          <p:nvPr/>
        </p:nvSpPr>
        <p:spPr>
          <a:xfrm>
            <a:off x="3017520" y="5376672"/>
            <a:ext cx="1691640" cy="0"/>
          </a:xfrm>
          <a:prstGeom prst="line">
            <a:avLst/>
          </a:prstGeom>
          <a:noFill/>
          <a:ln w="22860">
            <a:solidFill>
              <a:srgbClr val="4B8B5B"/>
            </a:solidFill>
            <a:prstDash val="solid"/>
            <a:tailEnd type="triangle"/>
          </a:ln>
        </p:spPr>
      </p:sp>
      <p:sp>
        <p:nvSpPr>
          <p:cNvPr id="17" name="Shape 15"/>
          <p:cNvSpPr/>
          <p:nvPr/>
        </p:nvSpPr>
        <p:spPr>
          <a:xfrm>
            <a:off x="7635240" y="5376672"/>
            <a:ext cx="868680" cy="0"/>
          </a:xfrm>
          <a:prstGeom prst="line">
            <a:avLst/>
          </a:prstGeom>
          <a:noFill/>
          <a:ln w="22860">
            <a:solidFill>
              <a:srgbClr val="4B8B5B"/>
            </a:solidFill>
            <a:prstDash val="solid"/>
            <a:tailEnd type="triangle"/>
          </a:ln>
        </p:spPr>
      </p:sp>
      <p:sp>
        <p:nvSpPr>
          <p:cNvPr id="18" name="Text 16"/>
          <p:cNvSpPr/>
          <p:nvPr/>
        </p:nvSpPr>
        <p:spPr>
          <a:xfrm>
            <a:off x="777240" y="5074920"/>
            <a:ext cx="2194560" cy="566928"/>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Missile witness m</a:t>
            </a:r>
            <a:endParaRPr lang="en-US" sz="1800" dirty="0"/>
          </a:p>
        </p:txBody>
      </p:sp>
      <p:sp>
        <p:nvSpPr>
          <p:cNvPr id="19" name="Text 17"/>
          <p:cNvSpPr/>
          <p:nvPr/>
        </p:nvSpPr>
        <p:spPr>
          <a:xfrm>
            <a:off x="4754880" y="4983480"/>
            <a:ext cx="2834640" cy="786384"/>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600" b="1" dirty="0">
                <a:solidFill>
                  <a:srgbClr val="25252B"/>
                </a:solidFill>
                <a:latin typeface="Arial" pitchFamily="34" charset="0"/>
                <a:ea typeface="Arial" pitchFamily="34" charset="-122"/>
                <a:cs typeface="Arial" pitchFamily="34" charset="-120"/>
              </a:rPr>
              <a:t>Weapon(m), Sells(West,m,Nono), Hostile(Nono)</a:t>
            </a:r>
            <a:endParaRPr lang="en-US" sz="1600" dirty="0"/>
          </a:p>
        </p:txBody>
      </p:sp>
      <p:sp>
        <p:nvSpPr>
          <p:cNvPr id="20" name="Text 18"/>
          <p:cNvSpPr/>
          <p:nvPr/>
        </p:nvSpPr>
        <p:spPr>
          <a:xfrm>
            <a:off x="8641080" y="5074920"/>
            <a:ext cx="2377440" cy="566928"/>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Criminal(West)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SUMMARY</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Lecture synthesis: one connected reasoning cycle</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NEGATION &amp; APPLICATIONS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28</a:t>
            </a:r>
            <a:endParaRPr lang="en-US" sz="1000" dirty="0"/>
          </a:p>
        </p:txBody>
      </p:sp>
      <p:sp>
        <p:nvSpPr>
          <p:cNvPr id="9" name="Shape 7"/>
          <p:cNvSpPr/>
          <p:nvPr/>
        </p:nvSpPr>
        <p:spPr>
          <a:xfrm>
            <a:off x="2651760" y="1700784"/>
            <a:ext cx="219456" cy="0"/>
          </a:xfrm>
          <a:prstGeom prst="line">
            <a:avLst/>
          </a:prstGeom>
          <a:noFill/>
          <a:ln w="17780">
            <a:solidFill>
              <a:srgbClr val="7C8088"/>
            </a:solidFill>
            <a:prstDash val="solid"/>
            <a:tailEnd type="triangle"/>
          </a:ln>
        </p:spPr>
      </p:sp>
      <p:sp>
        <p:nvSpPr>
          <p:cNvPr id="10" name="Shape 8"/>
          <p:cNvSpPr/>
          <p:nvPr/>
        </p:nvSpPr>
        <p:spPr>
          <a:xfrm>
            <a:off x="4937760" y="1700784"/>
            <a:ext cx="219456" cy="0"/>
          </a:xfrm>
          <a:prstGeom prst="line">
            <a:avLst/>
          </a:prstGeom>
          <a:noFill/>
          <a:ln w="17780">
            <a:solidFill>
              <a:srgbClr val="7C8088"/>
            </a:solidFill>
            <a:prstDash val="solid"/>
            <a:tailEnd type="triangle"/>
          </a:ln>
        </p:spPr>
      </p:sp>
      <p:sp>
        <p:nvSpPr>
          <p:cNvPr id="11" name="Shape 9"/>
          <p:cNvSpPr/>
          <p:nvPr/>
        </p:nvSpPr>
        <p:spPr>
          <a:xfrm>
            <a:off x="7223760" y="1700784"/>
            <a:ext cx="219456" cy="0"/>
          </a:xfrm>
          <a:prstGeom prst="line">
            <a:avLst/>
          </a:prstGeom>
          <a:noFill/>
          <a:ln w="17780">
            <a:solidFill>
              <a:srgbClr val="7C8088"/>
            </a:solidFill>
            <a:prstDash val="solid"/>
            <a:tailEnd type="triangle"/>
          </a:ln>
        </p:spPr>
      </p:sp>
      <p:sp>
        <p:nvSpPr>
          <p:cNvPr id="12" name="Shape 10"/>
          <p:cNvSpPr/>
          <p:nvPr/>
        </p:nvSpPr>
        <p:spPr>
          <a:xfrm>
            <a:off x="9509760" y="1700784"/>
            <a:ext cx="219456" cy="0"/>
          </a:xfrm>
          <a:prstGeom prst="line">
            <a:avLst/>
          </a:prstGeom>
          <a:noFill/>
          <a:ln w="17780">
            <a:solidFill>
              <a:srgbClr val="7C8088"/>
            </a:solidFill>
            <a:prstDash val="solid"/>
            <a:tailEnd type="triangle"/>
          </a:ln>
        </p:spPr>
      </p:sp>
      <p:sp>
        <p:nvSpPr>
          <p:cNvPr id="13" name="Text 11"/>
          <p:cNvSpPr/>
          <p:nvPr/>
        </p:nvSpPr>
        <p:spPr>
          <a:xfrm>
            <a:off x="640080" y="1417320"/>
            <a:ext cx="1965960" cy="566928"/>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1. Natural language</a:t>
            </a:r>
            <a:endParaRPr lang="en-US" sz="1800" dirty="0"/>
          </a:p>
        </p:txBody>
      </p:sp>
      <p:sp>
        <p:nvSpPr>
          <p:cNvPr id="14" name="Text 12"/>
          <p:cNvSpPr/>
          <p:nvPr/>
        </p:nvSpPr>
        <p:spPr>
          <a:xfrm>
            <a:off x="713232" y="2240280"/>
            <a:ext cx="1810512" cy="1645920"/>
          </a:xfrm>
          <a:prstGeom prst="rect">
            <a:avLst/>
          </a:prstGeom>
          <a:noFill/>
          <a:ln/>
        </p:spPr>
        <p:txBody>
          <a:bodyPr wrap="square" lIns="508" tIns="508" rIns="508" bIns="508" rtlCol="0" anchor="t">
            <a:normAutofit/>
          </a:bodyPr>
          <a:lstStyle/>
          <a:p>
            <a:pPr algn="ctr" indent="0" marL="0">
              <a:buNone/>
            </a:pPr>
            <a:r>
              <a:rPr lang="en-US" sz="1620" dirty="0">
                <a:solidFill>
                  <a:srgbClr val="25252B"/>
                </a:solidFill>
                <a:latin typeface="Arial" pitchFamily="34" charset="0"/>
                <a:ea typeface="Arial" pitchFamily="34" charset="-122"/>
                <a:cs typeface="Arial" pitchFamily="34" charset="-120"/>
              </a:rPr>
              <a:t>Find quantifier words and possible ambiguity.</a:t>
            </a:r>
            <a:endParaRPr lang="en-US" sz="1620" dirty="0"/>
          </a:p>
        </p:txBody>
      </p:sp>
      <p:sp>
        <p:nvSpPr>
          <p:cNvPr id="15" name="Text 13"/>
          <p:cNvSpPr/>
          <p:nvPr/>
        </p:nvSpPr>
        <p:spPr>
          <a:xfrm>
            <a:off x="2926080" y="1417320"/>
            <a:ext cx="1965960" cy="566928"/>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2. Formalize</a:t>
            </a:r>
            <a:endParaRPr lang="en-US" sz="1800" dirty="0"/>
          </a:p>
        </p:txBody>
      </p:sp>
      <p:sp>
        <p:nvSpPr>
          <p:cNvPr id="16" name="Text 14"/>
          <p:cNvSpPr/>
          <p:nvPr/>
        </p:nvSpPr>
        <p:spPr>
          <a:xfrm>
            <a:off x="2999232" y="2240280"/>
            <a:ext cx="1810512" cy="1645920"/>
          </a:xfrm>
          <a:prstGeom prst="rect">
            <a:avLst/>
          </a:prstGeom>
          <a:noFill/>
          <a:ln/>
        </p:spPr>
        <p:txBody>
          <a:bodyPr wrap="square" lIns="508" tIns="508" rIns="508" bIns="508" rtlCol="0" anchor="t">
            <a:normAutofit/>
          </a:bodyPr>
          <a:lstStyle/>
          <a:p>
            <a:pPr algn="ctr" indent="0" marL="0">
              <a:buNone/>
            </a:pPr>
            <a:r>
              <a:rPr lang="en-US" sz="1620" dirty="0">
                <a:solidFill>
                  <a:srgbClr val="25252B"/>
                </a:solidFill>
                <a:latin typeface="Arial" pitchFamily="34" charset="0"/>
                <a:ea typeface="Arial" pitchFamily="34" charset="-122"/>
                <a:cs typeface="Arial" pitchFamily="34" charset="-120"/>
              </a:rPr>
              <a:t>Choose domains, predicates, and argument order.</a:t>
            </a:r>
            <a:endParaRPr lang="en-US" sz="1620" dirty="0"/>
          </a:p>
        </p:txBody>
      </p:sp>
      <p:sp>
        <p:nvSpPr>
          <p:cNvPr id="17" name="Text 15"/>
          <p:cNvSpPr/>
          <p:nvPr/>
        </p:nvSpPr>
        <p:spPr>
          <a:xfrm>
            <a:off x="5212080" y="1417320"/>
            <a:ext cx="1965960" cy="566928"/>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3. Interpret order</a:t>
            </a:r>
            <a:endParaRPr lang="en-US" sz="1800" dirty="0"/>
          </a:p>
        </p:txBody>
      </p:sp>
      <p:sp>
        <p:nvSpPr>
          <p:cNvPr id="18" name="Text 16"/>
          <p:cNvSpPr/>
          <p:nvPr/>
        </p:nvSpPr>
        <p:spPr>
          <a:xfrm>
            <a:off x="5285232" y="2240280"/>
            <a:ext cx="1810512" cy="1645920"/>
          </a:xfrm>
          <a:prstGeom prst="rect">
            <a:avLst/>
          </a:prstGeom>
          <a:noFill/>
          <a:ln/>
        </p:spPr>
        <p:txBody>
          <a:bodyPr wrap="square" lIns="508" tIns="508" rIns="508" bIns="508" rtlCol="0" anchor="t">
            <a:normAutofit/>
          </a:bodyPr>
          <a:lstStyle/>
          <a:p>
            <a:pPr algn="ctr" indent="0" marL="0">
              <a:buNone/>
            </a:pPr>
            <a:r>
              <a:rPr lang="en-US" sz="1620" dirty="0">
                <a:solidFill>
                  <a:srgbClr val="25252B"/>
                </a:solidFill>
                <a:latin typeface="Arial" pitchFamily="34" charset="0"/>
                <a:ea typeface="Arial" pitchFamily="34" charset="-122"/>
                <a:cs typeface="Arial" pitchFamily="34" charset="-120"/>
              </a:rPr>
              <a:t>Identify which witnesses may depend on earlier choices.</a:t>
            </a:r>
            <a:endParaRPr lang="en-US" sz="1620" dirty="0"/>
          </a:p>
        </p:txBody>
      </p:sp>
      <p:sp>
        <p:nvSpPr>
          <p:cNvPr id="19" name="Text 17"/>
          <p:cNvSpPr/>
          <p:nvPr/>
        </p:nvSpPr>
        <p:spPr>
          <a:xfrm>
            <a:off x="7498080" y="1417320"/>
            <a:ext cx="1965960" cy="566928"/>
          </a:xfrm>
          <a:prstGeom prst="rect">
            <a:avLst/>
          </a:prstGeom>
          <a:solidFill>
            <a:srgbClr val="EFE8F5"/>
          </a:solidFill>
          <a:ln w="12700">
            <a:solidFill>
              <a:srgbClr val="72508E"/>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4. Test truth</a:t>
            </a:r>
            <a:endParaRPr lang="en-US" sz="1800" dirty="0"/>
          </a:p>
        </p:txBody>
      </p:sp>
      <p:sp>
        <p:nvSpPr>
          <p:cNvPr id="20" name="Text 18"/>
          <p:cNvSpPr/>
          <p:nvPr/>
        </p:nvSpPr>
        <p:spPr>
          <a:xfrm>
            <a:off x="7571232" y="2240280"/>
            <a:ext cx="1810512" cy="1645920"/>
          </a:xfrm>
          <a:prstGeom prst="rect">
            <a:avLst/>
          </a:prstGeom>
          <a:noFill/>
          <a:ln/>
        </p:spPr>
        <p:txBody>
          <a:bodyPr wrap="square" lIns="508" tIns="508" rIns="508" bIns="508" rtlCol="0" anchor="t">
            <a:normAutofit/>
          </a:bodyPr>
          <a:lstStyle/>
          <a:p>
            <a:pPr algn="ctr" indent="0" marL="0">
              <a:buNone/>
            </a:pPr>
            <a:r>
              <a:rPr lang="en-US" sz="1620" dirty="0">
                <a:solidFill>
                  <a:srgbClr val="25252B"/>
                </a:solidFill>
                <a:latin typeface="Arial" pitchFamily="34" charset="0"/>
                <a:ea typeface="Arial" pitchFamily="34" charset="-122"/>
                <a:cs typeface="Arial" pitchFamily="34" charset="-120"/>
              </a:rPr>
              <a:t>Search for witnesses or counterexamples.</a:t>
            </a:r>
            <a:endParaRPr lang="en-US" sz="1620" dirty="0"/>
          </a:p>
        </p:txBody>
      </p:sp>
      <p:sp>
        <p:nvSpPr>
          <p:cNvPr id="21" name="Text 19"/>
          <p:cNvSpPr/>
          <p:nvPr/>
        </p:nvSpPr>
        <p:spPr>
          <a:xfrm>
            <a:off x="9784080" y="1417320"/>
            <a:ext cx="1965960" cy="566928"/>
          </a:xfrm>
          <a:prstGeom prst="rect">
            <a:avLst/>
          </a:prstGeom>
          <a:solidFill>
            <a:srgbClr val="FBF3D9"/>
          </a:solidFill>
          <a:ln w="12700">
            <a:solidFill>
              <a:srgbClr val="A7791D"/>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5. Negate / apply</a:t>
            </a:r>
            <a:endParaRPr lang="en-US" sz="1800" dirty="0"/>
          </a:p>
        </p:txBody>
      </p:sp>
      <p:sp>
        <p:nvSpPr>
          <p:cNvPr id="22" name="Text 20"/>
          <p:cNvSpPr/>
          <p:nvPr/>
        </p:nvSpPr>
        <p:spPr>
          <a:xfrm>
            <a:off x="9857232" y="2240280"/>
            <a:ext cx="1810512" cy="1645920"/>
          </a:xfrm>
          <a:prstGeom prst="rect">
            <a:avLst/>
          </a:prstGeom>
          <a:noFill/>
          <a:ln/>
        </p:spPr>
        <p:txBody>
          <a:bodyPr wrap="square" lIns="508" tIns="508" rIns="508" bIns="508" rtlCol="0" anchor="t">
            <a:normAutofit/>
          </a:bodyPr>
          <a:lstStyle/>
          <a:p>
            <a:pPr algn="ctr" indent="0" marL="0">
              <a:buNone/>
            </a:pPr>
            <a:r>
              <a:rPr lang="en-US" sz="1620" dirty="0">
                <a:solidFill>
                  <a:srgbClr val="25252B"/>
                </a:solidFill>
                <a:latin typeface="Arial" pitchFamily="34" charset="0"/>
                <a:ea typeface="Arial" pitchFamily="34" charset="-122"/>
                <a:cs typeface="Arial" pitchFamily="34" charset="-120"/>
              </a:rPr>
              <a:t>Flip quantifiers, negate the condition, and use the result.</a:t>
            </a:r>
            <a:endParaRPr lang="en-US" sz="1620" dirty="0"/>
          </a:p>
        </p:txBody>
      </p:sp>
      <p:sp>
        <p:nvSpPr>
          <p:cNvPr id="23" name="Text 21"/>
          <p:cNvSpPr/>
          <p:nvPr/>
        </p:nvSpPr>
        <p:spPr>
          <a:xfrm>
            <a:off x="960120" y="4297680"/>
            <a:ext cx="10241280" cy="685800"/>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400" dirty="0">
                <a:solidFill>
                  <a:srgbClr val="25252B"/>
                </a:solidFill>
                <a:latin typeface="Cambria Math" pitchFamily="34" charset="0"/>
                <a:ea typeface="Cambria Math" pitchFamily="34" charset="-122"/>
                <a:cs typeface="Cambria Math" pitchFamily="34" charset="-120"/>
              </a:rPr>
              <a:t>∀x∃y:  y may depend on x      |      ∃y∀x:  one y must work for all x</a:t>
            </a:r>
            <a:endParaRPr lang="en-US" sz="2400" dirty="0"/>
          </a:p>
        </p:txBody>
      </p:sp>
      <p:sp>
        <p:nvSpPr>
          <p:cNvPr id="24" name="Text 22"/>
          <p:cNvSpPr/>
          <p:nvPr/>
        </p:nvSpPr>
        <p:spPr>
          <a:xfrm>
            <a:off x="1874520" y="5303520"/>
            <a:ext cx="8458200" cy="658368"/>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300" b="1" dirty="0">
                <a:solidFill>
                  <a:srgbClr val="25252B"/>
                </a:solidFill>
                <a:latin typeface="Arial" pitchFamily="34" charset="0"/>
                <a:ea typeface="Arial" pitchFamily="34" charset="-122"/>
                <a:cs typeface="Arial" pitchFamily="34" charset="-120"/>
              </a:rPr>
              <a:t>Key sentence: quantifier order determines dependency.</a:t>
            </a:r>
            <a:endParaRPr lang="en-US" sz="2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6F7"/>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A52A75"/>
          </a:solidFill>
          <a:ln w="12700">
            <a:solidFill>
              <a:srgbClr val="A52A75">
                <a:alpha val="0"/>
              </a:srgbClr>
            </a:solidFill>
            <a:prstDash val="solid"/>
          </a:ln>
        </p:spPr>
      </p:sp>
      <p:sp>
        <p:nvSpPr>
          <p:cNvPr id="3" name="Text 1"/>
          <p:cNvSpPr/>
          <p:nvPr/>
        </p:nvSpPr>
        <p:spPr>
          <a:xfrm>
            <a:off x="822960" y="1143000"/>
            <a:ext cx="3840480" cy="274320"/>
          </a:xfrm>
          <a:prstGeom prst="rect">
            <a:avLst/>
          </a:prstGeom>
          <a:noFill/>
          <a:ln/>
        </p:spPr>
        <p:txBody>
          <a:bodyPr wrap="square" lIns="0" tIns="0" rIns="0" bIns="0" rtlCol="0" anchor="ctr"/>
          <a:lstStyle/>
          <a:p>
            <a:pPr indent="0" marL="0">
              <a:buNone/>
            </a:pPr>
            <a:r>
              <a:rPr lang="en-US" sz="1400" b="1" spc="160" kern="0" dirty="0">
                <a:solidFill>
                  <a:srgbClr val="A52A75"/>
                </a:solidFill>
                <a:latin typeface="Arial" pitchFamily="34" charset="0"/>
                <a:ea typeface="Arial" pitchFamily="34" charset="-122"/>
                <a:cs typeface="Arial" pitchFamily="34" charset="-120"/>
              </a:rPr>
              <a:t>LEARNING APPENDIX</a:t>
            </a:r>
            <a:endParaRPr lang="en-US" sz="1400" dirty="0"/>
          </a:p>
        </p:txBody>
      </p:sp>
      <p:sp>
        <p:nvSpPr>
          <p:cNvPr id="4" name="Text 2"/>
          <p:cNvSpPr/>
          <p:nvPr/>
        </p:nvSpPr>
        <p:spPr>
          <a:xfrm>
            <a:off x="804672" y="1664208"/>
            <a:ext cx="8595360" cy="1005840"/>
          </a:xfrm>
          <a:prstGeom prst="rect">
            <a:avLst/>
          </a:prstGeom>
          <a:noFill/>
          <a:ln/>
        </p:spPr>
        <p:txBody>
          <a:bodyPr wrap="square" lIns="0" tIns="0" rIns="0" bIns="0" rtlCol="0" anchor="ctr"/>
          <a:lstStyle/>
          <a:p>
            <a:pPr indent="0" marL="0">
              <a:buNone/>
            </a:pPr>
            <a:r>
              <a:rPr lang="en-US" sz="4000" b="1" dirty="0">
                <a:solidFill>
                  <a:srgbClr val="25252B"/>
                </a:solidFill>
                <a:latin typeface="Arial" pitchFamily="34" charset="0"/>
                <a:ea typeface="Arial" pitchFamily="34" charset="-122"/>
                <a:cs typeface="Arial" pitchFamily="34" charset="-120"/>
              </a:rPr>
              <a:t>Revision and assessment</a:t>
            </a:r>
            <a:endParaRPr lang="en-US" sz="4000" dirty="0"/>
          </a:p>
        </p:txBody>
      </p:sp>
      <p:sp>
        <p:nvSpPr>
          <p:cNvPr id="5" name="Text 3"/>
          <p:cNvSpPr/>
          <p:nvPr/>
        </p:nvSpPr>
        <p:spPr>
          <a:xfrm>
            <a:off x="822960" y="2880360"/>
            <a:ext cx="7955280" cy="731520"/>
          </a:xfrm>
          <a:prstGeom prst="rect">
            <a:avLst/>
          </a:prstGeom>
          <a:noFill/>
          <a:ln/>
        </p:spPr>
        <p:txBody>
          <a:bodyPr wrap="square" lIns="0" tIns="0" rIns="0" bIns="0" rtlCol="0" anchor="ctr"/>
          <a:lstStyle/>
          <a:p>
            <a:pPr indent="0" marL="0">
              <a:buNone/>
            </a:pPr>
            <a:r>
              <a:rPr lang="en-US" sz="2200" dirty="0">
                <a:solidFill>
                  <a:srgbClr val="5E626B"/>
                </a:solidFill>
                <a:latin typeface="Arial" pitchFamily="34" charset="0"/>
                <a:ea typeface="Arial" pitchFamily="34" charset="-122"/>
                <a:cs typeface="Arial" pitchFamily="34" charset="-120"/>
              </a:rPr>
              <a:t>Core concepts, connections, worked examples, knowledge checks, and verified solutions.</a:t>
            </a:r>
            <a:endParaRPr lang="en-US" sz="2200" dirty="0"/>
          </a:p>
        </p:txBody>
      </p:sp>
      <p:sp>
        <p:nvSpPr>
          <p:cNvPr id="6" name="Text 4"/>
          <p:cNvSpPr/>
          <p:nvPr/>
        </p:nvSpPr>
        <p:spPr>
          <a:xfrm>
            <a:off x="9555480" y="1143000"/>
            <a:ext cx="1737360" cy="1828800"/>
          </a:xfrm>
          <a:prstGeom prst="rect">
            <a:avLst/>
          </a:prstGeom>
          <a:noFill/>
          <a:ln/>
        </p:spPr>
        <p:txBody>
          <a:bodyPr wrap="square" lIns="0" tIns="0" rIns="0" bIns="0" rtlCol="0" anchor="ctr"/>
          <a:lstStyle/>
          <a:p>
            <a:pPr algn="ctr" indent="0" marL="0">
              <a:buNone/>
            </a:pPr>
            <a:r>
              <a:rPr lang="en-US" sz="11000" b="1" dirty="0">
                <a:solidFill>
                  <a:srgbClr val="F3DFEA"/>
                </a:solidFill>
                <a:latin typeface="Arial" pitchFamily="34" charset="0"/>
                <a:ea typeface="Arial" pitchFamily="34" charset="-122"/>
                <a:cs typeface="Arial" pitchFamily="34" charset="-120"/>
              </a:rPr>
              <a:t>A</a:t>
            </a:r>
            <a:endParaRPr lang="en-US" sz="11000" dirty="0"/>
          </a:p>
        </p:txBody>
      </p:sp>
      <p:sp>
        <p:nvSpPr>
          <p:cNvPr id="7" name="Text 5"/>
          <p:cNvSpPr/>
          <p:nvPr/>
        </p:nvSpPr>
        <p:spPr>
          <a:xfrm>
            <a:off x="8503920" y="4023360"/>
            <a:ext cx="3108960" cy="411480"/>
          </a:xfrm>
          <a:prstGeom prst="rect">
            <a:avLst/>
          </a:prstGeom>
          <a:noFill/>
          <a:ln/>
        </p:spPr>
        <p:txBody>
          <a:bodyPr wrap="square" lIns="0" tIns="0" rIns="0" bIns="0" rtlCol="0" anchor="ctr"/>
          <a:lstStyle/>
          <a:p>
            <a:pPr algn="ctr" indent="0" marL="0">
              <a:buNone/>
            </a:pPr>
            <a:r>
              <a:rPr lang="en-US" sz="1800" b="1" dirty="0">
                <a:solidFill>
                  <a:srgbClr val="7D1F58"/>
                </a:solidFill>
                <a:latin typeface="Arial" pitchFamily="34" charset="0"/>
                <a:ea typeface="Arial" pitchFamily="34" charset="-122"/>
                <a:cs typeface="Arial" pitchFamily="34" charset="-120"/>
              </a:rPr>
              <a:t>Review • Practice • Check</a:t>
            </a:r>
            <a:endParaRPr lang="en-US" sz="1800" dirty="0"/>
          </a:p>
        </p:txBody>
      </p:sp>
      <p:sp>
        <p:nvSpPr>
          <p:cNvPr id="8" name="Shape 6"/>
          <p:cNvSpPr/>
          <p:nvPr/>
        </p:nvSpPr>
        <p:spPr>
          <a:xfrm>
            <a:off x="502920" y="6501384"/>
            <a:ext cx="11183112" cy="0"/>
          </a:xfrm>
          <a:prstGeom prst="line">
            <a:avLst/>
          </a:prstGeom>
          <a:noFill/>
          <a:ln w="8890">
            <a:solidFill>
              <a:srgbClr val="D8D2D6"/>
            </a:solidFill>
            <a:prstDash val="solid"/>
          </a:ln>
        </p:spPr>
      </p:sp>
      <p:sp>
        <p:nvSpPr>
          <p:cNvPr id="9" name="Text 7"/>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10" name="Text 8"/>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11" name="Text 9"/>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REVISION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A: core concepts and misconceptions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30</a:t>
            </a:r>
            <a:endParaRPr lang="en-US" sz="1000" dirty="0"/>
          </a:p>
        </p:txBody>
      </p:sp>
      <p:sp>
        <p:nvSpPr>
          <p:cNvPr id="9" name="Text 7"/>
          <p:cNvSpPr/>
          <p:nvPr/>
        </p:nvSpPr>
        <p:spPr>
          <a:xfrm>
            <a:off x="713232" y="1234440"/>
            <a:ext cx="2423160" cy="365760"/>
          </a:xfrm>
          <a:prstGeom prst="rect">
            <a:avLst/>
          </a:prstGeom>
          <a:noFill/>
          <a:ln/>
        </p:spPr>
        <p:txBody>
          <a:bodyPr wrap="square" lIns="0" tIns="0" rIns="0" bIns="0" rtlCol="0" anchor="ctr">
            <a:normAutofit/>
          </a:bodyPr>
          <a:lstStyle/>
          <a:p>
            <a:pPr indent="0" marL="0">
              <a:buNone/>
            </a:pPr>
            <a:r>
              <a:rPr lang="en-US" sz="1850" b="1" dirty="0">
                <a:solidFill>
                  <a:srgbClr val="A52A75"/>
                </a:solidFill>
                <a:latin typeface="Arial" pitchFamily="34" charset="0"/>
                <a:ea typeface="Arial" pitchFamily="34" charset="-122"/>
                <a:cs typeface="Arial" pitchFamily="34" charset="-120"/>
              </a:rPr>
              <a:t>Multiply quantified statement</a:t>
            </a:r>
            <a:endParaRPr lang="en-US" sz="1850" dirty="0"/>
          </a:p>
        </p:txBody>
      </p:sp>
      <p:sp>
        <p:nvSpPr>
          <p:cNvPr id="10" name="Text 8"/>
          <p:cNvSpPr/>
          <p:nvPr/>
        </p:nvSpPr>
        <p:spPr>
          <a:xfrm>
            <a:off x="3273552" y="1234440"/>
            <a:ext cx="3172968" cy="502920"/>
          </a:xfrm>
          <a:prstGeom prst="rect">
            <a:avLst/>
          </a:prstGeom>
          <a:noFill/>
          <a:ln/>
        </p:spPr>
        <p:txBody>
          <a:bodyPr wrap="square" lIns="0" tIns="0" rIns="0" bIns="0" rtlCol="0" anchor="ctr">
            <a:normAutofit/>
          </a:bodyPr>
          <a:lstStyle/>
          <a:p>
            <a:pPr indent="0" marL="0">
              <a:buNone/>
            </a:pPr>
            <a:r>
              <a:rPr lang="en-US" sz="1800" dirty="0">
                <a:solidFill>
                  <a:srgbClr val="25252B"/>
                </a:solidFill>
                <a:latin typeface="Arial" pitchFamily="34" charset="0"/>
                <a:ea typeface="Arial" pitchFamily="34" charset="-122"/>
                <a:cs typeface="Arial" pitchFamily="34" charset="-120"/>
              </a:rPr>
              <a:t>contains more than one quantifier.</a:t>
            </a:r>
            <a:endParaRPr lang="en-US" sz="1800" dirty="0"/>
          </a:p>
        </p:txBody>
      </p:sp>
      <p:sp>
        <p:nvSpPr>
          <p:cNvPr id="11" name="Text 9"/>
          <p:cNvSpPr/>
          <p:nvPr/>
        </p:nvSpPr>
        <p:spPr>
          <a:xfrm>
            <a:off x="713232" y="2103120"/>
            <a:ext cx="2423160" cy="365760"/>
          </a:xfrm>
          <a:prstGeom prst="rect">
            <a:avLst/>
          </a:prstGeom>
          <a:noFill/>
          <a:ln/>
        </p:spPr>
        <p:txBody>
          <a:bodyPr wrap="square" lIns="0" tIns="0" rIns="0" bIns="0" rtlCol="0" anchor="ctr">
            <a:normAutofit/>
          </a:bodyPr>
          <a:lstStyle/>
          <a:p>
            <a:pPr indent="0" marL="0">
              <a:buNone/>
            </a:pPr>
            <a:r>
              <a:rPr lang="en-US" sz="1850" b="1" dirty="0">
                <a:solidFill>
                  <a:srgbClr val="A52A75"/>
                </a:solidFill>
                <a:latin typeface="Arial" pitchFamily="34" charset="0"/>
                <a:ea typeface="Arial" pitchFamily="34" charset="-122"/>
                <a:cs typeface="Arial" pitchFamily="34" charset="-120"/>
              </a:rPr>
              <a:t>Dependency</a:t>
            </a:r>
            <a:endParaRPr lang="en-US" sz="1850" dirty="0"/>
          </a:p>
        </p:txBody>
      </p:sp>
      <p:sp>
        <p:nvSpPr>
          <p:cNvPr id="12" name="Text 10"/>
          <p:cNvSpPr/>
          <p:nvPr/>
        </p:nvSpPr>
        <p:spPr>
          <a:xfrm>
            <a:off x="3273552" y="2103120"/>
            <a:ext cx="3172968" cy="502920"/>
          </a:xfrm>
          <a:prstGeom prst="rect">
            <a:avLst/>
          </a:prstGeom>
          <a:noFill/>
          <a:ln/>
        </p:spPr>
        <p:txBody>
          <a:bodyPr wrap="square" lIns="0" tIns="0" rIns="0" bIns="0" rtlCol="0" anchor="ctr">
            <a:normAutofit/>
          </a:bodyPr>
          <a:lstStyle/>
          <a:p>
            <a:pPr indent="0" marL="0">
              <a:buNone/>
            </a:pPr>
            <a:r>
              <a:rPr lang="en-US" sz="1800" dirty="0">
                <a:solidFill>
                  <a:srgbClr val="25252B"/>
                </a:solidFill>
                <a:latin typeface="Arial" pitchFamily="34" charset="0"/>
                <a:ea typeface="Arial" pitchFamily="34" charset="-122"/>
                <a:cs typeface="Arial" pitchFamily="34" charset="-120"/>
              </a:rPr>
              <a:t>a later existential witness may depend on earlier universal choices.</a:t>
            </a:r>
            <a:endParaRPr lang="en-US" sz="1800" dirty="0"/>
          </a:p>
        </p:txBody>
      </p:sp>
      <p:sp>
        <p:nvSpPr>
          <p:cNvPr id="13" name="Text 11"/>
          <p:cNvSpPr/>
          <p:nvPr/>
        </p:nvSpPr>
        <p:spPr>
          <a:xfrm>
            <a:off x="713232" y="2971800"/>
            <a:ext cx="2423160" cy="365760"/>
          </a:xfrm>
          <a:prstGeom prst="rect">
            <a:avLst/>
          </a:prstGeom>
          <a:noFill/>
          <a:ln/>
        </p:spPr>
        <p:txBody>
          <a:bodyPr wrap="square" lIns="0" tIns="0" rIns="0" bIns="0" rtlCol="0" anchor="ctr">
            <a:normAutofit/>
          </a:bodyPr>
          <a:lstStyle/>
          <a:p>
            <a:pPr indent="0" marL="0">
              <a:buNone/>
            </a:pPr>
            <a:r>
              <a:rPr lang="en-US" sz="1850" b="1" dirty="0">
                <a:solidFill>
                  <a:srgbClr val="A52A75"/>
                </a:solidFill>
                <a:latin typeface="Arial" pitchFamily="34" charset="0"/>
                <a:ea typeface="Arial" pitchFamily="34" charset="-122"/>
                <a:cs typeface="Arial" pitchFamily="34" charset="-120"/>
              </a:rPr>
              <a:t>Common witness</a:t>
            </a:r>
            <a:endParaRPr lang="en-US" sz="1850" dirty="0"/>
          </a:p>
        </p:txBody>
      </p:sp>
      <p:sp>
        <p:nvSpPr>
          <p:cNvPr id="14" name="Text 12"/>
          <p:cNvSpPr/>
          <p:nvPr/>
        </p:nvSpPr>
        <p:spPr>
          <a:xfrm>
            <a:off x="3273552" y="2971800"/>
            <a:ext cx="3172968" cy="502920"/>
          </a:xfrm>
          <a:prstGeom prst="rect">
            <a:avLst/>
          </a:prstGeom>
          <a:noFill/>
          <a:ln/>
        </p:spPr>
        <p:txBody>
          <a:bodyPr wrap="square" lIns="0" tIns="0" rIns="0" bIns="0" rtlCol="0" anchor="ctr">
            <a:normAutofit/>
          </a:bodyPr>
          <a:lstStyle/>
          <a:p>
            <a:pPr indent="0" marL="0">
              <a:buNone/>
            </a:pPr>
            <a:r>
              <a:rPr lang="en-US" sz="1800" dirty="0">
                <a:solidFill>
                  <a:srgbClr val="25252B"/>
                </a:solidFill>
                <a:latin typeface="Arial" pitchFamily="34" charset="0"/>
                <a:ea typeface="Arial" pitchFamily="34" charset="-122"/>
                <a:cs typeface="Arial" pitchFamily="34" charset="-120"/>
              </a:rPr>
              <a:t>an existential value chosen before a universal challenge must work for all cases.</a:t>
            </a:r>
            <a:endParaRPr lang="en-US" sz="1800" dirty="0"/>
          </a:p>
        </p:txBody>
      </p:sp>
      <p:sp>
        <p:nvSpPr>
          <p:cNvPr id="15" name="Text 13"/>
          <p:cNvSpPr/>
          <p:nvPr/>
        </p:nvSpPr>
        <p:spPr>
          <a:xfrm>
            <a:off x="713232" y="3840480"/>
            <a:ext cx="2423160" cy="365760"/>
          </a:xfrm>
          <a:prstGeom prst="rect">
            <a:avLst/>
          </a:prstGeom>
          <a:noFill/>
          <a:ln/>
        </p:spPr>
        <p:txBody>
          <a:bodyPr wrap="square" lIns="0" tIns="0" rIns="0" bIns="0" rtlCol="0" anchor="ctr">
            <a:normAutofit/>
          </a:bodyPr>
          <a:lstStyle/>
          <a:p>
            <a:pPr indent="0" marL="0">
              <a:buNone/>
            </a:pPr>
            <a:r>
              <a:rPr lang="en-US" sz="1850" b="1" dirty="0">
                <a:solidFill>
                  <a:srgbClr val="A52A75"/>
                </a:solidFill>
                <a:latin typeface="Arial" pitchFamily="34" charset="0"/>
                <a:ea typeface="Arial" pitchFamily="34" charset="-122"/>
                <a:cs typeface="Arial" pitchFamily="34" charset="-120"/>
              </a:rPr>
              <a:t>Negation</a:t>
            </a:r>
            <a:endParaRPr lang="en-US" sz="1850" dirty="0"/>
          </a:p>
        </p:txBody>
      </p:sp>
      <p:sp>
        <p:nvSpPr>
          <p:cNvPr id="16" name="Text 14"/>
          <p:cNvSpPr/>
          <p:nvPr/>
        </p:nvSpPr>
        <p:spPr>
          <a:xfrm>
            <a:off x="3273552" y="3840480"/>
            <a:ext cx="3172968" cy="502920"/>
          </a:xfrm>
          <a:prstGeom prst="rect">
            <a:avLst/>
          </a:prstGeom>
          <a:noFill/>
          <a:ln/>
        </p:spPr>
        <p:txBody>
          <a:bodyPr wrap="square" lIns="0" tIns="0" rIns="0" bIns="0" rtlCol="0" anchor="ctr">
            <a:normAutofit/>
          </a:bodyPr>
          <a:lstStyle/>
          <a:p>
            <a:pPr indent="0" marL="0">
              <a:buNone/>
            </a:pPr>
            <a:r>
              <a:rPr lang="en-US" sz="1800" dirty="0">
                <a:solidFill>
                  <a:srgbClr val="25252B"/>
                </a:solidFill>
                <a:latin typeface="Arial" pitchFamily="34" charset="0"/>
                <a:ea typeface="Arial" pitchFamily="34" charset="-122"/>
                <a:cs typeface="Arial" pitchFamily="34" charset="-120"/>
              </a:rPr>
              <a:t>flip every quantifier and negate the final condition.</a:t>
            </a:r>
            <a:endParaRPr lang="en-US" sz="1800" dirty="0"/>
          </a:p>
        </p:txBody>
      </p:sp>
      <p:sp>
        <p:nvSpPr>
          <p:cNvPr id="17" name="Text 15"/>
          <p:cNvSpPr/>
          <p:nvPr/>
        </p:nvSpPr>
        <p:spPr>
          <a:xfrm>
            <a:off x="713232" y="4709160"/>
            <a:ext cx="2423160" cy="365760"/>
          </a:xfrm>
          <a:prstGeom prst="rect">
            <a:avLst/>
          </a:prstGeom>
          <a:noFill/>
          <a:ln/>
        </p:spPr>
        <p:txBody>
          <a:bodyPr wrap="square" lIns="0" tIns="0" rIns="0" bIns="0" rtlCol="0" anchor="ctr">
            <a:normAutofit/>
          </a:bodyPr>
          <a:lstStyle/>
          <a:p>
            <a:pPr indent="0" marL="0">
              <a:buNone/>
            </a:pPr>
            <a:r>
              <a:rPr lang="en-US" sz="1850" b="1" dirty="0">
                <a:solidFill>
                  <a:srgbClr val="A52A75"/>
                </a:solidFill>
                <a:latin typeface="Arial" pitchFamily="34" charset="0"/>
                <a:ea typeface="Arial" pitchFamily="34" charset="-122"/>
                <a:cs typeface="Arial" pitchFamily="34" charset="-120"/>
              </a:rPr>
              <a:t>Restricted domain</a:t>
            </a:r>
            <a:endParaRPr lang="en-US" sz="1850" dirty="0"/>
          </a:p>
        </p:txBody>
      </p:sp>
      <p:sp>
        <p:nvSpPr>
          <p:cNvPr id="18" name="Text 16"/>
          <p:cNvSpPr/>
          <p:nvPr/>
        </p:nvSpPr>
        <p:spPr>
          <a:xfrm>
            <a:off x="3273552" y="4709160"/>
            <a:ext cx="3172968" cy="502920"/>
          </a:xfrm>
          <a:prstGeom prst="rect">
            <a:avLst/>
          </a:prstGeom>
          <a:noFill/>
          <a:ln/>
        </p:spPr>
        <p:txBody>
          <a:bodyPr wrap="square" lIns="0" tIns="0" rIns="0" bIns="0" rtlCol="0" anchor="ctr">
            <a:normAutofit/>
          </a:bodyPr>
          <a:lstStyle/>
          <a:p>
            <a:pPr indent="0" marL="0">
              <a:buNone/>
            </a:pPr>
            <a:r>
              <a:rPr lang="en-US" sz="1800" dirty="0">
                <a:solidFill>
                  <a:srgbClr val="25252B"/>
                </a:solidFill>
                <a:latin typeface="Arial" pitchFamily="34" charset="0"/>
                <a:ea typeface="Arial" pitchFamily="34" charset="-122"/>
                <a:cs typeface="Arial" pitchFamily="34" charset="-120"/>
              </a:rPr>
              <a:t>∀ uses →; ∃ uses ∧.</a:t>
            </a:r>
            <a:endParaRPr lang="en-US" sz="1800" dirty="0"/>
          </a:p>
        </p:txBody>
      </p:sp>
      <p:sp>
        <p:nvSpPr>
          <p:cNvPr id="19" name="Text 17"/>
          <p:cNvSpPr/>
          <p:nvPr/>
        </p:nvSpPr>
        <p:spPr>
          <a:xfrm>
            <a:off x="6812280" y="1234440"/>
            <a:ext cx="4480560" cy="475488"/>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2000" b="1" dirty="0">
                <a:solidFill>
                  <a:srgbClr val="25252B"/>
                </a:solidFill>
                <a:latin typeface="Arial" pitchFamily="34" charset="0"/>
                <a:ea typeface="Arial" pitchFamily="34" charset="-122"/>
                <a:cs typeface="Arial" pitchFamily="34" charset="-120"/>
              </a:rPr>
              <a:t>Misconceptions to avoid</a:t>
            </a:r>
            <a:endParaRPr lang="en-US" sz="2000" dirty="0"/>
          </a:p>
        </p:txBody>
      </p:sp>
      <p:sp>
        <p:nvSpPr>
          <p:cNvPr id="20" name="Text 18"/>
          <p:cNvSpPr/>
          <p:nvPr/>
        </p:nvSpPr>
        <p:spPr>
          <a:xfrm>
            <a:off x="6903720" y="1965960"/>
            <a:ext cx="320040" cy="320040"/>
          </a:xfrm>
          <a:prstGeom prst="rect">
            <a:avLst/>
          </a:prstGeom>
          <a:noFill/>
          <a:ln/>
        </p:spPr>
        <p:txBody>
          <a:bodyPr wrap="square" lIns="0" tIns="0" rIns="0" bIns="0" rtlCol="0" anchor="ctr"/>
          <a:lstStyle/>
          <a:p>
            <a:pPr algn="ctr" indent="0" marL="0">
              <a:buNone/>
            </a:pPr>
            <a:r>
              <a:rPr lang="en-US" sz="2100" b="1" dirty="0">
                <a:solidFill>
                  <a:srgbClr val="B84A4A"/>
                </a:solidFill>
                <a:latin typeface="Arial" pitchFamily="34" charset="0"/>
                <a:ea typeface="Arial" pitchFamily="34" charset="-122"/>
                <a:cs typeface="Arial" pitchFamily="34" charset="-120"/>
              </a:rPr>
              <a:t>×</a:t>
            </a:r>
            <a:endParaRPr lang="en-US" sz="2100" dirty="0"/>
          </a:p>
        </p:txBody>
      </p:sp>
      <p:sp>
        <p:nvSpPr>
          <p:cNvPr id="21" name="Text 19"/>
          <p:cNvSpPr/>
          <p:nvPr/>
        </p:nvSpPr>
        <p:spPr>
          <a:xfrm>
            <a:off x="7315200" y="1938528"/>
            <a:ext cx="3794760" cy="45720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Mixed quantifiers can always be swapped.</a:t>
            </a:r>
            <a:endParaRPr lang="en-US" sz="1750" dirty="0"/>
          </a:p>
        </p:txBody>
      </p:sp>
      <p:sp>
        <p:nvSpPr>
          <p:cNvPr id="22" name="Text 20"/>
          <p:cNvSpPr/>
          <p:nvPr/>
        </p:nvSpPr>
        <p:spPr>
          <a:xfrm>
            <a:off x="6903720" y="2679192"/>
            <a:ext cx="320040" cy="320040"/>
          </a:xfrm>
          <a:prstGeom prst="rect">
            <a:avLst/>
          </a:prstGeom>
          <a:noFill/>
          <a:ln/>
        </p:spPr>
        <p:txBody>
          <a:bodyPr wrap="square" lIns="0" tIns="0" rIns="0" bIns="0" rtlCol="0" anchor="ctr"/>
          <a:lstStyle/>
          <a:p>
            <a:pPr algn="ctr" indent="0" marL="0">
              <a:buNone/>
            </a:pPr>
            <a:r>
              <a:rPr lang="en-US" sz="2100" b="1" dirty="0">
                <a:solidFill>
                  <a:srgbClr val="B84A4A"/>
                </a:solidFill>
                <a:latin typeface="Arial" pitchFamily="34" charset="0"/>
                <a:ea typeface="Arial" pitchFamily="34" charset="-122"/>
                <a:cs typeface="Arial" pitchFamily="34" charset="-120"/>
              </a:rPr>
              <a:t>×</a:t>
            </a:r>
            <a:endParaRPr lang="en-US" sz="2100" dirty="0"/>
          </a:p>
        </p:txBody>
      </p:sp>
      <p:sp>
        <p:nvSpPr>
          <p:cNvPr id="23" name="Text 21"/>
          <p:cNvSpPr/>
          <p:nvPr/>
        </p:nvSpPr>
        <p:spPr>
          <a:xfrm>
            <a:off x="7315200" y="2651760"/>
            <a:ext cx="3794760" cy="45720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One witness is required for every ∀x∃y claim.</a:t>
            </a:r>
            <a:endParaRPr lang="en-US" sz="1750" dirty="0"/>
          </a:p>
        </p:txBody>
      </p:sp>
      <p:sp>
        <p:nvSpPr>
          <p:cNvPr id="24" name="Text 22"/>
          <p:cNvSpPr/>
          <p:nvPr/>
        </p:nvSpPr>
        <p:spPr>
          <a:xfrm>
            <a:off x="6903720" y="3392424"/>
            <a:ext cx="320040" cy="320040"/>
          </a:xfrm>
          <a:prstGeom prst="rect">
            <a:avLst/>
          </a:prstGeom>
          <a:noFill/>
          <a:ln/>
        </p:spPr>
        <p:txBody>
          <a:bodyPr wrap="square" lIns="0" tIns="0" rIns="0" bIns="0" rtlCol="0" anchor="ctr"/>
          <a:lstStyle/>
          <a:p>
            <a:pPr algn="ctr" indent="0" marL="0">
              <a:buNone/>
            </a:pPr>
            <a:r>
              <a:rPr lang="en-US" sz="2100" b="1" dirty="0">
                <a:solidFill>
                  <a:srgbClr val="B84A4A"/>
                </a:solidFill>
                <a:latin typeface="Arial" pitchFamily="34" charset="0"/>
                <a:ea typeface="Arial" pitchFamily="34" charset="-122"/>
                <a:cs typeface="Arial" pitchFamily="34" charset="-120"/>
              </a:rPr>
              <a:t>×</a:t>
            </a:r>
            <a:endParaRPr lang="en-US" sz="2100" dirty="0"/>
          </a:p>
        </p:txBody>
      </p:sp>
      <p:sp>
        <p:nvSpPr>
          <p:cNvPr id="25" name="Text 23"/>
          <p:cNvSpPr/>
          <p:nvPr/>
        </p:nvSpPr>
        <p:spPr>
          <a:xfrm>
            <a:off x="7315200" y="3364992"/>
            <a:ext cx="3794760" cy="45720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“Not all” means “none.”</a:t>
            </a:r>
            <a:endParaRPr lang="en-US" sz="1750" dirty="0"/>
          </a:p>
        </p:txBody>
      </p:sp>
      <p:sp>
        <p:nvSpPr>
          <p:cNvPr id="26" name="Text 24"/>
          <p:cNvSpPr/>
          <p:nvPr/>
        </p:nvSpPr>
        <p:spPr>
          <a:xfrm>
            <a:off x="6903720" y="4105656"/>
            <a:ext cx="320040" cy="320040"/>
          </a:xfrm>
          <a:prstGeom prst="rect">
            <a:avLst/>
          </a:prstGeom>
          <a:noFill/>
          <a:ln/>
        </p:spPr>
        <p:txBody>
          <a:bodyPr wrap="square" lIns="0" tIns="0" rIns="0" bIns="0" rtlCol="0" anchor="ctr"/>
          <a:lstStyle/>
          <a:p>
            <a:pPr algn="ctr" indent="0" marL="0">
              <a:buNone/>
            </a:pPr>
            <a:r>
              <a:rPr lang="en-US" sz="2100" b="1" dirty="0">
                <a:solidFill>
                  <a:srgbClr val="B84A4A"/>
                </a:solidFill>
                <a:latin typeface="Arial" pitchFamily="34" charset="0"/>
                <a:ea typeface="Arial" pitchFamily="34" charset="-122"/>
                <a:cs typeface="Arial" pitchFamily="34" charset="-120"/>
              </a:rPr>
              <a:t>×</a:t>
            </a:r>
            <a:endParaRPr lang="en-US" sz="2100" dirty="0"/>
          </a:p>
        </p:txBody>
      </p:sp>
      <p:sp>
        <p:nvSpPr>
          <p:cNvPr id="27" name="Text 25"/>
          <p:cNvSpPr/>
          <p:nvPr/>
        </p:nvSpPr>
        <p:spPr>
          <a:xfrm>
            <a:off x="7315200" y="4078224"/>
            <a:ext cx="3794760" cy="45720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Negating the predicate alone is enough.</a:t>
            </a:r>
            <a:endParaRPr lang="en-US" sz="1750" dirty="0"/>
          </a:p>
        </p:txBody>
      </p:sp>
      <p:sp>
        <p:nvSpPr>
          <p:cNvPr id="28" name="Text 26"/>
          <p:cNvSpPr/>
          <p:nvPr/>
        </p:nvSpPr>
        <p:spPr>
          <a:xfrm>
            <a:off x="6903720" y="4818888"/>
            <a:ext cx="320040" cy="320040"/>
          </a:xfrm>
          <a:prstGeom prst="rect">
            <a:avLst/>
          </a:prstGeom>
          <a:noFill/>
          <a:ln/>
        </p:spPr>
        <p:txBody>
          <a:bodyPr wrap="square" lIns="0" tIns="0" rIns="0" bIns="0" rtlCol="0" anchor="ctr"/>
          <a:lstStyle/>
          <a:p>
            <a:pPr algn="ctr" indent="0" marL="0">
              <a:buNone/>
            </a:pPr>
            <a:r>
              <a:rPr lang="en-US" sz="2100" b="1" dirty="0">
                <a:solidFill>
                  <a:srgbClr val="B84A4A"/>
                </a:solidFill>
                <a:latin typeface="Arial" pitchFamily="34" charset="0"/>
                <a:ea typeface="Arial" pitchFamily="34" charset="-122"/>
                <a:cs typeface="Arial" pitchFamily="34" charset="-120"/>
              </a:rPr>
              <a:t>×</a:t>
            </a:r>
            <a:endParaRPr lang="en-US" sz="2100" dirty="0"/>
          </a:p>
        </p:txBody>
      </p:sp>
      <p:sp>
        <p:nvSpPr>
          <p:cNvPr id="29" name="Text 27"/>
          <p:cNvSpPr/>
          <p:nvPr/>
        </p:nvSpPr>
        <p:spPr>
          <a:xfrm>
            <a:off x="7315200" y="4791456"/>
            <a:ext cx="3794760" cy="457200"/>
          </a:xfrm>
          <a:prstGeom prst="rect">
            <a:avLst/>
          </a:prstGeom>
          <a:noFill/>
          <a:ln/>
        </p:spPr>
        <p:txBody>
          <a:bodyPr wrap="square" lIns="0" tIns="0" rIns="0" bIns="0" rtlCol="0" anchor="ctr">
            <a:normAutofit/>
          </a:bodyPr>
          <a:lstStyle/>
          <a:p>
            <a:pPr indent="0" marL="0">
              <a:buNone/>
            </a:pPr>
            <a:r>
              <a:rPr lang="en-US" sz="1750" dirty="0">
                <a:solidFill>
                  <a:srgbClr val="25252B"/>
                </a:solidFill>
                <a:latin typeface="Arial" pitchFamily="34" charset="0"/>
                <a:ea typeface="Arial" pitchFamily="34" charset="-122"/>
                <a:cs typeface="Arial" pitchFamily="34" charset="-120"/>
              </a:rPr>
              <a:t>Variable position in P(x,y) does not matter.</a:t>
            </a:r>
            <a:endParaRPr lang="en-US" sz="1750" dirty="0"/>
          </a:p>
        </p:txBody>
      </p:sp>
      <p:sp>
        <p:nvSpPr>
          <p:cNvPr id="30" name="Text 28"/>
          <p:cNvSpPr/>
          <p:nvPr/>
        </p:nvSpPr>
        <p:spPr>
          <a:xfrm>
            <a:off x="1143000" y="5715000"/>
            <a:ext cx="9921240" cy="53035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Best habit: paraphrase every formula in precise English before manipulating it.</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REVISION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B: conceptual connections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27080" cy="4892040"/>
        </p:xfrm>
        <a:graphic>
          <a:graphicData uri="http://schemas.openxmlformats.org/drawingml/2006/table">
            <a:tbl>
              <a:tblPr/>
              <a:tblGrid>
                <a:gridCol w="2331720"/>
                <a:gridCol w="3520440"/>
                <a:gridCol w="5074920"/>
              </a:tblGrid>
              <a:tr h="658368">
                <a:tc>
                  <a:txBody>
                    <a:bodyPr/>
                    <a:lstStyle/>
                    <a:p>
                      <a:pPr algn="ctr" indent="0" marL="0">
                        <a:buNone/>
                      </a:pPr>
                      <a:r>
                        <a:rPr lang="en-US" sz="1650" b="1" dirty="0">
                          <a:solidFill>
                            <a:srgbClr val="FFFFFF"/>
                          </a:solidFill>
                          <a:latin typeface="Arial" pitchFamily="34" charset="0"/>
                          <a:ea typeface="Arial" pitchFamily="34" charset="-122"/>
                          <a:cs typeface="Arial" pitchFamily="34" charset="-120"/>
                        </a:rPr>
                        <a:t>Structure</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650" b="1" dirty="0">
                          <a:solidFill>
                            <a:srgbClr val="FFFFFF"/>
                          </a:solidFill>
                          <a:latin typeface="Arial" pitchFamily="34" charset="0"/>
                          <a:ea typeface="Arial" pitchFamily="34" charset="-122"/>
                          <a:cs typeface="Arial" pitchFamily="34" charset="-120"/>
                        </a:rPr>
                        <a:t>Operational reading</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solidFill>
                      <a:srgbClr val="A52A75"/>
                    </a:solidFill>
                  </a:tcPr>
                </a:tc>
                <a:tc>
                  <a:txBody>
                    <a:bodyPr/>
                    <a:lstStyle/>
                    <a:p>
                      <a:pPr algn="ctr" indent="0" marL="0">
                        <a:buNone/>
                      </a:pPr>
                      <a:r>
                        <a:rPr lang="en-US" sz="1650" b="1" dirty="0">
                          <a:solidFill>
                            <a:srgbClr val="FFFFFF"/>
                          </a:solidFill>
                          <a:latin typeface="Arial" pitchFamily="34" charset="0"/>
                          <a:ea typeface="Arial" pitchFamily="34" charset="-122"/>
                          <a:cs typeface="Arial" pitchFamily="34" charset="-120"/>
                        </a:rPr>
                        <a:t>Typical proof / disproof move</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solidFill>
                      <a:srgbClr val="A52A75"/>
                    </a:solidFill>
                  </a:tcPr>
                </a:tc>
              </a:tr>
              <a:tr h="658368">
                <a:tc>
                  <a:txBody>
                    <a:bodyPr/>
                    <a:lstStyle/>
                    <a:p>
                      <a:pPr indent="0" marL="0">
                        <a:buNone/>
                      </a:pPr>
                      <a:r>
                        <a:rPr lang="en-US" sz="2100" dirty="0">
                          <a:solidFill>
                            <a:srgbClr val="25252B"/>
                          </a:solidFill>
                          <a:latin typeface="Cambria Math" pitchFamily="34" charset="0"/>
                          <a:ea typeface="Cambria Math" pitchFamily="34" charset="-122"/>
                          <a:cs typeface="Cambria Math" pitchFamily="34" charset="-120"/>
                        </a:rPr>
                        <a:t>∀x∃y P(x,y)</a:t>
                      </a:r>
                      <a:endParaRPr lang="en-US" sz="2100" dirty="0">
                        <a:latin typeface="Cambria Math" charset="0"/>
                        <a:ea typeface="Cambria Math" charset="0"/>
                        <a:cs typeface="Cambria Math"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An adversary chooses x; then choose y.</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Prove: give a witness rule y=f(x).</a:t>
                      </a:r>
                      <a:endParaRPr lang="en-US" sz="1650" dirty="0">
                        <a:latin typeface="Arial" charset="0"/>
                        <a:ea typeface="Arial" charset="0"/>
                        <a:cs typeface="Arial" charset="0"/>
                      </a:endParaRPr>
                    </a:p>
                    <a:p>
                      <a:pPr indent="0" marL="0">
                        <a:buNone/>
                      </a:pPr>
                      <a:r>
                        <a:rPr lang="en-US" sz="1650" dirty="0">
                          <a:solidFill>
                            <a:srgbClr val="25252B"/>
                          </a:solidFill>
                          <a:latin typeface="Arial" pitchFamily="34" charset="0"/>
                          <a:ea typeface="Arial" pitchFamily="34" charset="-122"/>
                          <a:cs typeface="Arial" pitchFamily="34" charset="-120"/>
                        </a:rPr>
                        <a:t>Disprove: find an x for which no y works.</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58368">
                <a:tc>
                  <a:txBody>
                    <a:bodyPr/>
                    <a:lstStyle/>
                    <a:p>
                      <a:pPr indent="0" marL="0">
                        <a:buNone/>
                      </a:pPr>
                      <a:r>
                        <a:rPr lang="en-US" sz="2100" dirty="0">
                          <a:solidFill>
                            <a:srgbClr val="25252B"/>
                          </a:solidFill>
                          <a:latin typeface="Cambria Math" pitchFamily="34" charset="0"/>
                          <a:ea typeface="Cambria Math" pitchFamily="34" charset="-122"/>
                          <a:cs typeface="Cambria Math" pitchFamily="34" charset="-120"/>
                        </a:rPr>
                        <a:t>∃y∀x P(x,y)</a:t>
                      </a:r>
                      <a:endParaRPr lang="en-US" sz="2100" dirty="0">
                        <a:latin typeface="Cambria Math" charset="0"/>
                        <a:ea typeface="Cambria Math" charset="0"/>
                        <a:cs typeface="Cambria Math"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Choose one y before seeing x.</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Prove: give one common witness.</a:t>
                      </a:r>
                      <a:endParaRPr lang="en-US" sz="1650" dirty="0">
                        <a:latin typeface="Arial" charset="0"/>
                        <a:ea typeface="Arial" charset="0"/>
                        <a:cs typeface="Arial" charset="0"/>
                      </a:endParaRPr>
                    </a:p>
                    <a:p>
                      <a:pPr indent="0" marL="0">
                        <a:buNone/>
                      </a:pPr>
                      <a:r>
                        <a:rPr lang="en-US" sz="1650" dirty="0">
                          <a:solidFill>
                            <a:srgbClr val="25252B"/>
                          </a:solidFill>
                          <a:latin typeface="Arial" pitchFamily="34" charset="0"/>
                          <a:ea typeface="Arial" pitchFamily="34" charset="-122"/>
                          <a:cs typeface="Arial" pitchFamily="34" charset="-120"/>
                        </a:rPr>
                        <a:t>Disprove: defeat each candidate y with some x.</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58368">
                <a:tc>
                  <a:txBody>
                    <a:bodyPr/>
                    <a:lstStyle/>
                    <a:p>
                      <a:pPr indent="0" marL="0">
                        <a:buNone/>
                      </a:pPr>
                      <a:r>
                        <a:rPr lang="en-US" sz="2100" dirty="0">
                          <a:solidFill>
                            <a:srgbClr val="25252B"/>
                          </a:solidFill>
                          <a:latin typeface="Cambria Math" pitchFamily="34" charset="0"/>
                          <a:ea typeface="Cambria Math" pitchFamily="34" charset="-122"/>
                          <a:cs typeface="Cambria Math" pitchFamily="34" charset="-120"/>
                        </a:rPr>
                        <a:t>¬∀x∃y P</a:t>
                      </a:r>
                      <a:endParaRPr lang="en-US" sz="2100" dirty="0">
                        <a:latin typeface="Cambria Math" charset="0"/>
                        <a:ea typeface="Cambria Math" charset="0"/>
                        <a:cs typeface="Cambria Math"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Some x has no successful y.</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Equivalent to ∃x∀y¬P.</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58368">
                <a:tc>
                  <a:txBody>
                    <a:bodyPr/>
                    <a:lstStyle/>
                    <a:p>
                      <a:pPr indent="0" marL="0">
                        <a:buNone/>
                      </a:pPr>
                      <a:r>
                        <a:rPr lang="en-US" sz="2100" dirty="0">
                          <a:solidFill>
                            <a:srgbClr val="25252B"/>
                          </a:solidFill>
                          <a:latin typeface="Cambria Math" pitchFamily="34" charset="0"/>
                          <a:ea typeface="Cambria Math" pitchFamily="34" charset="-122"/>
                          <a:cs typeface="Cambria Math" pitchFamily="34" charset="-120"/>
                        </a:rPr>
                        <a:t>¬∃y∀x P</a:t>
                      </a:r>
                      <a:endParaRPr lang="en-US" sz="2100" dirty="0">
                        <a:latin typeface="Cambria Math" charset="0"/>
                        <a:ea typeface="Cambria Math" charset="0"/>
                        <a:cs typeface="Cambria Math"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Every candidate y fails somewhere.</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Equivalent to ∀y∃x¬P.</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58368">
                <a:tc>
                  <a:txBody>
                    <a:bodyPr/>
                    <a:lstStyle/>
                    <a:p>
                      <a:pPr indent="0" marL="0">
                        <a:buNone/>
                      </a:pPr>
                      <a:r>
                        <a:rPr lang="en-US" sz="2100" dirty="0">
                          <a:solidFill>
                            <a:srgbClr val="25252B"/>
                          </a:solidFill>
                          <a:latin typeface="Cambria Math" pitchFamily="34" charset="0"/>
                          <a:ea typeface="Cambria Math" pitchFamily="34" charset="-122"/>
                          <a:cs typeface="Cambria Math" pitchFamily="34" charset="-120"/>
                        </a:rPr>
                        <a:t>∀x∈D P(x)</a:t>
                      </a:r>
                      <a:endParaRPr lang="en-US" sz="2100" dirty="0">
                        <a:latin typeface="Cambria Math" charset="0"/>
                        <a:ea typeface="Cambria Math" charset="0"/>
                        <a:cs typeface="Cambria Math"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Every member of D has P.</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Write ∀x(D(x)→P(x)).</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r h="658368">
                <a:tc>
                  <a:txBody>
                    <a:bodyPr/>
                    <a:lstStyle/>
                    <a:p>
                      <a:pPr indent="0" marL="0">
                        <a:buNone/>
                      </a:pPr>
                      <a:r>
                        <a:rPr lang="en-US" sz="2100" dirty="0">
                          <a:solidFill>
                            <a:srgbClr val="25252B"/>
                          </a:solidFill>
                          <a:latin typeface="Cambria Math" pitchFamily="34" charset="0"/>
                          <a:ea typeface="Cambria Math" pitchFamily="34" charset="-122"/>
                          <a:cs typeface="Cambria Math" pitchFamily="34" charset="-120"/>
                        </a:rPr>
                        <a:t>∃x∈D P(x)</a:t>
                      </a:r>
                      <a:endParaRPr lang="en-US" sz="2100" dirty="0">
                        <a:latin typeface="Cambria Math" charset="0"/>
                        <a:ea typeface="Cambria Math" charset="0"/>
                        <a:cs typeface="Cambria Math"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Some member of D has P.</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c>
                  <a:txBody>
                    <a:bodyPr/>
                    <a:lstStyle/>
                    <a:p>
                      <a:pPr indent="0" marL="0">
                        <a:buNone/>
                      </a:pPr>
                      <a:r>
                        <a:rPr lang="en-US" sz="1650" dirty="0">
                          <a:solidFill>
                            <a:srgbClr val="25252B"/>
                          </a:solidFill>
                          <a:latin typeface="Arial" pitchFamily="34" charset="0"/>
                          <a:ea typeface="Arial" pitchFamily="34" charset="-122"/>
                          <a:cs typeface="Arial" pitchFamily="34" charset="-120"/>
                        </a:rPr>
                        <a:t>Write ∃x(D(x)∧P(x)).</a:t>
                      </a:r>
                      <a:endParaRPr lang="en-US" sz="1650" dirty="0">
                        <a:latin typeface="Arial" charset="0"/>
                        <a:ea typeface="Arial" charset="0"/>
                        <a:cs typeface="Arial" charset="0"/>
                      </a:endParaRPr>
                    </a:p>
                  </a:txBody>
                  <a:tcPr marL="64008" marR="64008" marT="64008" marB="64008" anchor="mid">
                    <a:lnL w="11430" cap="flat" cmpd="sng" algn="ctr">
                      <a:solidFill>
                        <a:srgbClr val="D8D2D6"/>
                      </a:solidFill>
                      <a:prstDash val="solid"/>
                      <a:round/>
                      <a:headEnd type="none" w="med" len="med"/>
                      <a:tailEnd type="none" w="med" len="med"/>
                    </a:lnL>
                    <a:lnR w="11430" cap="flat" cmpd="sng" algn="ctr">
                      <a:solidFill>
                        <a:srgbClr val="D8D2D6"/>
                      </a:solidFill>
                      <a:prstDash val="solid"/>
                      <a:round/>
                      <a:headEnd type="none" w="med" len="med"/>
                      <a:tailEnd type="none" w="med" len="med"/>
                    </a:lnR>
                    <a:lnT w="11430" cap="flat" cmpd="sng" algn="ctr">
                      <a:solidFill>
                        <a:srgbClr val="D8D2D6"/>
                      </a:solidFill>
                      <a:prstDash val="solid"/>
                      <a:round/>
                      <a:headEnd type="none" w="med" len="med"/>
                      <a:tailEnd type="none" w="med" len="med"/>
                    </a:lnT>
                    <a:lnB w="11430" cap="flat" cmpd="sng" algn="ctr">
                      <a:solidFill>
                        <a:srgbClr val="D8D2D6"/>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REVISION</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C: representative worked examples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32</a:t>
            </a:r>
            <a:endParaRPr lang="en-US" sz="1000" dirty="0"/>
          </a:p>
        </p:txBody>
      </p:sp>
      <p:sp>
        <p:nvSpPr>
          <p:cNvPr id="9" name="Text 7"/>
          <p:cNvSpPr/>
          <p:nvPr/>
        </p:nvSpPr>
        <p:spPr>
          <a:xfrm>
            <a:off x="685800" y="1234440"/>
            <a:ext cx="1508760" cy="43891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Valid ∀∃</a:t>
            </a:r>
            <a:endParaRPr lang="en-US" sz="1800" dirty="0"/>
          </a:p>
        </p:txBody>
      </p:sp>
      <p:sp>
        <p:nvSpPr>
          <p:cNvPr id="10" name="Text 8"/>
          <p:cNvSpPr/>
          <p:nvPr/>
        </p:nvSpPr>
        <p:spPr>
          <a:xfrm>
            <a:off x="2377440" y="1197864"/>
            <a:ext cx="3611880" cy="566928"/>
          </a:xfrm>
          <a:prstGeom prst="rect">
            <a:avLst/>
          </a:prstGeom>
          <a:noFill/>
          <a:ln/>
        </p:spPr>
        <p:txBody>
          <a:bodyPr wrap="square" lIns="254" tIns="254" rIns="254" bIns="254" rtlCol="0" anchor="ctr">
            <a:normAutofit/>
          </a:bodyPr>
          <a:lstStyle/>
          <a:p>
            <a:pPr algn="ctr" indent="0" marL="0">
              <a:buNone/>
            </a:pPr>
            <a:r>
              <a:rPr lang="en-US" sz="2100" dirty="0">
                <a:solidFill>
                  <a:srgbClr val="25252B"/>
                </a:solidFill>
                <a:latin typeface="Cambria Math" pitchFamily="34" charset="0"/>
                <a:ea typeface="Cambria Math" pitchFamily="34" charset="-122"/>
                <a:cs typeface="Cambria Math" pitchFamily="34" charset="-120"/>
              </a:rPr>
              <a:t>∀x∈ℤ ∃y∈ℤ (x+y=0)</a:t>
            </a:r>
            <a:endParaRPr lang="en-US" sz="2100" dirty="0"/>
          </a:p>
        </p:txBody>
      </p:sp>
      <p:sp>
        <p:nvSpPr>
          <p:cNvPr id="11" name="Text 9"/>
          <p:cNvSpPr/>
          <p:nvPr/>
        </p:nvSpPr>
        <p:spPr>
          <a:xfrm>
            <a:off x="868680" y="2194560"/>
            <a:ext cx="4892040" cy="822960"/>
          </a:xfrm>
          <a:prstGeom prst="rect">
            <a:avLst/>
          </a:prstGeom>
          <a:noFill/>
          <a:ln/>
        </p:spPr>
        <p:txBody>
          <a:bodyPr wrap="square" lIns="0" tIns="0" rIns="0" bIns="0" rtlCol="0" anchor="ctr">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Choose y=-x.</a:t>
            </a:r>
            <a:endParaRPr lang="en-US" sz="1800" dirty="0"/>
          </a:p>
        </p:txBody>
      </p:sp>
      <p:sp>
        <p:nvSpPr>
          <p:cNvPr id="12" name="Text 10"/>
          <p:cNvSpPr/>
          <p:nvPr/>
        </p:nvSpPr>
        <p:spPr>
          <a:xfrm>
            <a:off x="6309360" y="1234440"/>
            <a:ext cx="1508760" cy="438912"/>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Invalid ∃∀</a:t>
            </a:r>
            <a:endParaRPr lang="en-US" sz="1800" dirty="0"/>
          </a:p>
        </p:txBody>
      </p:sp>
      <p:sp>
        <p:nvSpPr>
          <p:cNvPr id="13" name="Text 11"/>
          <p:cNvSpPr/>
          <p:nvPr/>
        </p:nvSpPr>
        <p:spPr>
          <a:xfrm>
            <a:off x="8001000" y="1197864"/>
            <a:ext cx="3611880" cy="566928"/>
          </a:xfrm>
          <a:prstGeom prst="rect">
            <a:avLst/>
          </a:prstGeom>
          <a:noFill/>
          <a:ln/>
        </p:spPr>
        <p:txBody>
          <a:bodyPr wrap="square" lIns="254" tIns="254" rIns="254" bIns="254" rtlCol="0" anchor="ctr">
            <a:normAutofit/>
          </a:bodyPr>
          <a:lstStyle/>
          <a:p>
            <a:pPr algn="ctr" indent="0" marL="0">
              <a:buNone/>
            </a:pPr>
            <a:r>
              <a:rPr lang="en-US" sz="2100" dirty="0">
                <a:solidFill>
                  <a:srgbClr val="25252B"/>
                </a:solidFill>
                <a:latin typeface="Cambria Math" pitchFamily="34" charset="0"/>
                <a:ea typeface="Cambria Math" pitchFamily="34" charset="-122"/>
                <a:cs typeface="Cambria Math" pitchFamily="34" charset="-120"/>
              </a:rPr>
              <a:t>∃y∈ℤ ∀x∈ℤ (x+y=0)</a:t>
            </a:r>
            <a:endParaRPr lang="en-US" sz="2100" dirty="0"/>
          </a:p>
        </p:txBody>
      </p:sp>
      <p:sp>
        <p:nvSpPr>
          <p:cNvPr id="14" name="Text 12"/>
          <p:cNvSpPr/>
          <p:nvPr/>
        </p:nvSpPr>
        <p:spPr>
          <a:xfrm>
            <a:off x="6492240" y="2194560"/>
            <a:ext cx="4892040" cy="822960"/>
          </a:xfrm>
          <a:prstGeom prst="rect">
            <a:avLst/>
          </a:prstGeom>
          <a:noFill/>
          <a:ln/>
        </p:spPr>
        <p:txBody>
          <a:bodyPr wrap="square" lIns="0" tIns="0" rIns="0" bIns="0" rtlCol="0" anchor="ctr">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No single y cancels all x.</a:t>
            </a:r>
            <a:endParaRPr lang="en-US" sz="1800" dirty="0"/>
          </a:p>
        </p:txBody>
      </p:sp>
      <p:sp>
        <p:nvSpPr>
          <p:cNvPr id="15" name="Text 13"/>
          <p:cNvSpPr/>
          <p:nvPr/>
        </p:nvSpPr>
        <p:spPr>
          <a:xfrm>
            <a:off x="685800" y="3566160"/>
            <a:ext cx="1508760" cy="43891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Boundary case</a:t>
            </a:r>
            <a:endParaRPr lang="en-US" sz="1800" dirty="0"/>
          </a:p>
        </p:txBody>
      </p:sp>
      <p:sp>
        <p:nvSpPr>
          <p:cNvPr id="16" name="Text 14"/>
          <p:cNvSpPr/>
          <p:nvPr/>
        </p:nvSpPr>
        <p:spPr>
          <a:xfrm>
            <a:off x="2377440" y="3529584"/>
            <a:ext cx="3611880" cy="566928"/>
          </a:xfrm>
          <a:prstGeom prst="rect">
            <a:avLst/>
          </a:prstGeom>
          <a:noFill/>
          <a:ln/>
        </p:spPr>
        <p:txBody>
          <a:bodyPr wrap="square" lIns="254" tIns="254" rIns="254" bIns="254" rtlCol="0" anchor="ctr">
            <a:normAutofit/>
          </a:bodyPr>
          <a:lstStyle/>
          <a:p>
            <a:pPr algn="ctr" indent="0" marL="0">
              <a:buNone/>
            </a:pPr>
            <a:r>
              <a:rPr lang="en-US" sz="2100" dirty="0">
                <a:solidFill>
                  <a:srgbClr val="25252B"/>
                </a:solidFill>
                <a:latin typeface="Cambria Math" pitchFamily="34" charset="0"/>
                <a:ea typeface="Cambria Math" pitchFamily="34" charset="-122"/>
                <a:cs typeface="Cambria Math" pitchFamily="34" charset="-120"/>
              </a:rPr>
              <a:t>∀x∈ℝ⁺ ∃y∈ℝ⁺ (y&lt;x)</a:t>
            </a:r>
            <a:endParaRPr lang="en-US" sz="2100" dirty="0"/>
          </a:p>
        </p:txBody>
      </p:sp>
      <p:sp>
        <p:nvSpPr>
          <p:cNvPr id="17" name="Text 15"/>
          <p:cNvSpPr/>
          <p:nvPr/>
        </p:nvSpPr>
        <p:spPr>
          <a:xfrm>
            <a:off x="868680" y="4526280"/>
            <a:ext cx="4892040" cy="822960"/>
          </a:xfrm>
          <a:prstGeom prst="rect">
            <a:avLst/>
          </a:prstGeom>
          <a:noFill/>
          <a:ln/>
        </p:spPr>
        <p:txBody>
          <a:bodyPr wrap="square" lIns="0" tIns="0" rIns="0" bIns="0" rtlCol="0" anchor="ctr">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Choose y=x/2; hence no smallest positive real.</a:t>
            </a:r>
            <a:endParaRPr lang="en-US" sz="1800" dirty="0"/>
          </a:p>
        </p:txBody>
      </p:sp>
      <p:sp>
        <p:nvSpPr>
          <p:cNvPr id="18" name="Text 16"/>
          <p:cNvSpPr/>
          <p:nvPr/>
        </p:nvSpPr>
        <p:spPr>
          <a:xfrm>
            <a:off x="6309360" y="3566160"/>
            <a:ext cx="150876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Application</a:t>
            </a:r>
            <a:endParaRPr lang="en-US" sz="1800" dirty="0"/>
          </a:p>
        </p:txBody>
      </p:sp>
      <p:sp>
        <p:nvSpPr>
          <p:cNvPr id="19" name="Text 17"/>
          <p:cNvSpPr/>
          <p:nvPr/>
        </p:nvSpPr>
        <p:spPr>
          <a:xfrm>
            <a:off x="8001000" y="3529584"/>
            <a:ext cx="3611880" cy="566928"/>
          </a:xfrm>
          <a:prstGeom prst="rect">
            <a:avLst/>
          </a:prstGeom>
          <a:noFill/>
          <a:ln/>
        </p:spPr>
        <p:txBody>
          <a:bodyPr wrap="square" lIns="254" tIns="254" rIns="254" bIns="254" rtlCol="0" anchor="ctr">
            <a:normAutofit/>
          </a:bodyPr>
          <a:lstStyle/>
          <a:p>
            <a:pPr algn="ctr" indent="0" marL="0">
              <a:buNone/>
            </a:pPr>
            <a:r>
              <a:rPr lang="en-US" sz="2000" dirty="0">
                <a:solidFill>
                  <a:srgbClr val="25252B"/>
                </a:solidFill>
                <a:latin typeface="Cambria Math" pitchFamily="34" charset="0"/>
                <a:ea typeface="Cambria Math" pitchFamily="34" charset="-122"/>
                <a:cs typeface="Cambria Math" pitchFamily="34" charset="-120"/>
              </a:rPr>
              <a:t>¬∀u∃s Access(u,s)</a:t>
            </a:r>
            <a:endParaRPr lang="en-US" sz="2000" dirty="0"/>
          </a:p>
        </p:txBody>
      </p:sp>
      <p:sp>
        <p:nvSpPr>
          <p:cNvPr id="20" name="Text 18"/>
          <p:cNvSpPr/>
          <p:nvPr/>
        </p:nvSpPr>
        <p:spPr>
          <a:xfrm>
            <a:off x="6492240" y="4526280"/>
            <a:ext cx="4892040" cy="822960"/>
          </a:xfrm>
          <a:prstGeom prst="rect">
            <a:avLst/>
          </a:prstGeom>
          <a:noFill/>
          <a:ln/>
        </p:spPr>
        <p:txBody>
          <a:bodyPr wrap="square" lIns="0" tIns="0" rIns="0" bIns="0" rtlCol="0" anchor="ctr">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Equivalent to ∃u∀s¬Access(u,s).</a:t>
            </a:r>
            <a:endParaRPr lang="en-US" sz="1800" dirty="0"/>
          </a:p>
        </p:txBody>
      </p:sp>
      <p:sp>
        <p:nvSpPr>
          <p:cNvPr id="21" name="Text 19"/>
          <p:cNvSpPr/>
          <p:nvPr/>
        </p:nvSpPr>
        <p:spPr>
          <a:xfrm>
            <a:off x="1051560" y="5715000"/>
            <a:ext cx="10058400" cy="53035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50" b="1" dirty="0">
                <a:solidFill>
                  <a:srgbClr val="25252B"/>
                </a:solidFill>
                <a:latin typeface="Arial" pitchFamily="34" charset="0"/>
                <a:ea typeface="Arial" pitchFamily="34" charset="-122"/>
                <a:cs typeface="Arial" pitchFamily="34" charset="-120"/>
              </a:rPr>
              <a:t>Each example exercises a distinct case: dependent witness, common witness failure, dense-order boundary, and policy negation.</a:t>
            </a:r>
            <a:endParaRPr lang="en-US" sz="1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QUESTIONS 1-3</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D: knowledge check 1</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33</a:t>
            </a:r>
            <a:endParaRPr lang="en-US" sz="1000" dirty="0"/>
          </a:p>
        </p:txBody>
      </p:sp>
      <p:sp>
        <p:nvSpPr>
          <p:cNvPr id="9" name="Text 7"/>
          <p:cNvSpPr/>
          <p:nvPr/>
        </p:nvSpPr>
        <p:spPr>
          <a:xfrm>
            <a:off x="685800" y="1234440"/>
            <a:ext cx="192024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1. Multiple choice</a:t>
            </a:r>
            <a:endParaRPr lang="en-US" sz="1900" dirty="0"/>
          </a:p>
        </p:txBody>
      </p:sp>
      <p:sp>
        <p:nvSpPr>
          <p:cNvPr id="10" name="Text 8"/>
          <p:cNvSpPr/>
          <p:nvPr/>
        </p:nvSpPr>
        <p:spPr>
          <a:xfrm>
            <a:off x="2788920" y="1234440"/>
            <a:ext cx="8046720" cy="438912"/>
          </a:xfrm>
          <a:prstGeom prst="rect">
            <a:avLst/>
          </a:prstGeom>
          <a:noFill/>
          <a:ln/>
        </p:spPr>
        <p:txBody>
          <a:bodyPr wrap="square" lIns="0" tIns="0" rIns="0" bIns="0" rtlCol="0" anchor="ctr"/>
          <a:lstStyle/>
          <a:p>
            <a:pPr indent="0" marL="0">
              <a:buNone/>
            </a:pPr>
            <a:r>
              <a:rPr lang="en-US" sz="2000" b="1" dirty="0">
                <a:solidFill>
                  <a:srgbClr val="25252B"/>
                </a:solidFill>
                <a:latin typeface="Arial" pitchFamily="34" charset="0"/>
                <a:ea typeface="Arial" pitchFamily="34" charset="-122"/>
                <a:cs typeface="Arial" pitchFamily="34" charset="-120"/>
              </a:rPr>
              <a:t>Which formula means “one server is accessible by every user”?</a:t>
            </a:r>
            <a:endParaRPr lang="en-US" sz="2000" dirty="0"/>
          </a:p>
        </p:txBody>
      </p:sp>
      <p:sp>
        <p:nvSpPr>
          <p:cNvPr id="11" name="Text 9"/>
          <p:cNvSpPr/>
          <p:nvPr/>
        </p:nvSpPr>
        <p:spPr>
          <a:xfrm>
            <a:off x="1005840" y="1965960"/>
            <a:ext cx="4663440" cy="411480"/>
          </a:xfrm>
          <a:prstGeom prst="rect">
            <a:avLst/>
          </a:prstGeom>
          <a:noFill/>
          <a:ln/>
        </p:spPr>
        <p:txBody>
          <a:bodyPr wrap="square" lIns="0" tIns="0" rIns="0" bIns="0" rtlCol="0" anchor="ctr"/>
          <a:lstStyle/>
          <a:p>
            <a:pPr indent="0" marL="0">
              <a:buNone/>
            </a:pPr>
            <a:r>
              <a:rPr lang="en-US" sz="1900" dirty="0">
                <a:solidFill>
                  <a:srgbClr val="25252B"/>
                </a:solidFill>
                <a:latin typeface="Cambria Math" pitchFamily="34" charset="0"/>
                <a:ea typeface="Cambria Math" pitchFamily="34" charset="-122"/>
                <a:cs typeface="Cambria Math" pitchFamily="34" charset="-120"/>
              </a:rPr>
              <a:t>A. ∀u∃s Access(u,s)</a:t>
            </a:r>
            <a:endParaRPr lang="en-US" sz="1900" dirty="0"/>
          </a:p>
        </p:txBody>
      </p:sp>
      <p:sp>
        <p:nvSpPr>
          <p:cNvPr id="12" name="Text 10"/>
          <p:cNvSpPr/>
          <p:nvPr/>
        </p:nvSpPr>
        <p:spPr>
          <a:xfrm>
            <a:off x="6172200" y="1965960"/>
            <a:ext cx="4663440" cy="411480"/>
          </a:xfrm>
          <a:prstGeom prst="rect">
            <a:avLst/>
          </a:prstGeom>
          <a:noFill/>
          <a:ln/>
        </p:spPr>
        <p:txBody>
          <a:bodyPr wrap="square" lIns="0" tIns="0" rIns="0" bIns="0" rtlCol="0" anchor="ctr"/>
          <a:lstStyle/>
          <a:p>
            <a:pPr indent="0" marL="0">
              <a:buNone/>
            </a:pPr>
            <a:r>
              <a:rPr lang="en-US" sz="1900" dirty="0">
                <a:solidFill>
                  <a:srgbClr val="25252B"/>
                </a:solidFill>
                <a:latin typeface="Cambria Math" pitchFamily="34" charset="0"/>
                <a:ea typeface="Cambria Math" pitchFamily="34" charset="-122"/>
                <a:cs typeface="Cambria Math" pitchFamily="34" charset="-120"/>
              </a:rPr>
              <a:t>B. ∃s∀u Access(u,s)</a:t>
            </a:r>
            <a:endParaRPr lang="en-US" sz="1900" dirty="0"/>
          </a:p>
        </p:txBody>
      </p:sp>
      <p:sp>
        <p:nvSpPr>
          <p:cNvPr id="13" name="Text 11"/>
          <p:cNvSpPr/>
          <p:nvPr/>
        </p:nvSpPr>
        <p:spPr>
          <a:xfrm>
            <a:off x="1005840" y="2624328"/>
            <a:ext cx="4663440" cy="411480"/>
          </a:xfrm>
          <a:prstGeom prst="rect">
            <a:avLst/>
          </a:prstGeom>
          <a:noFill/>
          <a:ln/>
        </p:spPr>
        <p:txBody>
          <a:bodyPr wrap="square" lIns="0" tIns="0" rIns="0" bIns="0" rtlCol="0" anchor="ctr"/>
          <a:lstStyle/>
          <a:p>
            <a:pPr indent="0" marL="0">
              <a:buNone/>
            </a:pPr>
            <a:r>
              <a:rPr lang="en-US" sz="1900" dirty="0">
                <a:solidFill>
                  <a:srgbClr val="25252B"/>
                </a:solidFill>
                <a:latin typeface="Cambria Math" pitchFamily="34" charset="0"/>
                <a:ea typeface="Cambria Math" pitchFamily="34" charset="-122"/>
                <a:cs typeface="Cambria Math" pitchFamily="34" charset="-120"/>
              </a:rPr>
              <a:t>C. ∀s∃u Access(u,s)</a:t>
            </a:r>
            <a:endParaRPr lang="en-US" sz="1900" dirty="0"/>
          </a:p>
        </p:txBody>
      </p:sp>
      <p:sp>
        <p:nvSpPr>
          <p:cNvPr id="14" name="Text 12"/>
          <p:cNvSpPr/>
          <p:nvPr/>
        </p:nvSpPr>
        <p:spPr>
          <a:xfrm>
            <a:off x="6172200" y="2624328"/>
            <a:ext cx="4663440" cy="411480"/>
          </a:xfrm>
          <a:prstGeom prst="rect">
            <a:avLst/>
          </a:prstGeom>
          <a:noFill/>
          <a:ln/>
        </p:spPr>
        <p:txBody>
          <a:bodyPr wrap="square" lIns="0" tIns="0" rIns="0" bIns="0" rtlCol="0" anchor="ctr"/>
          <a:lstStyle/>
          <a:p>
            <a:pPr indent="0" marL="0">
              <a:buNone/>
            </a:pPr>
            <a:r>
              <a:rPr lang="en-US" sz="1900" dirty="0">
                <a:solidFill>
                  <a:srgbClr val="25252B"/>
                </a:solidFill>
                <a:latin typeface="Cambria Math" pitchFamily="34" charset="0"/>
                <a:ea typeface="Cambria Math" pitchFamily="34" charset="-122"/>
                <a:cs typeface="Cambria Math" pitchFamily="34" charset="-120"/>
              </a:rPr>
              <a:t>D. ∃u∀s Access(u,s)</a:t>
            </a:r>
            <a:endParaRPr lang="en-US" sz="1900" dirty="0"/>
          </a:p>
        </p:txBody>
      </p:sp>
      <p:sp>
        <p:nvSpPr>
          <p:cNvPr id="15" name="Shape 13"/>
          <p:cNvSpPr/>
          <p:nvPr/>
        </p:nvSpPr>
        <p:spPr>
          <a:xfrm>
            <a:off x="731520" y="3429000"/>
            <a:ext cx="10698480" cy="0"/>
          </a:xfrm>
          <a:prstGeom prst="line">
            <a:avLst/>
          </a:prstGeom>
          <a:noFill/>
          <a:ln w="12700">
            <a:solidFill>
              <a:srgbClr val="D8D2D6"/>
            </a:solidFill>
            <a:prstDash val="solid"/>
          </a:ln>
        </p:spPr>
      </p:sp>
      <p:sp>
        <p:nvSpPr>
          <p:cNvPr id="16" name="Text 14"/>
          <p:cNvSpPr/>
          <p:nvPr/>
        </p:nvSpPr>
        <p:spPr>
          <a:xfrm>
            <a:off x="685800" y="3703320"/>
            <a:ext cx="2423160" cy="43891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2. Justified true / false</a:t>
            </a:r>
            <a:endParaRPr lang="en-US" sz="1800" dirty="0"/>
          </a:p>
        </p:txBody>
      </p:sp>
      <p:sp>
        <p:nvSpPr>
          <p:cNvPr id="17" name="Text 15"/>
          <p:cNvSpPr/>
          <p:nvPr/>
        </p:nvSpPr>
        <p:spPr>
          <a:xfrm>
            <a:off x="3337560" y="3703320"/>
            <a:ext cx="7498080" cy="438912"/>
          </a:xfrm>
          <a:prstGeom prst="rect">
            <a:avLst/>
          </a:prstGeom>
          <a:noFill/>
          <a:ln/>
        </p:spPr>
        <p:txBody>
          <a:bodyPr wrap="square" lIns="0" tIns="0" rIns="0" bIns="0" rtlCol="0" anchor="ctr"/>
          <a:lstStyle/>
          <a:p>
            <a:pPr indent="0" marL="0">
              <a:buNone/>
            </a:pPr>
            <a:r>
              <a:rPr lang="en-US" sz="1950" b="1" dirty="0">
                <a:solidFill>
                  <a:srgbClr val="25252B"/>
                </a:solidFill>
                <a:latin typeface="Arial" pitchFamily="34" charset="0"/>
                <a:ea typeface="Arial" pitchFamily="34" charset="-122"/>
                <a:cs typeface="Arial" pitchFamily="34" charset="-120"/>
              </a:rPr>
              <a:t>Swapping ∀ and ∃ never changes the truth value of a statement.</a:t>
            </a:r>
            <a:endParaRPr lang="en-US" sz="1950" dirty="0"/>
          </a:p>
        </p:txBody>
      </p:sp>
      <p:sp>
        <p:nvSpPr>
          <p:cNvPr id="18" name="Text 16"/>
          <p:cNvSpPr/>
          <p:nvPr/>
        </p:nvSpPr>
        <p:spPr>
          <a:xfrm>
            <a:off x="685800" y="4709160"/>
            <a:ext cx="2423160" cy="43891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3. Justified true / false</a:t>
            </a:r>
            <a:endParaRPr lang="en-US" sz="1800" dirty="0"/>
          </a:p>
        </p:txBody>
      </p:sp>
      <p:sp>
        <p:nvSpPr>
          <p:cNvPr id="19" name="Text 17"/>
          <p:cNvSpPr/>
          <p:nvPr/>
        </p:nvSpPr>
        <p:spPr>
          <a:xfrm>
            <a:off x="3337560" y="4617720"/>
            <a:ext cx="5577840" cy="594360"/>
          </a:xfrm>
          <a:prstGeom prst="rect">
            <a:avLst/>
          </a:prstGeom>
          <a:noFill/>
          <a:ln/>
        </p:spPr>
        <p:txBody>
          <a:bodyPr wrap="square" lIns="254" tIns="254" rIns="254" bIns="254" rtlCol="0" anchor="ctr">
            <a:normAutofit/>
          </a:bodyPr>
          <a:lstStyle/>
          <a:p>
            <a:pPr algn="l" indent="0" marL="0">
              <a:buNone/>
            </a:pPr>
            <a:r>
              <a:rPr lang="en-US" sz="2300" dirty="0">
                <a:solidFill>
                  <a:srgbClr val="25252B"/>
                </a:solidFill>
                <a:latin typeface="Cambria Math" pitchFamily="34" charset="0"/>
                <a:ea typeface="Cambria Math" pitchFamily="34" charset="-122"/>
                <a:cs typeface="Cambria Math" pitchFamily="34" charset="-120"/>
              </a:rPr>
              <a:t>∀x∀y P(x,y)  ≡  ∀y∀x P(x,y)</a:t>
            </a:r>
            <a:endParaRPr lang="en-US" sz="2300" dirty="0"/>
          </a:p>
        </p:txBody>
      </p:sp>
      <p:sp>
        <p:nvSpPr>
          <p:cNvPr id="20" name="Text 18"/>
          <p:cNvSpPr/>
          <p:nvPr/>
        </p:nvSpPr>
        <p:spPr>
          <a:xfrm>
            <a:off x="1234440" y="5806440"/>
            <a:ext cx="9692640" cy="365760"/>
          </a:xfrm>
          <a:prstGeom prst="rect">
            <a:avLst/>
          </a:prstGeom>
          <a:noFill/>
          <a:ln/>
        </p:spPr>
        <p:txBody>
          <a:bodyPr wrap="square" lIns="0" tIns="0" rIns="0" bIns="0" rtlCol="0" anchor="ctr"/>
          <a:lstStyle/>
          <a:p>
            <a:pPr algn="ctr" indent="0" marL="0">
              <a:buNone/>
            </a:pPr>
            <a:r>
              <a:rPr lang="en-US" sz="1750" dirty="0">
                <a:solidFill>
                  <a:srgbClr val="5E626B"/>
                </a:solidFill>
                <a:latin typeface="Arial" pitchFamily="34" charset="0"/>
                <a:ea typeface="Arial" pitchFamily="34" charset="-122"/>
                <a:cs typeface="Arial" pitchFamily="34" charset="-120"/>
              </a:rPr>
              <a:t>For each true/false item, give one sentence of justification.</a:t>
            </a:r>
            <a:endParaRPr lang="en-US" sz="1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QUESTIONS 4-6</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D: knowledge check 2</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34</a:t>
            </a:r>
            <a:endParaRPr lang="en-US" sz="1000" dirty="0"/>
          </a:p>
        </p:txBody>
      </p:sp>
      <p:sp>
        <p:nvSpPr>
          <p:cNvPr id="9" name="Text 7"/>
          <p:cNvSpPr/>
          <p:nvPr/>
        </p:nvSpPr>
        <p:spPr>
          <a:xfrm>
            <a:off x="685800" y="1188720"/>
            <a:ext cx="169164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4. Formalize</a:t>
            </a:r>
            <a:endParaRPr lang="en-US" sz="1900" dirty="0"/>
          </a:p>
        </p:txBody>
      </p:sp>
      <p:sp>
        <p:nvSpPr>
          <p:cNvPr id="10" name="Text 8"/>
          <p:cNvSpPr/>
          <p:nvPr/>
        </p:nvSpPr>
        <p:spPr>
          <a:xfrm>
            <a:off x="2606040" y="1197864"/>
            <a:ext cx="8138160" cy="411480"/>
          </a:xfrm>
          <a:prstGeom prst="rect">
            <a:avLst/>
          </a:prstGeom>
          <a:noFill/>
          <a:ln/>
        </p:spPr>
        <p:txBody>
          <a:bodyPr wrap="square" lIns="0" tIns="0" rIns="0" bIns="0" rtlCol="0" anchor="ctr"/>
          <a:lstStyle/>
          <a:p>
            <a:pPr indent="0" marL="0">
              <a:buNone/>
            </a:pPr>
            <a:r>
              <a:rPr lang="en-US" sz="2000" b="1" dirty="0">
                <a:solidFill>
                  <a:srgbClr val="25252B"/>
                </a:solidFill>
                <a:latin typeface="Arial" pitchFamily="34" charset="0"/>
                <a:ea typeface="Arial" pitchFamily="34" charset="-122"/>
                <a:cs typeface="Arial" pitchFamily="34" charset="-120"/>
              </a:rPr>
              <a:t>Every student owns at least one laptop.</a:t>
            </a:r>
            <a:endParaRPr lang="en-US" sz="2000" dirty="0"/>
          </a:p>
        </p:txBody>
      </p:sp>
      <p:sp>
        <p:nvSpPr>
          <p:cNvPr id="11" name="Text 9"/>
          <p:cNvSpPr/>
          <p:nvPr/>
        </p:nvSpPr>
        <p:spPr>
          <a:xfrm>
            <a:off x="2606040" y="1719072"/>
            <a:ext cx="8138160" cy="411480"/>
          </a:xfrm>
          <a:prstGeom prst="rect">
            <a:avLst/>
          </a:prstGeom>
          <a:noFill/>
          <a:ln/>
        </p:spPr>
        <p:txBody>
          <a:bodyPr wrap="square" lIns="0" tIns="0" rIns="0" bIns="0" rtlCol="0" anchor="ctr"/>
          <a:lstStyle/>
          <a:p>
            <a:pPr indent="0" marL="0">
              <a:buNone/>
            </a:pPr>
            <a:r>
              <a:rPr lang="en-US" sz="1750" dirty="0">
                <a:solidFill>
                  <a:srgbClr val="5E626B"/>
                </a:solidFill>
                <a:latin typeface="Arial" pitchFamily="34" charset="0"/>
                <a:ea typeface="Arial" pitchFamily="34" charset="-122"/>
                <a:cs typeface="Arial" pitchFamily="34" charset="-120"/>
              </a:rPr>
              <a:t>Use a common domain and the predicates Student(x), Laptop(y), and Owns(x,y).</a:t>
            </a:r>
            <a:endParaRPr lang="en-US" sz="1750" dirty="0"/>
          </a:p>
        </p:txBody>
      </p:sp>
      <p:sp>
        <p:nvSpPr>
          <p:cNvPr id="12" name="Shape 10"/>
          <p:cNvSpPr/>
          <p:nvPr/>
        </p:nvSpPr>
        <p:spPr>
          <a:xfrm>
            <a:off x="731520" y="2331720"/>
            <a:ext cx="10698480" cy="0"/>
          </a:xfrm>
          <a:prstGeom prst="line">
            <a:avLst/>
          </a:prstGeom>
          <a:noFill/>
          <a:ln w="12700">
            <a:solidFill>
              <a:srgbClr val="D8D2D6"/>
            </a:solidFill>
            <a:prstDash val="solid"/>
          </a:ln>
        </p:spPr>
      </p:sp>
      <p:sp>
        <p:nvSpPr>
          <p:cNvPr id="13" name="Text 11"/>
          <p:cNvSpPr/>
          <p:nvPr/>
        </p:nvSpPr>
        <p:spPr>
          <a:xfrm>
            <a:off x="685800" y="2651760"/>
            <a:ext cx="1691640" cy="43891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5. Negate</a:t>
            </a:r>
            <a:endParaRPr lang="en-US" sz="1900" dirty="0"/>
          </a:p>
        </p:txBody>
      </p:sp>
      <p:sp>
        <p:nvSpPr>
          <p:cNvPr id="14" name="Text 12"/>
          <p:cNvSpPr/>
          <p:nvPr/>
        </p:nvSpPr>
        <p:spPr>
          <a:xfrm>
            <a:off x="2606040" y="2560320"/>
            <a:ext cx="3931920" cy="594360"/>
          </a:xfrm>
          <a:prstGeom prst="rect">
            <a:avLst/>
          </a:prstGeom>
          <a:noFill/>
          <a:ln/>
        </p:spPr>
        <p:txBody>
          <a:bodyPr wrap="square" lIns="254" tIns="254" rIns="254" bIns="254" rtlCol="0" anchor="ctr">
            <a:normAutofit/>
          </a:bodyPr>
          <a:lstStyle/>
          <a:p>
            <a:pPr algn="l" indent="0" marL="0">
              <a:buNone/>
            </a:pPr>
            <a:r>
              <a:rPr lang="en-US" sz="2500" dirty="0">
                <a:solidFill>
                  <a:srgbClr val="25252B"/>
                </a:solidFill>
                <a:latin typeface="Cambria Math" pitchFamily="34" charset="0"/>
                <a:ea typeface="Cambria Math" pitchFamily="34" charset="-122"/>
                <a:cs typeface="Cambria Math" pitchFamily="34" charset="-120"/>
              </a:rPr>
              <a:t>∀x∃y R(x,y)</a:t>
            </a:r>
            <a:endParaRPr lang="en-US" sz="2500" dirty="0"/>
          </a:p>
        </p:txBody>
      </p:sp>
      <p:sp>
        <p:nvSpPr>
          <p:cNvPr id="15" name="Text 13"/>
          <p:cNvSpPr/>
          <p:nvPr/>
        </p:nvSpPr>
        <p:spPr>
          <a:xfrm>
            <a:off x="6537960" y="2697480"/>
            <a:ext cx="4480560" cy="384048"/>
          </a:xfrm>
          <a:prstGeom prst="rect">
            <a:avLst/>
          </a:prstGeom>
          <a:noFill/>
          <a:ln/>
        </p:spPr>
        <p:txBody>
          <a:bodyPr wrap="square" lIns="0" tIns="0" rIns="0" bIns="0" rtlCol="0" anchor="ctr"/>
          <a:lstStyle/>
          <a:p>
            <a:pPr indent="0" marL="0">
              <a:buNone/>
            </a:pPr>
            <a:r>
              <a:rPr lang="en-US" sz="1750" dirty="0">
                <a:solidFill>
                  <a:srgbClr val="5E626B"/>
                </a:solidFill>
                <a:latin typeface="Arial" pitchFamily="34" charset="0"/>
                <a:ea typeface="Arial" pitchFamily="34" charset="-122"/>
                <a:cs typeface="Arial" pitchFamily="34" charset="-120"/>
              </a:rPr>
              <a:t>Give both the symbolic negation and an English reading.</a:t>
            </a:r>
            <a:endParaRPr lang="en-US" sz="1750" dirty="0"/>
          </a:p>
        </p:txBody>
      </p:sp>
      <p:sp>
        <p:nvSpPr>
          <p:cNvPr id="16" name="Shape 14"/>
          <p:cNvSpPr/>
          <p:nvPr/>
        </p:nvSpPr>
        <p:spPr>
          <a:xfrm>
            <a:off x="731520" y="3657600"/>
            <a:ext cx="10698480" cy="0"/>
          </a:xfrm>
          <a:prstGeom prst="line">
            <a:avLst/>
          </a:prstGeom>
          <a:noFill/>
          <a:ln w="12700">
            <a:solidFill>
              <a:srgbClr val="D8D2D6"/>
            </a:solidFill>
            <a:prstDash val="solid"/>
          </a:ln>
        </p:spPr>
      </p:sp>
      <p:sp>
        <p:nvSpPr>
          <p:cNvPr id="17" name="Text 15"/>
          <p:cNvSpPr/>
          <p:nvPr/>
        </p:nvSpPr>
        <p:spPr>
          <a:xfrm>
            <a:off x="685800" y="3977640"/>
            <a:ext cx="2057400" cy="438912"/>
          </a:xfrm>
          <a:prstGeom prst="rect">
            <a:avLst/>
          </a:prstGeom>
          <a:solidFill>
            <a:srgbClr val="F9E9E9"/>
          </a:solidFill>
          <a:ln w="12700">
            <a:solidFill>
              <a:srgbClr val="B84A4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6. Error detection</a:t>
            </a:r>
            <a:endParaRPr lang="en-US" sz="1900" dirty="0"/>
          </a:p>
        </p:txBody>
      </p:sp>
      <p:sp>
        <p:nvSpPr>
          <p:cNvPr id="18" name="Text 16"/>
          <p:cNvSpPr/>
          <p:nvPr/>
        </p:nvSpPr>
        <p:spPr>
          <a:xfrm>
            <a:off x="2971800" y="3977640"/>
            <a:ext cx="7498080" cy="384048"/>
          </a:xfrm>
          <a:prstGeom prst="rect">
            <a:avLst/>
          </a:prstGeom>
          <a:noFill/>
          <a:ln/>
        </p:spPr>
        <p:txBody>
          <a:bodyPr wrap="square" lIns="0" tIns="0" rIns="0" bIns="0" rtlCol="0" anchor="ctr"/>
          <a:lstStyle/>
          <a:p>
            <a:pPr indent="0" marL="0">
              <a:buNone/>
            </a:pPr>
            <a:r>
              <a:rPr lang="en-US" sz="1950" b="1" dirty="0">
                <a:solidFill>
                  <a:srgbClr val="25252B"/>
                </a:solidFill>
                <a:latin typeface="Arial" pitchFamily="34" charset="0"/>
                <a:ea typeface="Arial" pitchFamily="34" charset="-122"/>
                <a:cs typeface="Arial" pitchFamily="34" charset="-120"/>
              </a:rPr>
              <a:t>A student translates “Some student passed” as:</a:t>
            </a:r>
            <a:endParaRPr lang="en-US" sz="1950" dirty="0"/>
          </a:p>
        </p:txBody>
      </p:sp>
      <p:sp>
        <p:nvSpPr>
          <p:cNvPr id="19" name="Text 17"/>
          <p:cNvSpPr/>
          <p:nvPr/>
        </p:nvSpPr>
        <p:spPr>
          <a:xfrm>
            <a:off x="2880360" y="4590288"/>
            <a:ext cx="5212080" cy="621792"/>
          </a:xfrm>
          <a:prstGeom prst="rect">
            <a:avLst/>
          </a:prstGeom>
          <a:solidFill>
            <a:srgbClr val="F8F6F7"/>
          </a:solidFill>
          <a:ln w="12700">
            <a:solidFill>
              <a:srgbClr val="D8D2D6"/>
            </a:solidFill>
          </a:ln>
        </p:spPr>
        <p:txBody>
          <a:bodyPr wrap="square" lIns="254" tIns="254" rIns="254" bIns="254" rtlCol="0" anchor="ctr">
            <a:normAutofit/>
          </a:bodyPr>
          <a:lstStyle/>
          <a:p>
            <a:pPr algn="ctr" indent="0" marL="0">
              <a:buNone/>
            </a:pPr>
            <a:r>
              <a:rPr lang="en-US" sz="2400" dirty="0">
                <a:solidFill>
                  <a:srgbClr val="25252B"/>
                </a:solidFill>
                <a:latin typeface="Cambria Math" pitchFamily="34" charset="0"/>
                <a:ea typeface="Cambria Math" pitchFamily="34" charset="-122"/>
                <a:cs typeface="Cambria Math" pitchFamily="34" charset="-120"/>
              </a:rPr>
              <a:t>∀x(Student(x) → Passed(x))</a:t>
            </a:r>
            <a:endParaRPr lang="en-US" sz="2400" dirty="0"/>
          </a:p>
        </p:txBody>
      </p:sp>
      <p:sp>
        <p:nvSpPr>
          <p:cNvPr id="20" name="Text 18"/>
          <p:cNvSpPr/>
          <p:nvPr/>
        </p:nvSpPr>
        <p:spPr>
          <a:xfrm>
            <a:off x="2880360" y="5394960"/>
            <a:ext cx="6217920" cy="384048"/>
          </a:xfrm>
          <a:prstGeom prst="rect">
            <a:avLst/>
          </a:prstGeom>
          <a:noFill/>
          <a:ln/>
        </p:spPr>
        <p:txBody>
          <a:bodyPr wrap="square" lIns="0" tIns="0" rIns="0" bIns="0" rtlCol="0" anchor="ctr"/>
          <a:lstStyle/>
          <a:p>
            <a:pPr indent="0" marL="0">
              <a:buNone/>
            </a:pPr>
            <a:r>
              <a:rPr lang="en-US" sz="1800" dirty="0">
                <a:solidFill>
                  <a:srgbClr val="5E626B"/>
                </a:solidFill>
                <a:latin typeface="Arial" pitchFamily="34" charset="0"/>
                <a:ea typeface="Arial" pitchFamily="34" charset="-122"/>
                <a:cs typeface="Arial" pitchFamily="34" charset="-120"/>
              </a:rPr>
              <a:t>Identify the error and write the correct formula.</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QUESTIONS 7-8</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D: knowledge check 3</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35</a:t>
            </a:r>
            <a:endParaRPr lang="en-US" sz="1000" dirty="0"/>
          </a:p>
        </p:txBody>
      </p:sp>
      <p:sp>
        <p:nvSpPr>
          <p:cNvPr id="9" name="Text 7"/>
          <p:cNvSpPr/>
          <p:nvPr/>
        </p:nvSpPr>
        <p:spPr>
          <a:xfrm>
            <a:off x="685800" y="1234440"/>
            <a:ext cx="2743200" cy="457200"/>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7. Construct a countermodel</a:t>
            </a:r>
            <a:endParaRPr lang="en-US" sz="1900" dirty="0"/>
          </a:p>
        </p:txBody>
      </p:sp>
      <p:sp>
        <p:nvSpPr>
          <p:cNvPr id="10" name="Text 8"/>
          <p:cNvSpPr/>
          <p:nvPr/>
        </p:nvSpPr>
        <p:spPr>
          <a:xfrm>
            <a:off x="3703320" y="1261872"/>
            <a:ext cx="6949440" cy="384048"/>
          </a:xfrm>
          <a:prstGeom prst="rect">
            <a:avLst/>
          </a:prstGeom>
          <a:noFill/>
          <a:ln/>
        </p:spPr>
        <p:txBody>
          <a:bodyPr wrap="square" lIns="0" tIns="0" rIns="0" bIns="0" rtlCol="0" anchor="ctr"/>
          <a:lstStyle/>
          <a:p>
            <a:pPr indent="0" marL="0">
              <a:buNone/>
            </a:pPr>
            <a:r>
              <a:rPr lang="en-US" sz="2000" b="1" dirty="0">
                <a:solidFill>
                  <a:srgbClr val="25252B"/>
                </a:solidFill>
                <a:latin typeface="Arial" pitchFamily="34" charset="0"/>
                <a:ea typeface="Arial" pitchFamily="34" charset="-122"/>
                <a:cs typeface="Arial" pitchFamily="34" charset="-120"/>
              </a:rPr>
              <a:t>On the domain {1,2}, define a relation R such that</a:t>
            </a:r>
            <a:endParaRPr lang="en-US" sz="2000" dirty="0"/>
          </a:p>
        </p:txBody>
      </p:sp>
      <p:sp>
        <p:nvSpPr>
          <p:cNvPr id="11" name="Text 9"/>
          <p:cNvSpPr/>
          <p:nvPr/>
        </p:nvSpPr>
        <p:spPr>
          <a:xfrm>
            <a:off x="1234440" y="1965960"/>
            <a:ext cx="9738360" cy="658368"/>
          </a:xfrm>
          <a:prstGeom prst="rect">
            <a:avLst/>
          </a:prstGeom>
          <a:solidFill>
            <a:srgbClr val="E8F2F8"/>
          </a:solidFill>
          <a:ln w="12700">
            <a:solidFill>
              <a:srgbClr val="3E7DA6"/>
            </a:solidFill>
          </a:ln>
        </p:spPr>
        <p:txBody>
          <a:bodyPr wrap="square" lIns="254" tIns="254" rIns="254" bIns="254" rtlCol="0" anchor="ctr">
            <a:normAutofit/>
          </a:bodyPr>
          <a:lstStyle/>
          <a:p>
            <a:pPr algn="ctr" indent="0" marL="0">
              <a:buNone/>
            </a:pPr>
            <a:r>
              <a:rPr lang="en-US" sz="2400" dirty="0">
                <a:solidFill>
                  <a:srgbClr val="25252B"/>
                </a:solidFill>
                <a:latin typeface="Cambria Math" pitchFamily="34" charset="0"/>
                <a:ea typeface="Cambria Math" pitchFamily="34" charset="-122"/>
                <a:cs typeface="Cambria Math" pitchFamily="34" charset="-120"/>
              </a:rPr>
              <a:t>∀x∃y R(x,y)  is true, but  ∃y∀x R(x,y)  is false.</a:t>
            </a:r>
            <a:endParaRPr lang="en-US" sz="2400" dirty="0"/>
          </a:p>
        </p:txBody>
      </p:sp>
      <p:sp>
        <p:nvSpPr>
          <p:cNvPr id="12" name="Text 10"/>
          <p:cNvSpPr/>
          <p:nvPr/>
        </p:nvSpPr>
        <p:spPr>
          <a:xfrm>
            <a:off x="1508760" y="2816352"/>
            <a:ext cx="9235440" cy="420624"/>
          </a:xfrm>
          <a:prstGeom prst="rect">
            <a:avLst/>
          </a:prstGeom>
          <a:noFill/>
          <a:ln/>
        </p:spPr>
        <p:txBody>
          <a:bodyPr wrap="square" lIns="0" tIns="0" rIns="0" bIns="0" rtlCol="0" anchor="ctr"/>
          <a:lstStyle/>
          <a:p>
            <a:pPr algn="ctr" indent="0" marL="0">
              <a:buNone/>
            </a:pPr>
            <a:r>
              <a:rPr lang="en-US" sz="1850" dirty="0">
                <a:solidFill>
                  <a:srgbClr val="5E626B"/>
                </a:solidFill>
                <a:latin typeface="Arial" pitchFamily="34" charset="0"/>
                <a:ea typeface="Arial" pitchFamily="34" charset="-122"/>
                <a:cs typeface="Arial" pitchFamily="34" charset="-120"/>
              </a:rPr>
              <a:t>Give R as a set of ordered pairs and justify both truth values.</a:t>
            </a:r>
            <a:endParaRPr lang="en-US" sz="1850" dirty="0"/>
          </a:p>
        </p:txBody>
      </p:sp>
      <p:sp>
        <p:nvSpPr>
          <p:cNvPr id="13" name="Shape 11"/>
          <p:cNvSpPr/>
          <p:nvPr/>
        </p:nvSpPr>
        <p:spPr>
          <a:xfrm>
            <a:off x="731520" y="3474720"/>
            <a:ext cx="10698480" cy="0"/>
          </a:xfrm>
          <a:prstGeom prst="line">
            <a:avLst/>
          </a:prstGeom>
          <a:noFill/>
          <a:ln w="12700">
            <a:solidFill>
              <a:srgbClr val="D8D2D6"/>
            </a:solidFill>
            <a:prstDash val="solid"/>
          </a:ln>
        </p:spPr>
      </p:sp>
      <p:sp>
        <p:nvSpPr>
          <p:cNvPr id="14" name="Text 12"/>
          <p:cNvSpPr/>
          <p:nvPr/>
        </p:nvSpPr>
        <p:spPr>
          <a:xfrm>
            <a:off x="685800" y="3794760"/>
            <a:ext cx="2743200" cy="457200"/>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8. Security-policy analysis</a:t>
            </a:r>
            <a:endParaRPr lang="en-US" sz="1900" dirty="0"/>
          </a:p>
        </p:txBody>
      </p:sp>
      <p:sp>
        <p:nvSpPr>
          <p:cNvPr id="15" name="Text 13"/>
          <p:cNvSpPr/>
          <p:nvPr/>
        </p:nvSpPr>
        <p:spPr>
          <a:xfrm>
            <a:off x="3703320" y="3813048"/>
            <a:ext cx="2560320" cy="384048"/>
          </a:xfrm>
          <a:prstGeom prst="rect">
            <a:avLst/>
          </a:prstGeom>
          <a:noFill/>
          <a:ln/>
        </p:spPr>
        <p:txBody>
          <a:bodyPr wrap="square" lIns="0" tIns="0" rIns="0" bIns="0" rtlCol="0" anchor="ctr"/>
          <a:lstStyle/>
          <a:p>
            <a:pPr indent="0" marL="0">
              <a:buNone/>
            </a:pPr>
            <a:r>
              <a:rPr lang="en-US" sz="2000" b="1" dirty="0">
                <a:solidFill>
                  <a:srgbClr val="25252B"/>
                </a:solidFill>
                <a:latin typeface="Arial" pitchFamily="34" charset="0"/>
                <a:ea typeface="Arial" pitchFamily="34" charset="-122"/>
                <a:cs typeface="Arial" pitchFamily="34" charset="-120"/>
              </a:rPr>
              <a:t>Negate and interpret:</a:t>
            </a:r>
            <a:endParaRPr lang="en-US" sz="2000" dirty="0"/>
          </a:p>
        </p:txBody>
      </p:sp>
      <p:sp>
        <p:nvSpPr>
          <p:cNvPr id="16" name="Text 14"/>
          <p:cNvSpPr/>
          <p:nvPr/>
        </p:nvSpPr>
        <p:spPr>
          <a:xfrm>
            <a:off x="6446520" y="3703320"/>
            <a:ext cx="3886200" cy="621792"/>
          </a:xfrm>
          <a:prstGeom prst="rect">
            <a:avLst/>
          </a:prstGeom>
          <a:noFill/>
          <a:ln/>
        </p:spPr>
        <p:txBody>
          <a:bodyPr wrap="square" lIns="254" tIns="254" rIns="254" bIns="254" rtlCol="0" anchor="ctr">
            <a:normAutofit/>
          </a:bodyPr>
          <a:lstStyle/>
          <a:p>
            <a:pPr algn="ctr" indent="0" marL="0">
              <a:buNone/>
            </a:pPr>
            <a:r>
              <a:rPr lang="en-US" sz="2600" dirty="0">
                <a:solidFill>
                  <a:srgbClr val="25252B"/>
                </a:solidFill>
                <a:latin typeface="Cambria Math" pitchFamily="34" charset="0"/>
                <a:ea typeface="Cambria Math" pitchFamily="34" charset="-122"/>
                <a:cs typeface="Cambria Math" pitchFamily="34" charset="-120"/>
              </a:rPr>
              <a:t>∀u∃s Access(u,s)</a:t>
            </a:r>
            <a:endParaRPr lang="en-US" sz="2600" dirty="0"/>
          </a:p>
        </p:txBody>
      </p:sp>
      <p:sp>
        <p:nvSpPr>
          <p:cNvPr id="17" name="Text 15"/>
          <p:cNvSpPr/>
          <p:nvPr/>
        </p:nvSpPr>
        <p:spPr>
          <a:xfrm>
            <a:off x="1051560" y="4709160"/>
            <a:ext cx="10058400" cy="685800"/>
          </a:xfrm>
          <a:prstGeom prst="rect">
            <a:avLst/>
          </a:prstGeom>
          <a:noFill/>
          <a:ln/>
        </p:spPr>
        <p:txBody>
          <a:bodyPr wrap="square" lIns="0" tIns="0" rIns="0" bIns="0" rtlCol="0" anchor="ctr">
            <a:normAutofit/>
          </a:bodyPr>
          <a:lstStyle/>
          <a:p>
            <a:pPr algn="ctr" indent="0" marL="0">
              <a:buNone/>
            </a:pPr>
            <a:r>
              <a:rPr lang="en-US" sz="1900" dirty="0">
                <a:solidFill>
                  <a:srgbClr val="5E626B"/>
                </a:solidFill>
                <a:latin typeface="Arial" pitchFamily="34" charset="0"/>
                <a:ea typeface="Arial" pitchFamily="34" charset="-122"/>
                <a:cs typeface="Arial" pitchFamily="34" charset="-120"/>
              </a:rPr>
              <a:t>Then explain whether the negation describes one user, every user, one server, or every server.</a:t>
            </a:r>
            <a:endParaRPr lang="en-US" sz="1900" dirty="0"/>
          </a:p>
        </p:txBody>
      </p:sp>
      <p:sp>
        <p:nvSpPr>
          <p:cNvPr id="18" name="Text 16"/>
          <p:cNvSpPr/>
          <p:nvPr/>
        </p:nvSpPr>
        <p:spPr>
          <a:xfrm>
            <a:off x="1143000" y="5623560"/>
            <a:ext cx="9829800" cy="53035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850" b="1" dirty="0">
                <a:solidFill>
                  <a:srgbClr val="25252B"/>
                </a:solidFill>
                <a:latin typeface="Arial" pitchFamily="34" charset="0"/>
                <a:ea typeface="Arial" pitchFamily="34" charset="-122"/>
                <a:cs typeface="Arial" pitchFamily="34" charset="-120"/>
              </a:rPr>
              <a:t>Show your reasoning; a correct formula without interpretation is incomplete.</a:t>
            </a:r>
            <a:endParaRPr lang="en-US" sz="1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QUESTIONS 1-4</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E: answer key 1</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36</a:t>
            </a:r>
            <a:endParaRPr lang="en-US" sz="1000" dirty="0"/>
          </a:p>
        </p:txBody>
      </p:sp>
      <p:sp>
        <p:nvSpPr>
          <p:cNvPr id="9" name="Text 7"/>
          <p:cNvSpPr/>
          <p:nvPr/>
        </p:nvSpPr>
        <p:spPr>
          <a:xfrm>
            <a:off x="685800" y="121615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10" name="Text 8"/>
          <p:cNvSpPr/>
          <p:nvPr/>
        </p:nvSpPr>
        <p:spPr>
          <a:xfrm>
            <a:off x="1325880" y="1170432"/>
            <a:ext cx="4206240" cy="438912"/>
          </a:xfrm>
          <a:prstGeom prst="rect">
            <a:avLst/>
          </a:prstGeom>
          <a:noFill/>
          <a:ln/>
        </p:spPr>
        <p:txBody>
          <a:bodyPr wrap="square" lIns="0" tIns="0" rIns="0" bIns="0" rtlCol="0" anchor="ctr">
            <a:normAutofit/>
          </a:bodyPr>
          <a:lstStyle/>
          <a:p>
            <a:pPr indent="0" marL="0">
              <a:buNone/>
            </a:pPr>
            <a:r>
              <a:rPr lang="en-US" sz="1900" b="1" dirty="0">
                <a:solidFill>
                  <a:srgbClr val="25252B"/>
                </a:solidFill>
                <a:latin typeface="Arial" pitchFamily="34" charset="0"/>
                <a:ea typeface="Arial" pitchFamily="34" charset="-122"/>
                <a:cs typeface="Arial" pitchFamily="34" charset="-120"/>
              </a:rPr>
              <a:t>B. ∃s∀u Access(u,s).</a:t>
            </a:r>
            <a:endParaRPr lang="en-US" sz="1900" dirty="0"/>
          </a:p>
        </p:txBody>
      </p:sp>
      <p:sp>
        <p:nvSpPr>
          <p:cNvPr id="11" name="Text 9"/>
          <p:cNvSpPr/>
          <p:nvPr/>
        </p:nvSpPr>
        <p:spPr>
          <a:xfrm>
            <a:off x="5623560" y="1170432"/>
            <a:ext cx="548640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The server is chosen once and must work for every user. A allows different servers; C and D reverse the roles.</a:t>
            </a:r>
            <a:endParaRPr lang="en-US" sz="1650" dirty="0"/>
          </a:p>
        </p:txBody>
      </p:sp>
      <p:sp>
        <p:nvSpPr>
          <p:cNvPr id="12" name="Text 10"/>
          <p:cNvSpPr/>
          <p:nvPr/>
        </p:nvSpPr>
        <p:spPr>
          <a:xfrm>
            <a:off x="685800" y="245059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3" name="Text 11"/>
          <p:cNvSpPr/>
          <p:nvPr/>
        </p:nvSpPr>
        <p:spPr>
          <a:xfrm>
            <a:off x="1325880" y="2404872"/>
            <a:ext cx="4206240" cy="438912"/>
          </a:xfrm>
          <a:prstGeom prst="rect">
            <a:avLst/>
          </a:prstGeom>
          <a:noFill/>
          <a:ln/>
        </p:spPr>
        <p:txBody>
          <a:bodyPr wrap="square" lIns="0" tIns="0" rIns="0" bIns="0" rtlCol="0" anchor="ctr">
            <a:normAutofit/>
          </a:bodyPr>
          <a:lstStyle/>
          <a:p>
            <a:pPr indent="0" marL="0">
              <a:buNone/>
            </a:pPr>
            <a:r>
              <a:rPr lang="en-US" sz="1900" b="1" dirty="0">
                <a:solidFill>
                  <a:srgbClr val="25252B"/>
                </a:solidFill>
                <a:latin typeface="Arial" pitchFamily="34" charset="0"/>
                <a:ea typeface="Arial" pitchFamily="34" charset="-122"/>
                <a:cs typeface="Arial" pitchFamily="34" charset="-120"/>
              </a:rPr>
              <a:t>False.</a:t>
            </a:r>
            <a:endParaRPr lang="en-US" sz="1900" dirty="0"/>
          </a:p>
        </p:txBody>
      </p:sp>
      <p:sp>
        <p:nvSpPr>
          <p:cNvPr id="14" name="Text 12"/>
          <p:cNvSpPr/>
          <p:nvPr/>
        </p:nvSpPr>
        <p:spPr>
          <a:xfrm>
            <a:off x="5623560" y="2404872"/>
            <a:ext cx="548640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Mixed quantifiers generally cannot be swapped. Example: ∀x∃y(x+y=0) is true over ℤ, but ∃y∀x(x+y=0) is false.</a:t>
            </a:r>
            <a:endParaRPr lang="en-US" sz="1650" dirty="0"/>
          </a:p>
        </p:txBody>
      </p:sp>
      <p:sp>
        <p:nvSpPr>
          <p:cNvPr id="15" name="Text 13"/>
          <p:cNvSpPr/>
          <p:nvPr/>
        </p:nvSpPr>
        <p:spPr>
          <a:xfrm>
            <a:off x="685800" y="368503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6" name="Text 14"/>
          <p:cNvSpPr/>
          <p:nvPr/>
        </p:nvSpPr>
        <p:spPr>
          <a:xfrm>
            <a:off x="1325880" y="3639312"/>
            <a:ext cx="4206240" cy="438912"/>
          </a:xfrm>
          <a:prstGeom prst="rect">
            <a:avLst/>
          </a:prstGeom>
          <a:noFill/>
          <a:ln/>
        </p:spPr>
        <p:txBody>
          <a:bodyPr wrap="square" lIns="0" tIns="0" rIns="0" bIns="0" rtlCol="0" anchor="ctr">
            <a:normAutofit/>
          </a:bodyPr>
          <a:lstStyle/>
          <a:p>
            <a:pPr indent="0" marL="0">
              <a:buNone/>
            </a:pPr>
            <a:r>
              <a:rPr lang="en-US" sz="1900" b="1" dirty="0">
                <a:solidFill>
                  <a:srgbClr val="25252B"/>
                </a:solidFill>
                <a:latin typeface="Arial" pitchFamily="34" charset="0"/>
                <a:ea typeface="Arial" pitchFamily="34" charset="-122"/>
                <a:cs typeface="Arial" pitchFamily="34" charset="-120"/>
              </a:rPr>
              <a:t>True.</a:t>
            </a:r>
            <a:endParaRPr lang="en-US" sz="1900" dirty="0"/>
          </a:p>
        </p:txBody>
      </p:sp>
      <p:sp>
        <p:nvSpPr>
          <p:cNvPr id="17" name="Text 15"/>
          <p:cNvSpPr/>
          <p:nvPr/>
        </p:nvSpPr>
        <p:spPr>
          <a:xfrm>
            <a:off x="5623560" y="3639312"/>
            <a:ext cx="548640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Adjacent universal quantifiers commute: both formulas require P(x,y) for every ordered pair (x,y).</a:t>
            </a:r>
            <a:endParaRPr lang="en-US" sz="1650" dirty="0"/>
          </a:p>
        </p:txBody>
      </p:sp>
      <p:sp>
        <p:nvSpPr>
          <p:cNvPr id="18" name="Text 16"/>
          <p:cNvSpPr/>
          <p:nvPr/>
        </p:nvSpPr>
        <p:spPr>
          <a:xfrm>
            <a:off x="685800" y="491947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19" name="Text 17"/>
          <p:cNvSpPr/>
          <p:nvPr/>
        </p:nvSpPr>
        <p:spPr>
          <a:xfrm>
            <a:off x="1325880" y="4873752"/>
            <a:ext cx="4206240" cy="438912"/>
          </a:xfrm>
          <a:prstGeom prst="rect">
            <a:avLst/>
          </a:prstGeom>
          <a:noFill/>
          <a:ln/>
        </p:spPr>
        <p:txBody>
          <a:bodyPr wrap="square" lIns="0" tIns="0" rIns="0" bIns="0" rtlCol="0" anchor="ctr">
            <a:normAutofit/>
          </a:bodyPr>
          <a:lstStyle/>
          <a:p>
            <a:pPr indent="0" marL="0">
              <a:buNone/>
            </a:pPr>
            <a:r>
              <a:rPr lang="en-US" sz="1850" b="1" dirty="0">
                <a:solidFill>
                  <a:srgbClr val="25252B"/>
                </a:solidFill>
                <a:latin typeface="Cambria Math" pitchFamily="34" charset="0"/>
                <a:ea typeface="Cambria Math" pitchFamily="34" charset="-122"/>
                <a:cs typeface="Cambria Math" pitchFamily="34" charset="-120"/>
              </a:rPr>
              <a:t>∀x(Student(x) → ∃y(Laptop(y) ∧ Owns(x,y))).</a:t>
            </a:r>
            <a:endParaRPr lang="en-US" sz="1850" dirty="0"/>
          </a:p>
        </p:txBody>
      </p:sp>
      <p:sp>
        <p:nvSpPr>
          <p:cNvPr id="20" name="Text 18"/>
          <p:cNvSpPr/>
          <p:nvPr/>
        </p:nvSpPr>
        <p:spPr>
          <a:xfrm>
            <a:off x="5623560" y="4873752"/>
            <a:ext cx="548640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The universal restriction uses implication; the existential laptop witness uses conjunction.</a:t>
            </a:r>
            <a:endParaRPr lang="en-US" sz="16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QUESTIONS 5-8</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E: answer key 2</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37</a:t>
            </a:r>
            <a:endParaRPr lang="en-US" sz="1000" dirty="0"/>
          </a:p>
        </p:txBody>
      </p:sp>
      <p:sp>
        <p:nvSpPr>
          <p:cNvPr id="9" name="Text 7"/>
          <p:cNvSpPr/>
          <p:nvPr/>
        </p:nvSpPr>
        <p:spPr>
          <a:xfrm>
            <a:off x="685800" y="121615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10" name="Text 8"/>
          <p:cNvSpPr/>
          <p:nvPr/>
        </p:nvSpPr>
        <p:spPr>
          <a:xfrm>
            <a:off x="1325880" y="1170432"/>
            <a:ext cx="3886200" cy="438912"/>
          </a:xfrm>
          <a:prstGeom prst="rect">
            <a:avLst/>
          </a:prstGeom>
          <a:noFill/>
          <a:ln/>
        </p:spPr>
        <p:txBody>
          <a:bodyPr wrap="square" lIns="0" tIns="0" rIns="0" bIns="0" rtlCol="0" anchor="ctr">
            <a:normAutofit/>
          </a:bodyPr>
          <a:lstStyle/>
          <a:p>
            <a:pPr indent="0" marL="0">
              <a:buNone/>
            </a:pPr>
            <a:r>
              <a:rPr lang="en-US" sz="1850" b="1" dirty="0">
                <a:solidFill>
                  <a:srgbClr val="25252B"/>
                </a:solidFill>
                <a:latin typeface="Cambria Math" pitchFamily="34" charset="0"/>
                <a:ea typeface="Cambria Math" pitchFamily="34" charset="-122"/>
                <a:cs typeface="Cambria Math" pitchFamily="34" charset="-120"/>
              </a:rPr>
              <a:t>∃x∀y ¬R(x,y).</a:t>
            </a:r>
            <a:endParaRPr lang="en-US" sz="1850" dirty="0"/>
          </a:p>
        </p:txBody>
      </p:sp>
      <p:sp>
        <p:nvSpPr>
          <p:cNvPr id="11" name="Text 9"/>
          <p:cNvSpPr/>
          <p:nvPr/>
        </p:nvSpPr>
        <p:spPr>
          <a:xfrm>
            <a:off x="5349240" y="1170432"/>
            <a:ext cx="580644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English: there is an x related to no y. Common error: flipping ∀ but leaving ∃ unchanged.</a:t>
            </a:r>
            <a:endParaRPr lang="en-US" sz="1650" dirty="0"/>
          </a:p>
        </p:txBody>
      </p:sp>
      <p:sp>
        <p:nvSpPr>
          <p:cNvPr id="12" name="Text 10"/>
          <p:cNvSpPr/>
          <p:nvPr/>
        </p:nvSpPr>
        <p:spPr>
          <a:xfrm>
            <a:off x="685800" y="245059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6</a:t>
            </a:r>
            <a:endParaRPr lang="en-US" sz="1900" dirty="0"/>
          </a:p>
        </p:txBody>
      </p:sp>
      <p:sp>
        <p:nvSpPr>
          <p:cNvPr id="13" name="Text 11"/>
          <p:cNvSpPr/>
          <p:nvPr/>
        </p:nvSpPr>
        <p:spPr>
          <a:xfrm>
            <a:off x="1325880" y="2404872"/>
            <a:ext cx="3886200" cy="438912"/>
          </a:xfrm>
          <a:prstGeom prst="rect">
            <a:avLst/>
          </a:prstGeom>
          <a:noFill/>
          <a:ln/>
        </p:spPr>
        <p:txBody>
          <a:bodyPr wrap="square" lIns="0" tIns="0" rIns="0" bIns="0" rtlCol="0" anchor="ctr">
            <a:normAutofit/>
          </a:bodyPr>
          <a:lstStyle/>
          <a:p>
            <a:pPr indent="0" marL="0">
              <a:buNone/>
            </a:pPr>
            <a:r>
              <a:rPr lang="en-US" sz="1850" b="1" dirty="0">
                <a:solidFill>
                  <a:srgbClr val="25252B"/>
                </a:solidFill>
                <a:latin typeface="Cambria Math" pitchFamily="34" charset="0"/>
                <a:ea typeface="Cambria Math" pitchFamily="34" charset="-122"/>
                <a:cs typeface="Cambria Math" pitchFamily="34" charset="-120"/>
              </a:rPr>
              <a:t>∃x(Student(x) ∧ Passed(x)).</a:t>
            </a:r>
            <a:endParaRPr lang="en-US" sz="1850" dirty="0"/>
          </a:p>
        </p:txBody>
      </p:sp>
      <p:sp>
        <p:nvSpPr>
          <p:cNvPr id="14" name="Text 12"/>
          <p:cNvSpPr/>
          <p:nvPr/>
        </p:nvSpPr>
        <p:spPr>
          <a:xfrm>
            <a:off x="5349240" y="2404872"/>
            <a:ext cx="580644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The original formula says every student passed. “Some” requires ∃, and the witness must satisfy both predicates.</a:t>
            </a:r>
            <a:endParaRPr lang="en-US" sz="1650" dirty="0"/>
          </a:p>
        </p:txBody>
      </p:sp>
      <p:sp>
        <p:nvSpPr>
          <p:cNvPr id="15" name="Text 13"/>
          <p:cNvSpPr/>
          <p:nvPr/>
        </p:nvSpPr>
        <p:spPr>
          <a:xfrm>
            <a:off x="685800" y="368503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7</a:t>
            </a:r>
            <a:endParaRPr lang="en-US" sz="1900" dirty="0"/>
          </a:p>
        </p:txBody>
      </p:sp>
      <p:sp>
        <p:nvSpPr>
          <p:cNvPr id="16" name="Text 14"/>
          <p:cNvSpPr/>
          <p:nvPr/>
        </p:nvSpPr>
        <p:spPr>
          <a:xfrm>
            <a:off x="1325880" y="3639312"/>
            <a:ext cx="3886200" cy="438912"/>
          </a:xfrm>
          <a:prstGeom prst="rect">
            <a:avLst/>
          </a:prstGeom>
          <a:noFill/>
          <a:ln/>
        </p:spPr>
        <p:txBody>
          <a:bodyPr wrap="square" lIns="0" tIns="0" rIns="0" bIns="0" rtlCol="0" anchor="ctr">
            <a:normAutofit/>
          </a:bodyPr>
          <a:lstStyle/>
          <a:p>
            <a:pPr indent="0" marL="0">
              <a:buNone/>
            </a:pPr>
            <a:r>
              <a:rPr lang="en-US" sz="1850" b="1" dirty="0">
                <a:solidFill>
                  <a:srgbClr val="25252B"/>
                </a:solidFill>
                <a:latin typeface="Cambria Math" pitchFamily="34" charset="0"/>
                <a:ea typeface="Cambria Math" pitchFamily="34" charset="-122"/>
                <a:cs typeface="Cambria Math" pitchFamily="34" charset="-120"/>
              </a:rPr>
              <a:t>R = {(1,1),(2,2)}.</a:t>
            </a:r>
            <a:endParaRPr lang="en-US" sz="1850" dirty="0"/>
          </a:p>
        </p:txBody>
      </p:sp>
      <p:sp>
        <p:nvSpPr>
          <p:cNvPr id="17" name="Text 15"/>
          <p:cNvSpPr/>
          <p:nvPr/>
        </p:nvSpPr>
        <p:spPr>
          <a:xfrm>
            <a:off x="5349240" y="3639312"/>
            <a:ext cx="580644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Each x has a witness y=x, so ∀x∃y is true. No single y is related to both 1 and 2, so ∃y∀x is false.</a:t>
            </a:r>
            <a:endParaRPr lang="en-US" sz="1650" dirty="0"/>
          </a:p>
        </p:txBody>
      </p:sp>
      <p:sp>
        <p:nvSpPr>
          <p:cNvPr id="18" name="Text 16"/>
          <p:cNvSpPr/>
          <p:nvPr/>
        </p:nvSpPr>
        <p:spPr>
          <a:xfrm>
            <a:off x="685800" y="4919472"/>
            <a:ext cx="438912" cy="438912"/>
          </a:xfrm>
          <a:prstGeom prst="ellipse">
            <a:avLst/>
          </a:prstGeom>
          <a:solidFill>
            <a:srgbClr val="A52A75"/>
          </a:solidFill>
          <a:ln>
            <a:solidFill>
              <a:srgbClr val="A52A75"/>
            </a:solid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8</a:t>
            </a:r>
            <a:endParaRPr lang="en-US" sz="1900" dirty="0"/>
          </a:p>
        </p:txBody>
      </p:sp>
      <p:sp>
        <p:nvSpPr>
          <p:cNvPr id="19" name="Text 17"/>
          <p:cNvSpPr/>
          <p:nvPr/>
        </p:nvSpPr>
        <p:spPr>
          <a:xfrm>
            <a:off x="1325880" y="4873752"/>
            <a:ext cx="3886200" cy="438912"/>
          </a:xfrm>
          <a:prstGeom prst="rect">
            <a:avLst/>
          </a:prstGeom>
          <a:noFill/>
          <a:ln/>
        </p:spPr>
        <p:txBody>
          <a:bodyPr wrap="square" lIns="0" tIns="0" rIns="0" bIns="0" rtlCol="0" anchor="ctr">
            <a:normAutofit/>
          </a:bodyPr>
          <a:lstStyle/>
          <a:p>
            <a:pPr indent="0" marL="0">
              <a:buNone/>
            </a:pPr>
            <a:r>
              <a:rPr lang="en-US" sz="1850" b="1" dirty="0">
                <a:solidFill>
                  <a:srgbClr val="25252B"/>
                </a:solidFill>
                <a:latin typeface="Cambria Math" pitchFamily="34" charset="0"/>
                <a:ea typeface="Cambria Math" pitchFamily="34" charset="-122"/>
                <a:cs typeface="Cambria Math" pitchFamily="34" charset="-120"/>
              </a:rPr>
              <a:t>∃u∀s ¬Access(u,s).</a:t>
            </a:r>
            <a:endParaRPr lang="en-US" sz="1850" dirty="0"/>
          </a:p>
        </p:txBody>
      </p:sp>
      <p:sp>
        <p:nvSpPr>
          <p:cNvPr id="20" name="Text 18"/>
          <p:cNvSpPr/>
          <p:nvPr/>
        </p:nvSpPr>
        <p:spPr>
          <a:xfrm>
            <a:off x="5349240" y="4873752"/>
            <a:ext cx="5806440" cy="749808"/>
          </a:xfrm>
          <a:prstGeom prst="rect">
            <a:avLst/>
          </a:prstGeom>
          <a:noFill/>
          <a:ln/>
        </p:spPr>
        <p:txBody>
          <a:bodyPr wrap="square" lIns="0" tIns="0" rIns="0" bIns="0" rtlCol="0" anchor="ctr">
            <a:normAutofit/>
          </a:bodyPr>
          <a:lstStyle/>
          <a:p>
            <a:pPr indent="0" marL="0">
              <a:buNone/>
            </a:pPr>
            <a:r>
              <a:rPr lang="en-US" sz="1650" dirty="0">
                <a:solidFill>
                  <a:srgbClr val="5E626B"/>
                </a:solidFill>
                <a:latin typeface="Arial" pitchFamily="34" charset="0"/>
                <a:ea typeface="Arial" pitchFamily="34" charset="-122"/>
                <a:cs typeface="Arial" pitchFamily="34" charset="-120"/>
              </a:rPr>
              <a:t>There is one user who cannot access any server. The outer existential identifies a particular failing user.</a:t>
            </a:r>
            <a:endParaRPr lang="en-US" sz="1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DEEPER CONNECTIONS</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Appendix F: optional enrichment</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APPENDIX</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38</a:t>
            </a:r>
            <a:endParaRPr lang="en-US" sz="1000" dirty="0"/>
          </a:p>
        </p:txBody>
      </p:sp>
      <p:sp>
        <p:nvSpPr>
          <p:cNvPr id="9" name="Text 7"/>
          <p:cNvSpPr/>
          <p:nvPr/>
        </p:nvSpPr>
        <p:spPr>
          <a:xfrm>
            <a:off x="685800" y="1325880"/>
            <a:ext cx="3063240" cy="530352"/>
          </a:xfrm>
          <a:prstGeom prst="rect">
            <a:avLst/>
          </a:prstGeom>
          <a:solidFill>
            <a:srgbClr val="E8F2F8"/>
          </a:solidFill>
          <a:ln w="12700">
            <a:solidFill>
              <a:srgbClr val="3E7DA6"/>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Calculus: limits</a:t>
            </a:r>
            <a:endParaRPr lang="en-US" sz="2100" dirty="0"/>
          </a:p>
        </p:txBody>
      </p:sp>
      <p:sp>
        <p:nvSpPr>
          <p:cNvPr id="10" name="Text 8"/>
          <p:cNvSpPr/>
          <p:nvPr/>
        </p:nvSpPr>
        <p:spPr>
          <a:xfrm>
            <a:off x="850392" y="2148840"/>
            <a:ext cx="2724912" cy="2971800"/>
          </a:xfrm>
          <a:prstGeom prst="rect">
            <a:avLst/>
          </a:prstGeom>
          <a:noFill/>
          <a:ln/>
        </p:spPr>
        <p:txBody>
          <a:bodyPr wrap="square" lIns="635" tIns="635" rIns="635" bIns="635" rtlCol="0" anchor="t">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A sequence limit contains alternating choices:</a:t>
            </a:r>
            <a:endParaRPr lang="en-US" sz="1800" dirty="0"/>
          </a:p>
          <a:p>
            <a:pPr algn="ctr" indent="0" marL="0">
              <a:buNone/>
            </a:pPr>
            <a:r>
              <a:rPr lang="en-US" sz="1800" dirty="0">
                <a:solidFill>
                  <a:srgbClr val="25252B"/>
                </a:solidFill>
                <a:latin typeface="Arial" pitchFamily="34" charset="0"/>
                <a:ea typeface="Arial" pitchFamily="34" charset="-122"/>
                <a:cs typeface="Arial" pitchFamily="34" charset="-120"/>
              </a:rPr>
              <a:t>∀ε&gt;0 ∃N ∀n&gt;N, |aₙ-L|&lt;ε.</a:t>
            </a:r>
            <a:endParaRPr lang="en-US" sz="1800" dirty="0"/>
          </a:p>
          <a:p>
            <a:pPr algn="ctr" indent="0" marL="0">
              <a:buNone/>
            </a:pPr>
            <a:endParaRPr lang="en-US" sz="1800" dirty="0"/>
          </a:p>
          <a:p>
            <a:pPr algn="ctr" indent="0" marL="0">
              <a:buNone/>
            </a:pPr>
            <a:r>
              <a:rPr lang="en-US" sz="1800" dirty="0">
                <a:solidFill>
                  <a:srgbClr val="25252B"/>
                </a:solidFill>
                <a:latin typeface="Arial" pitchFamily="34" charset="0"/>
                <a:ea typeface="Arial" pitchFamily="34" charset="-122"/>
                <a:cs typeface="Arial" pitchFamily="34" charset="-120"/>
              </a:rPr>
              <a:t>N may depend on ε, but once chosen it must work for all later n.</a:t>
            </a:r>
            <a:endParaRPr lang="en-US" sz="1800" dirty="0"/>
          </a:p>
        </p:txBody>
      </p:sp>
      <p:sp>
        <p:nvSpPr>
          <p:cNvPr id="11" name="Text 9"/>
          <p:cNvSpPr/>
          <p:nvPr/>
        </p:nvSpPr>
        <p:spPr>
          <a:xfrm>
            <a:off x="4160520" y="1325880"/>
            <a:ext cx="3063240" cy="53035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Logic programming</a:t>
            </a:r>
            <a:endParaRPr lang="en-US" sz="2100" dirty="0"/>
          </a:p>
        </p:txBody>
      </p:sp>
      <p:sp>
        <p:nvSpPr>
          <p:cNvPr id="12" name="Text 10"/>
          <p:cNvSpPr/>
          <p:nvPr/>
        </p:nvSpPr>
        <p:spPr>
          <a:xfrm>
            <a:off x="4325112" y="2148840"/>
            <a:ext cx="2724912" cy="2971800"/>
          </a:xfrm>
          <a:prstGeom prst="rect">
            <a:avLst/>
          </a:prstGeom>
          <a:noFill/>
          <a:ln/>
        </p:spPr>
        <p:txBody>
          <a:bodyPr wrap="square" lIns="635" tIns="635" rIns="635" bIns="635" rtlCol="0" anchor="t">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Prolog represents facts and rules, then uses search and inference to answer queries.</a:t>
            </a:r>
            <a:endParaRPr lang="en-US" sz="1800" dirty="0"/>
          </a:p>
          <a:p>
            <a:pPr algn="ctr" indent="0" marL="0">
              <a:buNone/>
            </a:pPr>
            <a:endParaRPr lang="en-US" sz="1800" dirty="0"/>
          </a:p>
          <a:p>
            <a:pPr algn="ctr" indent="0" marL="0">
              <a:buNone/>
            </a:pPr>
            <a:r>
              <a:rPr lang="en-US" sz="1800" dirty="0">
                <a:solidFill>
                  <a:srgbClr val="25252B"/>
                </a:solidFill>
                <a:latin typeface="Arial" pitchFamily="34" charset="0"/>
                <a:ea typeface="Arial" pitchFamily="34" charset="-122"/>
                <a:cs typeface="Arial" pitchFamily="34" charset="-120"/>
              </a:rPr>
              <a:t>FOL notation makes such reasoning mechanically checkable.</a:t>
            </a:r>
            <a:endParaRPr lang="en-US" sz="1800" dirty="0"/>
          </a:p>
        </p:txBody>
      </p:sp>
      <p:sp>
        <p:nvSpPr>
          <p:cNvPr id="13" name="Text 11"/>
          <p:cNvSpPr/>
          <p:nvPr/>
        </p:nvSpPr>
        <p:spPr>
          <a:xfrm>
            <a:off x="7635240" y="1325880"/>
            <a:ext cx="3063240" cy="530352"/>
          </a:xfrm>
          <a:prstGeom prst="rect">
            <a:avLst/>
          </a:prstGeom>
          <a:solidFill>
            <a:srgbClr val="E9F4EA"/>
          </a:solidFill>
          <a:ln w="12700">
            <a:solidFill>
              <a:srgbClr val="4B8B5B"/>
            </a:solidFill>
          </a:ln>
        </p:spPr>
        <p:txBody>
          <a:bodyPr wrap="square" lIns="1524" tIns="1524" rIns="1524" bIns="1524" rtlCol="0" anchor="ctr">
            <a:normAutofit/>
          </a:bodyPr>
          <a:lstStyle/>
          <a:p>
            <a:pPr algn="ctr" indent="0" marL="0">
              <a:buNone/>
            </a:pPr>
            <a:r>
              <a:rPr lang="en-US" sz="2100" b="1" dirty="0">
                <a:solidFill>
                  <a:srgbClr val="25252B"/>
                </a:solidFill>
                <a:latin typeface="Arial" pitchFamily="34" charset="0"/>
                <a:ea typeface="Arial" pitchFamily="34" charset="-122"/>
                <a:cs typeface="Arial" pitchFamily="34" charset="-120"/>
              </a:rPr>
              <a:t>Database constraints</a:t>
            </a:r>
            <a:endParaRPr lang="en-US" sz="2100" dirty="0"/>
          </a:p>
        </p:txBody>
      </p:sp>
      <p:sp>
        <p:nvSpPr>
          <p:cNvPr id="14" name="Text 12"/>
          <p:cNvSpPr/>
          <p:nvPr/>
        </p:nvSpPr>
        <p:spPr>
          <a:xfrm>
            <a:off x="7799832" y="2148840"/>
            <a:ext cx="2724912" cy="2971800"/>
          </a:xfrm>
          <a:prstGeom prst="rect">
            <a:avLst/>
          </a:prstGeom>
          <a:noFill/>
          <a:ln/>
        </p:spPr>
        <p:txBody>
          <a:bodyPr wrap="square" lIns="635" tIns="635" rIns="635" bIns="635" rtlCol="0" anchor="t">
            <a:normAutofit/>
          </a:bodyPr>
          <a:lstStyle/>
          <a:p>
            <a:pPr algn="ctr" indent="0" marL="0">
              <a:buNone/>
            </a:pPr>
            <a:r>
              <a:rPr lang="en-US" sz="1800" dirty="0">
                <a:solidFill>
                  <a:srgbClr val="25252B"/>
                </a:solidFill>
                <a:latin typeface="Arial" pitchFamily="34" charset="0"/>
                <a:ea typeface="Arial" pitchFamily="34" charset="-122"/>
                <a:cs typeface="Arial" pitchFamily="34" charset="-120"/>
              </a:rPr>
              <a:t>“Every order has a customer” has form ∀o∃c.</a:t>
            </a:r>
            <a:endParaRPr lang="en-US" sz="1800" dirty="0"/>
          </a:p>
          <a:p>
            <a:pPr algn="ctr" indent="0" marL="0">
              <a:buNone/>
            </a:pPr>
            <a:endParaRPr lang="en-US" sz="1800" dirty="0"/>
          </a:p>
          <a:p>
            <a:pPr algn="ctr" indent="0" marL="0">
              <a:buNone/>
            </a:pPr>
            <a:r>
              <a:rPr lang="en-US" sz="1800" dirty="0">
                <a:solidFill>
                  <a:srgbClr val="25252B"/>
                </a:solidFill>
                <a:latin typeface="Arial" pitchFamily="34" charset="0"/>
                <a:ea typeface="Arial" pitchFamily="34" charset="-122"/>
                <a:cs typeface="Arial" pitchFamily="34" charset="-120"/>
              </a:rPr>
              <a:t>“Some administrator can access every table” has form ∃a∀t.</a:t>
            </a:r>
            <a:endParaRPr lang="en-US" sz="1800" dirty="0"/>
          </a:p>
          <a:p>
            <a:pPr algn="ctr" indent="0" marL="0">
              <a:buNone/>
            </a:pPr>
            <a:endParaRPr lang="en-US" sz="1800" dirty="0"/>
          </a:p>
          <a:p>
            <a:pPr algn="ctr" indent="0" marL="0">
              <a:buNone/>
            </a:pPr>
            <a:r>
              <a:rPr lang="en-US" sz="1800" dirty="0">
                <a:solidFill>
                  <a:srgbClr val="25252B"/>
                </a:solidFill>
                <a:latin typeface="Arial" pitchFamily="34" charset="0"/>
                <a:ea typeface="Arial" pitchFamily="34" charset="-122"/>
                <a:cs typeface="Arial" pitchFamily="34" charset="-120"/>
              </a:rPr>
              <a:t>The order changes the constraint.</a:t>
            </a:r>
            <a:endParaRPr lang="en-US" sz="1800" dirty="0"/>
          </a:p>
        </p:txBody>
      </p:sp>
      <p:sp>
        <p:nvSpPr>
          <p:cNvPr id="15" name="Text 13"/>
          <p:cNvSpPr/>
          <p:nvPr/>
        </p:nvSpPr>
        <p:spPr>
          <a:xfrm>
            <a:off x="1097280" y="5623560"/>
            <a:ext cx="10012680" cy="530352"/>
          </a:xfrm>
          <a:prstGeom prst="rect">
            <a:avLst/>
          </a:prstGeom>
          <a:solidFill>
            <a:srgbClr val="FBF3D9"/>
          </a:solidFill>
          <a:ln w="12700">
            <a:solidFill>
              <a:srgbClr val="E4C65A"/>
            </a:solidFill>
          </a:ln>
        </p:spPr>
        <p:txBody>
          <a:bodyPr wrap="square" lIns="1524" tIns="1524" rIns="1524" bIns="1524" rtlCol="0" anchor="ctr">
            <a:normAutofit/>
          </a:bodyPr>
          <a:lstStyle/>
          <a:p>
            <a:pPr algn="ctr" indent="0" marL="0">
              <a:buNone/>
            </a:pPr>
            <a:r>
              <a:rPr lang="en-US" sz="1900" b="1" dirty="0">
                <a:solidFill>
                  <a:srgbClr val="25252B"/>
                </a:solidFill>
                <a:latin typeface="Arial" pitchFamily="34" charset="0"/>
                <a:ea typeface="Arial" pitchFamily="34" charset="-122"/>
                <a:cs typeface="Arial" pitchFamily="34" charset="-120"/>
              </a:rPr>
              <a:t>Quantifier alternation appears whenever choices, dependencies, or guarantees occur in sequence.</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6072" y="146304"/>
            <a:ext cx="2377440" cy="164592"/>
          </a:xfrm>
          <a:prstGeom prst="rect">
            <a:avLst/>
          </a:prstGeom>
          <a:noFill/>
          <a:ln/>
        </p:spPr>
        <p:txBody>
          <a:bodyPr wrap="square" lIns="0" tIns="0" rIns="0" bIns="0" rtlCol="0" anchor="ctr"/>
          <a:lstStyle/>
          <a:p>
            <a:pPr indent="0" marL="0">
              <a:buNone/>
            </a:pPr>
            <a:r>
              <a:rPr lang="en-US" sz="1050" b="1" spc="110" kern="0" dirty="0">
                <a:solidFill>
                  <a:srgbClr val="A52A75"/>
                </a:solidFill>
                <a:latin typeface="Arial" pitchFamily="34" charset="0"/>
                <a:ea typeface="Arial" pitchFamily="34" charset="-122"/>
                <a:cs typeface="Arial" pitchFamily="34" charset="-120"/>
              </a:rPr>
              <a:t>SOURCES</a:t>
            </a:r>
            <a:endParaRPr lang="en-US" sz="1050" dirty="0"/>
          </a:p>
        </p:txBody>
      </p:sp>
      <p:sp>
        <p:nvSpPr>
          <p:cNvPr id="3" name="Text 1"/>
          <p:cNvSpPr/>
          <p:nvPr/>
        </p:nvSpPr>
        <p:spPr>
          <a:xfrm>
            <a:off x="548640" y="457200"/>
            <a:ext cx="11018520" cy="384048"/>
          </a:xfrm>
          <a:prstGeom prst="rect">
            <a:avLst/>
          </a:prstGeom>
          <a:noFill/>
          <a:ln/>
        </p:spPr>
        <p:txBody>
          <a:bodyPr wrap="square" lIns="0" tIns="0" rIns="0" bIns="0" rtlCol="0" anchor="ctr"/>
          <a:lstStyle/>
          <a:p>
            <a:pPr indent="0" marL="0">
              <a:buNone/>
            </a:pPr>
            <a:r>
              <a:rPr lang="en-US" sz="2900" b="1" dirty="0">
                <a:solidFill>
                  <a:srgbClr val="25252B"/>
                </a:solidFill>
                <a:latin typeface="Arial" pitchFamily="34" charset="0"/>
                <a:ea typeface="Arial" pitchFamily="34" charset="-122"/>
                <a:cs typeface="Arial" pitchFamily="34" charset="-120"/>
              </a:rPr>
              <a:t>References and course resources</a:t>
            </a:r>
            <a:endParaRPr lang="en-US" sz="2900" dirty="0"/>
          </a:p>
        </p:txBody>
      </p:sp>
      <p:sp>
        <p:nvSpPr>
          <p:cNvPr id="4" name="Shape 2"/>
          <p:cNvSpPr/>
          <p:nvPr/>
        </p:nvSpPr>
        <p:spPr>
          <a:xfrm>
            <a:off x="548640" y="932688"/>
            <a:ext cx="11064240" cy="0"/>
          </a:xfrm>
          <a:prstGeom prst="line">
            <a:avLst/>
          </a:prstGeom>
          <a:noFill/>
          <a:ln w="25400">
            <a:solidFill>
              <a:srgbClr val="A52A75"/>
            </a:solidFill>
            <a:prstDash val="solid"/>
          </a:ln>
        </p:spPr>
      </p:sp>
      <p:sp>
        <p:nvSpPr>
          <p:cNvPr id="5" name="Shape 3"/>
          <p:cNvSpPr/>
          <p:nvPr/>
        </p:nvSpPr>
        <p:spPr>
          <a:xfrm>
            <a:off x="502920" y="6501384"/>
            <a:ext cx="11183112" cy="0"/>
          </a:xfrm>
          <a:prstGeom prst="line">
            <a:avLst/>
          </a:prstGeom>
          <a:noFill/>
          <a:ln w="8890">
            <a:solidFill>
              <a:srgbClr val="D8D2D6"/>
            </a:solidFill>
            <a:prstDash val="solid"/>
          </a:ln>
        </p:spPr>
      </p:sp>
      <p:sp>
        <p:nvSpPr>
          <p:cNvPr id="6" name="Text 4"/>
          <p:cNvSpPr/>
          <p:nvPr/>
        </p:nvSpPr>
        <p:spPr>
          <a:xfrm>
            <a:off x="566928" y="6528816"/>
            <a:ext cx="3886200" cy="182880"/>
          </a:xfrm>
          <a:prstGeom prst="rect">
            <a:avLst/>
          </a:prstGeom>
          <a:noFill/>
          <a:ln/>
        </p:spPr>
        <p:txBody>
          <a:bodyPr wrap="square" lIns="0" tIns="0" rIns="0" bIns="0" rtlCol="0" anchor="ctr"/>
          <a:lstStyle/>
          <a:p>
            <a:pPr indent="0" marL="0">
              <a:buNone/>
            </a:pPr>
            <a:r>
              <a:rPr lang="en-US" sz="950" dirty="0">
                <a:solidFill>
                  <a:srgbClr val="7C8088"/>
                </a:solidFill>
                <a:latin typeface="Arial" pitchFamily="34" charset="0"/>
                <a:ea typeface="Arial" pitchFamily="34" charset="-122"/>
                <a:cs typeface="Arial" pitchFamily="34" charset="-120"/>
              </a:rPr>
              <a:t>COMP233  |  Ruwa' AbuHweidi  |  2026</a:t>
            </a:r>
            <a:endParaRPr lang="en-US" sz="950" dirty="0"/>
          </a:p>
        </p:txBody>
      </p:sp>
      <p:sp>
        <p:nvSpPr>
          <p:cNvPr id="7" name="Text 5"/>
          <p:cNvSpPr/>
          <p:nvPr/>
        </p:nvSpPr>
        <p:spPr>
          <a:xfrm>
            <a:off x="4892040" y="6528816"/>
            <a:ext cx="2423160" cy="182880"/>
          </a:xfrm>
          <a:prstGeom prst="rect">
            <a:avLst/>
          </a:prstGeom>
          <a:noFill/>
          <a:ln/>
        </p:spPr>
        <p:txBody>
          <a:bodyPr wrap="square" lIns="0" tIns="0" rIns="0" bIns="0" rtlCol="0" anchor="ctr"/>
          <a:lstStyle/>
          <a:p>
            <a:pPr algn="ctr" indent="0" marL="0">
              <a:buNone/>
            </a:pPr>
            <a:r>
              <a:rPr lang="en-US" sz="950" b="1" dirty="0">
                <a:solidFill>
                  <a:srgbClr val="7C8088"/>
                </a:solidFill>
                <a:latin typeface="Arial" pitchFamily="34" charset="0"/>
                <a:ea typeface="Arial" pitchFamily="34" charset="-122"/>
                <a:cs typeface="Arial" pitchFamily="34" charset="-120"/>
              </a:rPr>
              <a:t>REFERENCES</a:t>
            </a:r>
            <a:endParaRPr lang="en-US" sz="950" dirty="0"/>
          </a:p>
        </p:txBody>
      </p:sp>
      <p:sp>
        <p:nvSpPr>
          <p:cNvPr id="8" name="Text 6"/>
          <p:cNvSpPr/>
          <p:nvPr/>
        </p:nvSpPr>
        <p:spPr>
          <a:xfrm>
            <a:off x="11201400" y="6510528"/>
            <a:ext cx="411480" cy="201168"/>
          </a:xfrm>
          <a:prstGeom prst="rect">
            <a:avLst/>
          </a:prstGeom>
          <a:noFill/>
          <a:ln/>
        </p:spPr>
        <p:txBody>
          <a:bodyPr wrap="square" lIns="0" tIns="0" rIns="0" bIns="0" rtlCol="0" anchor="ctr"/>
          <a:lstStyle/>
          <a:p>
            <a:pPr algn="r" indent="0" marL="0">
              <a:buNone/>
            </a:pPr>
            <a:r>
              <a:rPr lang="en-US" sz="1000" b="1" dirty="0">
                <a:solidFill>
                  <a:srgbClr val="A52A75"/>
                </a:solidFill>
                <a:latin typeface="Arial" pitchFamily="34" charset="0"/>
                <a:ea typeface="Arial" pitchFamily="34" charset="-122"/>
                <a:cs typeface="Arial" pitchFamily="34" charset="-120"/>
              </a:rPr>
              <a:t>39</a:t>
            </a:r>
            <a:endParaRPr lang="en-US" sz="1000" dirty="0"/>
          </a:p>
        </p:txBody>
      </p:sp>
      <p:sp>
        <p:nvSpPr>
          <p:cNvPr id="9" name="Text 7"/>
          <p:cNvSpPr/>
          <p:nvPr/>
        </p:nvSpPr>
        <p:spPr>
          <a:xfrm>
            <a:off x="685800" y="1234440"/>
            <a:ext cx="4206240" cy="347472"/>
          </a:xfrm>
          <a:prstGeom prst="rect">
            <a:avLst/>
          </a:prstGeom>
          <a:noFill/>
          <a:ln/>
        </p:spPr>
        <p:txBody>
          <a:bodyPr wrap="square" lIns="0" tIns="0" rIns="0" bIns="0" rtlCol="0" anchor="ctr"/>
          <a:lstStyle/>
          <a:p>
            <a:pPr indent="0" marL="0">
              <a:buNone/>
            </a:pPr>
            <a:r>
              <a:rPr lang="en-US" sz="1900" b="1" dirty="0">
                <a:solidFill>
                  <a:srgbClr val="A52A75"/>
                </a:solidFill>
                <a:latin typeface="Arial" pitchFamily="34" charset="0"/>
                <a:ea typeface="Arial" pitchFamily="34" charset="-122"/>
                <a:cs typeface="Arial" pitchFamily="34" charset="-120"/>
              </a:rPr>
              <a:t>Primary mathematical reference</a:t>
            </a:r>
            <a:endParaRPr lang="en-US" sz="1900" dirty="0"/>
          </a:p>
        </p:txBody>
      </p:sp>
      <p:sp>
        <p:nvSpPr>
          <p:cNvPr id="10" name="Text 8"/>
          <p:cNvSpPr/>
          <p:nvPr/>
        </p:nvSpPr>
        <p:spPr>
          <a:xfrm>
            <a:off x="685800" y="1691640"/>
            <a:ext cx="10698480" cy="502920"/>
          </a:xfrm>
          <a:prstGeom prst="rect">
            <a:avLst/>
          </a:prstGeom>
          <a:noFill/>
          <a:ln/>
        </p:spPr>
        <p:txBody>
          <a:bodyPr wrap="square" lIns="0" tIns="0" rIns="0" bIns="0" rtlCol="0" anchor="ctr"/>
          <a:lstStyle/>
          <a:p>
            <a:pPr indent="0" marL="0">
              <a:buNone/>
            </a:pPr>
            <a:r>
              <a:rPr lang="en-US" sz="2000" dirty="0">
                <a:solidFill>
                  <a:srgbClr val="25252B"/>
                </a:solidFill>
                <a:latin typeface="Arial" pitchFamily="34" charset="0"/>
                <a:ea typeface="Arial" pitchFamily="34" charset="-122"/>
                <a:cs typeface="Arial" pitchFamily="34" charset="-120"/>
              </a:rPr>
              <a:t>Susanna S. Epp, Discrete Mathematics with Applications, 4th ed., Section 3.3.</a:t>
            </a:r>
            <a:endParaRPr lang="en-US" sz="2000" dirty="0"/>
          </a:p>
        </p:txBody>
      </p:sp>
      <p:sp>
        <p:nvSpPr>
          <p:cNvPr id="11" name="Text 9"/>
          <p:cNvSpPr/>
          <p:nvPr/>
        </p:nvSpPr>
        <p:spPr>
          <a:xfrm>
            <a:off x="685800" y="2514600"/>
            <a:ext cx="4206240" cy="347472"/>
          </a:xfrm>
          <a:prstGeom prst="rect">
            <a:avLst/>
          </a:prstGeom>
          <a:noFill/>
          <a:ln/>
        </p:spPr>
        <p:txBody>
          <a:bodyPr wrap="square" lIns="0" tIns="0" rIns="0" bIns="0" rtlCol="0" anchor="ctr"/>
          <a:lstStyle/>
          <a:p>
            <a:pPr indent="0" marL="0">
              <a:buNone/>
            </a:pPr>
            <a:r>
              <a:rPr lang="en-US" sz="1900" b="1" dirty="0">
                <a:solidFill>
                  <a:srgbClr val="A52A75"/>
                </a:solidFill>
                <a:latin typeface="Arial" pitchFamily="34" charset="0"/>
                <a:ea typeface="Arial" pitchFamily="34" charset="-122"/>
                <a:cs typeface="Arial" pitchFamily="34" charset="-120"/>
              </a:rPr>
              <a:t>Original course materials</a:t>
            </a:r>
            <a:endParaRPr lang="en-US" sz="1900" dirty="0"/>
          </a:p>
        </p:txBody>
      </p:sp>
      <p:sp>
        <p:nvSpPr>
          <p:cNvPr id="12" name="Text 10"/>
          <p:cNvSpPr/>
          <p:nvPr/>
        </p:nvSpPr>
        <p:spPr>
          <a:xfrm>
            <a:off x="685800" y="2944368"/>
            <a:ext cx="9601200" cy="438912"/>
          </a:xfrm>
          <a:prstGeom prst="rect">
            <a:avLst/>
          </a:prstGeom>
          <a:noFill/>
          <a:ln/>
        </p:spPr>
        <p:txBody>
          <a:bodyPr wrap="square" lIns="0" tIns="0" rIns="0" bIns="0" rtlCol="0" anchor="ctr"/>
          <a:lstStyle/>
          <a:p>
            <a:pPr indent="0" marL="0">
              <a:buNone/>
            </a:pPr>
            <a:r>
              <a:rPr lang="en-US" sz="2000" u="sng" dirty="0">
                <a:solidFill>
                  <a:srgbClr val="3E7DA6"/>
                </a:solidFill>
                <a:uFill>
                  <a:solidFill>
                    <a:srgbClr val="3E7DA6"/>
                  </a:solidFill>
                </a:u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Prof. Mustafa Jarrar - Discrete Mathematics course materials</a:t>
            </a:r>
            <a:endParaRPr lang="en-US" sz="2000" dirty="0"/>
          </a:p>
        </p:txBody>
      </p:sp>
      <p:sp>
        <p:nvSpPr>
          <p:cNvPr id="13" name="Text 11"/>
          <p:cNvSpPr/>
          <p:nvPr/>
        </p:nvSpPr>
        <p:spPr>
          <a:xfrm>
            <a:off x="685800" y="3703320"/>
            <a:ext cx="4206240" cy="347472"/>
          </a:xfrm>
          <a:prstGeom prst="rect">
            <a:avLst/>
          </a:prstGeom>
          <a:noFill/>
          <a:ln/>
        </p:spPr>
        <p:txBody>
          <a:bodyPr wrap="square" lIns="0" tIns="0" rIns="0" bIns="0" rtlCol="0" anchor="ctr"/>
          <a:lstStyle/>
          <a:p>
            <a:pPr indent="0" marL="0">
              <a:buNone/>
            </a:pPr>
            <a:r>
              <a:rPr lang="en-US" sz="1900" b="1" dirty="0">
                <a:solidFill>
                  <a:srgbClr val="A52A75"/>
                </a:solidFill>
                <a:latin typeface="Arial" pitchFamily="34" charset="0"/>
                <a:ea typeface="Arial" pitchFamily="34" charset="-122"/>
                <a:cs typeface="Arial" pitchFamily="34" charset="-120"/>
              </a:rPr>
              <a:t>Updated course resources</a:t>
            </a:r>
            <a:endParaRPr lang="en-US" sz="1900" dirty="0"/>
          </a:p>
        </p:txBody>
      </p:sp>
      <p:sp>
        <p:nvSpPr>
          <p:cNvPr id="14" name="Text 12"/>
          <p:cNvSpPr/>
          <p:nvPr/>
        </p:nvSpPr>
        <p:spPr>
          <a:xfrm>
            <a:off x="685800" y="4133088"/>
            <a:ext cx="9601200" cy="438912"/>
          </a:xfrm>
          <a:prstGeom prst="rect">
            <a:avLst/>
          </a:prstGeom>
          <a:noFill/>
          <a:ln/>
        </p:spPr>
        <p:txBody>
          <a:bodyPr wrap="square" lIns="0" tIns="0" rIns="0" bIns="0" rtlCol="0" anchor="ctr"/>
          <a:lstStyle/>
          <a:p>
            <a:pPr indent="0" marL="0">
              <a:buNone/>
            </a:pPr>
            <a:r>
              <a:rPr lang="en-US" sz="2000" u="sng" dirty="0">
                <a:solidFill>
                  <a:srgbClr val="3E7DA6"/>
                </a:solidFill>
                <a:uFill>
                  <a:solidFill>
                    <a:srgbClr val="3E7DA6"/>
                  </a:solidFill>
                </a:u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COMP233 GitHub - BZU Courses</a:t>
            </a:r>
            <a:endParaRPr lang="en-US" sz="2000" dirty="0"/>
          </a:p>
        </p:txBody>
      </p:sp>
      <p:sp>
        <p:nvSpPr>
          <p:cNvPr id="15" name="Text 13"/>
          <p:cNvSpPr/>
          <p:nvPr/>
        </p:nvSpPr>
        <p:spPr>
          <a:xfrm>
            <a:off x="685800" y="4983480"/>
            <a:ext cx="1828800" cy="438912"/>
          </a:xfrm>
          <a:prstGeom prst="rect">
            <a:avLst/>
          </a:prstGeom>
          <a:solidFill>
            <a:srgbClr val="F3DFEA"/>
          </a:solidFill>
          <a:ln w="12700">
            <a:solidFill>
              <a:srgbClr val="A52A75"/>
            </a:solidFill>
          </a:ln>
        </p:spPr>
        <p:txBody>
          <a:bodyPr wrap="square" lIns="1524" tIns="1524" rIns="1524" bIns="1524" rtlCol="0" anchor="ctr">
            <a:normAutofit/>
          </a:bodyPr>
          <a:lstStyle/>
          <a:p>
            <a:pPr algn="ctr" indent="0" marL="0">
              <a:buNone/>
            </a:pPr>
            <a:r>
              <a:rPr lang="en-US" sz="1800" b="1" dirty="0">
                <a:solidFill>
                  <a:srgbClr val="25252B"/>
                </a:solidFill>
                <a:latin typeface="Arial" pitchFamily="34" charset="0"/>
                <a:ea typeface="Arial" pitchFamily="34" charset="-122"/>
                <a:cs typeface="Arial" pitchFamily="34" charset="-120"/>
              </a:rPr>
              <a:t>Acknowledgment</a:t>
            </a:r>
            <a:endParaRPr lang="en-US" sz="1800" dirty="0"/>
          </a:p>
        </p:txBody>
      </p:sp>
      <p:sp>
        <p:nvSpPr>
          <p:cNvPr id="16" name="Text 14"/>
          <p:cNvSpPr/>
          <p:nvPr/>
        </p:nvSpPr>
        <p:spPr>
          <a:xfrm>
            <a:off x="2743200" y="4919472"/>
            <a:ext cx="8412480" cy="822960"/>
          </a:xfrm>
          <a:prstGeom prst="rect">
            <a:avLst/>
          </a:prstGeom>
          <a:noFill/>
          <a:ln/>
        </p:spPr>
        <p:txBody>
          <a:bodyPr wrap="square" lIns="0" tIns="0" rIns="0" bIns="0" rtlCol="0" anchor="ctr">
            <a:normAutofit/>
          </a:bodyPr>
          <a:lstStyle/>
          <a:p>
            <a:pPr indent="0" marL="0">
              <a:buNone/>
            </a:pPr>
            <a:r>
              <a:rPr lang="en-US" sz="1750" dirty="0">
                <a:solidFill>
                  <a:srgbClr val="5E626B"/>
                </a:solidFill>
                <a:latin typeface="Arial" pitchFamily="34" charset="0"/>
                <a:ea typeface="Arial" pitchFamily="34" charset="-122"/>
                <a:cs typeface="Arial" pitchFamily="34" charset="-120"/>
              </a:rPr>
              <a:t>Local lecture continuity also draws on materials associated with Dr. Radi Jarrar. The reconstruction corrects notation and scope while preserving the original teaching intent.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Birzeit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Statements with Multiple Quantifiers</dc:title>
  <dc:subject>COMP233 Discrete Mathematics - Lecture 3.3</dc:subject>
  <dc:creator>Ruwa' AbuHweidi</dc:creator>
  <cp:lastModifiedBy>Ruwa' AbuHweidi</cp:lastModifiedBy>
  <cp:revision>1</cp:revision>
  <dcterms:created xsi:type="dcterms:W3CDTF">2026-10-21T22:34:25Z</dcterms:created>
  <dcterms:modified xsi:type="dcterms:W3CDTF">2026-10-21T22:34:25Z</dcterms:modified>
</cp:coreProperties>
</file>