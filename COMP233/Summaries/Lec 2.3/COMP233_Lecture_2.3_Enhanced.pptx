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605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6384" y="960120"/>
            <a:ext cx="9144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— Discrete Mathematics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86384" y="1965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2.3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86384" y="2615184"/>
            <a:ext cx="10058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Inferencing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86384" y="333756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and Invalid Arguments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95528" y="4023360"/>
            <a:ext cx="6336792" cy="0"/>
          </a:xfrm>
          <a:prstGeom prst="line">
            <a:avLst/>
          </a:prstGeom>
          <a:noFill/>
          <a:ln w="254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4343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6384" y="6126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Birzeit University | Faculty of Engineering and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 and lecture map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testing validity to constructing multi-step deductions.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5120640" cy="4251960"/>
          </a:xfrm>
          <a:prstGeom prst="roundRect">
            <a:avLst>
              <a:gd name="adj" fmla="val 860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89280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this lecture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04288"/>
            <a:ext cx="4791456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premises and conclusions.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validity using critical truth-table rows.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nine inference rules.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converse and inverse fallacies.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and justify a multi-step deduction.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08192" y="1755648"/>
            <a:ext cx="5166360" cy="4251960"/>
          </a:xfrm>
          <a:prstGeom prst="roundRect">
            <a:avLst>
              <a:gd name="adj" fmla="val 860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892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flow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72784" y="2304288"/>
            <a:ext cx="4837176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Argument structure and validity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Truth-table (numeration) test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Rules of inference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Invalid forms and fallacies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Missing-glasses deduction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Knowledge check and appendix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study logical inference?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correct conclusion must follow from the assumptions, not merely sound plausible.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19656"/>
            <a:ext cx="5138928" cy="3566160"/>
          </a:xfrm>
          <a:prstGeom prst="roundRect">
            <a:avLst>
              <a:gd name="adj" fmla="val 102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5681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scenario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68296"/>
            <a:ext cx="480974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authentication succeeds, the system issues a token.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succeeds.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a token is issued.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08192" y="1819656"/>
            <a:ext cx="5138928" cy="3566160"/>
          </a:xfrm>
          <a:prstGeom prst="roundRect">
            <a:avLst>
              <a:gd name="adj" fmla="val 1026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2784" y="195681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question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72784" y="2368296"/>
            <a:ext cx="4809744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justifies the conclusion?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shape of the two premises, not the choice of words.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make this distinction precise.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779008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Lecture 2.2: a conditional p → q does not license q → p.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argument has premises and a conclusion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the assumptions from the claim that follows.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819656"/>
            <a:ext cx="3931920" cy="3794760"/>
          </a:xfrm>
          <a:prstGeom prst="roundRect">
            <a:avLst>
              <a:gd name="adj" fmla="val 964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1956816"/>
            <a:ext cx="3602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368296"/>
            <a:ext cx="360273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 1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 2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 n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────────────</a:t>
            </a:r>
            <a:endParaRPr lang="en-US" sz="2500" dirty="0"/>
          </a:p>
          <a:p>
            <a:pPr marL="0" indent="0" algn="l">
              <a:buNone/>
            </a:pPr>
            <a:r>
              <a:rPr lang="en-US" sz="25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Conclusion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5212080" y="1819656"/>
            <a:ext cx="5943600" cy="3794760"/>
          </a:xfrm>
          <a:prstGeom prst="roundRect">
            <a:avLst>
              <a:gd name="adj" fmla="val 964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76672" y="1956816"/>
            <a:ext cx="5614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76672" y="2368296"/>
            <a:ext cx="561441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Premise: a statement taken as given.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the statement claimed to follow.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Argument form: symbolic pattern independent of the subject matter.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Syllogism: commonly an argument with two premises and a conclusion.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“valid” mean?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guarantees truth preservation from premises to conclusion.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792224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929384"/>
            <a:ext cx="4928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argument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2340864"/>
            <a:ext cx="49286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possible assignment that makes ALL premises true also makes the conclusion true.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45352" y="1792224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9944" y="1929384"/>
            <a:ext cx="4928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argument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9944" y="2340864"/>
            <a:ext cx="492861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possible assignment makes ALL premises true but the conclusion false.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36192" y="4498848"/>
            <a:ext cx="9144000" cy="1417320"/>
          </a:xfrm>
          <a:prstGeom prst="roundRect">
            <a:avLst>
              <a:gd name="adj" fmla="val 2581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700784" y="4636008"/>
            <a:ext cx="8814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00784" y="5047488"/>
            <a:ext cx="88148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is about logical form. A true conclusion does not prove validity; a valid argument can have false premises.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validity: the truth-table method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Jarrar slides call this the “Numeration Method.”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10332720" cy="766267"/>
          </a:xfrm>
          <a:prstGeom prst="roundRect">
            <a:avLst>
              <a:gd name="adj" fmla="val 4773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1911096"/>
            <a:ext cx="41148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1911096"/>
            <a:ext cx="94640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each premise and the conclusion in symbols.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2713939"/>
            <a:ext cx="10332720" cy="766267"/>
          </a:xfrm>
          <a:prstGeom prst="roundRect">
            <a:avLst>
              <a:gd name="adj" fmla="val 4773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33272" y="2777947"/>
            <a:ext cx="41148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2777947"/>
            <a:ext cx="94640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all truth assignments for the variables.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3580790"/>
            <a:ext cx="10332720" cy="766267"/>
          </a:xfrm>
          <a:prstGeom prst="roundRect">
            <a:avLst>
              <a:gd name="adj" fmla="val 4773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" y="3644798"/>
            <a:ext cx="41148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3644798"/>
            <a:ext cx="94640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every premise; identify the critical rows.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14400" y="4447642"/>
            <a:ext cx="10332720" cy="766267"/>
          </a:xfrm>
          <a:prstGeom prst="roundRect">
            <a:avLst>
              <a:gd name="adj" fmla="val 4773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3272" y="4511650"/>
            <a:ext cx="41148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600200" y="4511650"/>
            <a:ext cx="94640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conclusion in those critical rows.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4400" y="5314493"/>
            <a:ext cx="10332720" cy="766267"/>
          </a:xfrm>
          <a:prstGeom prst="roundRect">
            <a:avLst>
              <a:gd name="adj" fmla="val 4773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33272" y="5378501"/>
            <a:ext cx="41148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00200" y="5378501"/>
            <a:ext cx="9464040" cy="6473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conclusion in a critical row ⇒ INVALID; otherwise VALID.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validity test: modus ponens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q,  p  ∴ q — only a single row satisfies both premises.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828800"/>
            <a:ext cx="141732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700" y="1847088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377440" y="1828800"/>
            <a:ext cx="141732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46020" y="1847088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794760" y="1828800"/>
            <a:ext cx="246888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3340" y="1847088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63640" y="1828800"/>
            <a:ext cx="2441448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2220" y="1847088"/>
            <a:ext cx="230428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(premise)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705088" y="1828800"/>
            <a:ext cx="246888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3668" y="1847088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(conclusion)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60120" y="2509114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700" y="2527402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377440" y="2509114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46020" y="2527402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794760" y="2509114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63340" y="2527402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2509114"/>
            <a:ext cx="244144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2220" y="2527402"/>
            <a:ext cx="230428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8705088" y="2509114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3668" y="2527402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60120" y="3189427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8700" y="3207715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2377440" y="3189427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46020" y="3207715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794760" y="3189427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863340" y="3207715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263640" y="3189427"/>
            <a:ext cx="244144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32220" y="3207715"/>
            <a:ext cx="230428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705088" y="3189427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73668" y="3207715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60120" y="3869741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700" y="3888029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2377440" y="3869741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446020" y="3888029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3794760" y="3869741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63340" y="3888029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63640" y="3869741"/>
            <a:ext cx="244144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32220" y="3888029"/>
            <a:ext cx="230428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8705088" y="3869741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73668" y="3888029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960120" y="4550054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28700" y="4568342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2377440" y="4550054"/>
            <a:ext cx="141732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446020" y="4568342"/>
            <a:ext cx="128016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3794760" y="4550054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863340" y="4568342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6263640" y="4550054"/>
            <a:ext cx="244144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32220" y="4568342"/>
            <a:ext cx="230428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8705088" y="4550054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773668" y="4568342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1371600" y="5477256"/>
            <a:ext cx="9418320" cy="704088"/>
          </a:xfrm>
          <a:prstGeom prst="roundRect">
            <a:avLst>
              <a:gd name="adj" fmla="val 5195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536192" y="5614416"/>
            <a:ext cx="9089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1536192" y="6025896"/>
            <a:ext cx="908913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row TT has both premises true, and q is true there. Hence the argument is VALID.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counterexample: invalid inference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q,  q  ∴ p — affirming the consequent.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773936"/>
            <a:ext cx="137160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700" y="1792224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31720" y="1773936"/>
            <a:ext cx="137160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00300" y="1792224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03320" y="1773936"/>
            <a:ext cx="2468880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71900" y="1792224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72200" y="1773936"/>
            <a:ext cx="2487168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40780" y="1792224"/>
            <a:ext cx="235000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(premise)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59368" y="1773936"/>
            <a:ext cx="2496312" cy="680314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27948" y="1792224"/>
            <a:ext cx="235915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(conclusion)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" y="2454250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28700" y="2472538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331720" y="2454250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00300" y="2472538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3703320" y="2454250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71900" y="2472538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6172200" y="2454250"/>
            <a:ext cx="248716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40780" y="2472538"/>
            <a:ext cx="235000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659368" y="2454250"/>
            <a:ext cx="2496312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27948" y="2472538"/>
            <a:ext cx="235915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960120" y="3134563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8700" y="3152851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2331720" y="3134563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00300" y="3152851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3703320" y="3134563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71900" y="3152851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6172200" y="3134563"/>
            <a:ext cx="248716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40780" y="3152851"/>
            <a:ext cx="235000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8659368" y="3134563"/>
            <a:ext cx="2496312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727948" y="3152851"/>
            <a:ext cx="235915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960120" y="3814877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700" y="3833165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42" name="Shape 40"/>
          <p:cNvSpPr/>
          <p:nvPr/>
        </p:nvSpPr>
        <p:spPr>
          <a:xfrm>
            <a:off x="2331720" y="3814877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400300" y="3833165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3703320" y="3814877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71900" y="3833165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6172200" y="3814877"/>
            <a:ext cx="248716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40780" y="3833165"/>
            <a:ext cx="235000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659368" y="3814877"/>
            <a:ext cx="2496312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727948" y="3833165"/>
            <a:ext cx="235915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50" name="Shape 48"/>
          <p:cNvSpPr/>
          <p:nvPr/>
        </p:nvSpPr>
        <p:spPr>
          <a:xfrm>
            <a:off x="960120" y="4495190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28700" y="4513478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52" name="Shape 50"/>
          <p:cNvSpPr/>
          <p:nvPr/>
        </p:nvSpPr>
        <p:spPr>
          <a:xfrm>
            <a:off x="2331720" y="4495190"/>
            <a:ext cx="137160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400300" y="4513478"/>
            <a:ext cx="123444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54" name="Shape 52"/>
          <p:cNvSpPr/>
          <p:nvPr/>
        </p:nvSpPr>
        <p:spPr>
          <a:xfrm>
            <a:off x="3703320" y="4495190"/>
            <a:ext cx="2468880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71900" y="4513478"/>
            <a:ext cx="233172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900" dirty="0"/>
          </a:p>
        </p:txBody>
      </p:sp>
      <p:sp>
        <p:nvSpPr>
          <p:cNvPr id="56" name="Shape 54"/>
          <p:cNvSpPr/>
          <p:nvPr/>
        </p:nvSpPr>
        <p:spPr>
          <a:xfrm>
            <a:off x="6172200" y="4495190"/>
            <a:ext cx="2487168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40780" y="4513478"/>
            <a:ext cx="2350008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58" name="Shape 56"/>
          <p:cNvSpPr/>
          <p:nvPr/>
        </p:nvSpPr>
        <p:spPr>
          <a:xfrm>
            <a:off x="8659368" y="4495190"/>
            <a:ext cx="2496312" cy="680314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727948" y="4513478"/>
            <a:ext cx="2359152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1280160" y="5404104"/>
            <a:ext cx="9601200" cy="768096"/>
          </a:xfrm>
          <a:prstGeom prst="roundRect">
            <a:avLst>
              <a:gd name="adj" fmla="val 4762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444752" y="5541264"/>
            <a:ext cx="9272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counter-row</a:t>
            </a:r>
            <a:endParaRPr lang="en-US" sz="1900" dirty="0"/>
          </a:p>
        </p:txBody>
      </p:sp>
      <p:sp>
        <p:nvSpPr>
          <p:cNvPr id="62" name="Text 60"/>
          <p:cNvSpPr/>
          <p:nvPr/>
        </p:nvSpPr>
        <p:spPr>
          <a:xfrm>
            <a:off x="1444752" y="5952744"/>
            <a:ext cx="9272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p = F and q = T: both premises are TRUE, but p is FALSE. Thus the argument is INVALID.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example: three propositions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Test: p → (q ∨ ¬r),  q → (p ∧ r)  ∴ p → 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1847088"/>
            <a:ext cx="6400800" cy="3529584"/>
          </a:xfrm>
          <a:prstGeom prst="roundRect">
            <a:avLst>
              <a:gd name="adj" fmla="val 103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1984248"/>
            <a:ext cx="6071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Countermodel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9264" y="2395728"/>
            <a:ext cx="60716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 = T, q = F, r = F.</a:t>
            </a:r>
            <a:endParaRPr lang="en-US" sz="2300" dirty="0"/>
          </a:p>
          <a:p>
            <a:pPr marL="0" indent="0" algn="l">
              <a:buNone/>
            </a:pPr>
            <a:endParaRPr lang="en-US" sz="2300" dirty="0"/>
          </a:p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(q ∨ ¬r) = T → (F ∨ T) = T</a:t>
            </a:r>
            <a:endParaRPr lang="en-US" sz="2300" dirty="0"/>
          </a:p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(p ∧ r) = F → F = T</a:t>
            </a:r>
            <a:endParaRPr lang="en-US" sz="2300" dirty="0"/>
          </a:p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r = T → F = F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452360" y="1847088"/>
            <a:ext cx="3886200" cy="3529584"/>
          </a:xfrm>
          <a:prstGeom prst="roundRect">
            <a:avLst>
              <a:gd name="adj" fmla="val 1036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16952" y="1984248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16952" y="2395728"/>
            <a:ext cx="35570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premises hold while the claimed conclusion fails.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argument is INVALID.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is not soundness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concerns form; soundness also requires factual premises.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819656"/>
            <a:ext cx="5166360" cy="4005072"/>
          </a:xfrm>
          <a:prstGeom prst="roundRect">
            <a:avLst>
              <a:gd name="adj" fmla="val 913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956816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but not sound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1832" y="2368296"/>
            <a:ext cx="48371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2 is odd, then 2 is prime.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is odd.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2 is prime.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form (MP); a premise is false.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63640" y="1819656"/>
            <a:ext cx="5166360" cy="4005072"/>
          </a:xfrm>
          <a:prstGeom prst="roundRect">
            <a:avLst>
              <a:gd name="adj" fmla="val 913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1956816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argument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28232" y="2368296"/>
            <a:ext cx="483717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12 is divisible by 6, then 12 is even.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is divisible by 6.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12 is even.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form AND all premises true.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foundational inference rules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ponens affirms the antecedent; modus tollens denies the consequent.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5385816" cy="3547872"/>
          </a:xfrm>
          <a:prstGeom prst="roundRect">
            <a:avLst>
              <a:gd name="adj" fmla="val 1031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Modus Ponens (MP)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    •    p    ∴ q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50566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rains, the street gets wet.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rains. ∴ The street gets wet.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385816" cy="3547872"/>
          </a:xfrm>
          <a:prstGeom prst="roundRect">
            <a:avLst>
              <a:gd name="adj" fmla="val 1031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8504" y="1938528"/>
            <a:ext cx="5093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Modus Tollens (MT)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36792" y="2368296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    •    ¬q    ∴ ¬p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36792" y="2971800"/>
            <a:ext cx="505663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rains, the street gets wet.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street is not wet. ∴ It did not rain.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70585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Tautologies: [(p → q) ∧ p] → q     and     [(p → q) ∧ ¬q] → ¬p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 and specialization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 adds a disjunction; the other extracts a conjunct.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83664"/>
            <a:ext cx="5358384" cy="3566160"/>
          </a:xfrm>
          <a:prstGeom prst="roundRect">
            <a:avLst>
              <a:gd name="adj" fmla="val 102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1993392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Generalization (Addition)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   ∴ p ∨ q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0392" y="3026664"/>
            <a:ext cx="50292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is Saturday.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Today is Saturday or Sunday.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is inclusive.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0488" y="1883664"/>
            <a:ext cx="5312664" cy="3566160"/>
          </a:xfrm>
          <a:prstGeom prst="roundRect">
            <a:avLst>
              <a:gd name="adj" fmla="val 1026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993392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Specialization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    ∴ p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55080" y="3026664"/>
            <a:ext cx="498348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Friday and a holiday.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It is Friday.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Either conjunct may be extracted.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 and disjunctive elimination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established statements or eliminate an impossible alternative.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83664"/>
            <a:ext cx="5358384" cy="3611880"/>
          </a:xfrm>
          <a:prstGeom prst="roundRect">
            <a:avLst>
              <a:gd name="adj" fmla="val 1013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1993392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Conjunction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4231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   •    q    ∴ p ∧ q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0392" y="3026664"/>
            <a:ext cx="50292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is online. MFA succeeds.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The server is online AND MFA succeeds.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0488" y="1883664"/>
            <a:ext cx="5312664" cy="3611880"/>
          </a:xfrm>
          <a:prstGeom prst="roundRect">
            <a:avLst>
              <a:gd name="adj" fmla="val 1013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993392"/>
            <a:ext cx="5020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Elimination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    •    ¬p    ∴ q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55080" y="3026664"/>
            <a:ext cx="49834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study math or literature.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do not study math.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I study literature.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Transitivity: the chain argument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 two conditional links sharing the middle proposition.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5528" y="1783080"/>
            <a:ext cx="3886200" cy="3438144"/>
          </a:xfrm>
          <a:prstGeom prst="roundRect">
            <a:avLst>
              <a:gd name="adj" fmla="val 1064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1920240"/>
            <a:ext cx="3557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Hypothetical syllogism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557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r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p → r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056632" y="1783080"/>
            <a:ext cx="6172200" cy="3438144"/>
          </a:xfrm>
          <a:prstGeom prst="roundRect">
            <a:avLst>
              <a:gd name="adj" fmla="val 1064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21224" y="1920240"/>
            <a:ext cx="5843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Original-style example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21224" y="2331720"/>
            <a:ext cx="584301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it snows, I study discrete math.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I study discrete math, I will get an A.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If it snows, I will get an A.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56235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transitivity does NOT establish p or r by itself.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into cases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every possible case leads to r, then r follows.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19656"/>
            <a:ext cx="5715000" cy="3840480"/>
          </a:xfrm>
          <a:prstGeom prst="roundRect">
            <a:avLst>
              <a:gd name="adj" fmla="val 952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2104" y="1929384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Proof by cases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" y="2359152"/>
            <a:ext cx="5385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q;  p → r;  q → r;  ∴ 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50392" y="2962656"/>
            <a:ext cx="538581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 is online or on campus.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Either format has a submission deadline.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There is a submission deadline.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56832" y="1819656"/>
            <a:ext cx="4681728" cy="3840480"/>
          </a:xfrm>
          <a:prstGeom prst="roundRect">
            <a:avLst>
              <a:gd name="adj" fmla="val 952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21424" y="1956816"/>
            <a:ext cx="4352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valid?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21424" y="2368296"/>
            <a:ext cx="4352544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at least one of p or q holds.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p leads to r.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q also leads to r.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r follows regardless of which case occurs.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contradiction rule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denying the goal logically leads to a contradiction, the goal holds.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" y="1783080"/>
            <a:ext cx="4343400" cy="3849624"/>
          </a:xfrm>
          <a:prstGeom prst="roundRect">
            <a:avLst>
              <a:gd name="adj" fmla="val 950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4128" y="1920240"/>
            <a:ext cx="4014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Contradiction rule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24128" y="2331720"/>
            <a:ext cx="40142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 → ⊥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p</a:t>
            </a:r>
            <a:endParaRPr lang="en-US" sz="2600" dirty="0"/>
          </a:p>
          <a:p>
            <a:pPr marL="0" indent="0" algn="l">
              <a:buNone/>
            </a:pP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⊥ denotes a contradiction.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559552" y="1783080"/>
            <a:ext cx="5733288" cy="3849624"/>
          </a:xfrm>
          <a:prstGeom prst="roundRect">
            <a:avLst>
              <a:gd name="adj" fmla="val 950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24144" y="1920240"/>
            <a:ext cx="5404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24144" y="2331720"/>
            <a:ext cx="54041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¬p.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premises and ¬p, derive q and ¬q.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¬p cannot hold.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p.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78992" y="58338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method underlies proof by contradiction later in the course.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comparison of all nine rules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rule based on the structure already available.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1700784"/>
            <a:ext cx="3200400" cy="455371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7572" y="1719072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79392" y="1700784"/>
            <a:ext cx="4005072" cy="455371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7972" y="1719072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84464" y="1700784"/>
            <a:ext cx="2834640" cy="455371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53044" y="1719072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8992" y="2156155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7572" y="2174443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ponens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79392" y="2156155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47972" y="2174443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q; p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84464" y="2156155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53044" y="2174443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78992" y="2611526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47572" y="2629814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tollens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279392" y="2611526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47972" y="2629814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q; ¬q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284464" y="2611526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53044" y="2629814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78992" y="3066898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7572" y="3085186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Generalization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279392" y="3066898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7972" y="3085186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284464" y="3066898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53044" y="3085186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078992" y="3522269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47572" y="3540557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Specialization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4279392" y="3522269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47972" y="3540557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8284464" y="3522269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353044" y="3540557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(or q)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1078992" y="3977640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147572" y="3995928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4279392" y="3977640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47972" y="3995928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p; q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284464" y="3977640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353044" y="3995928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∧ q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1078992" y="4433011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147572" y="4451299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Elimination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4279392" y="4433011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47972" y="4451299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q; ¬p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8284464" y="4433011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353044" y="4451299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1078992" y="4888382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147572" y="4906670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4279392" y="4888382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347972" y="4906670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q; q → r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8284464" y="4888382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53044" y="4906670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r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1078992" y="5343754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47572" y="5362042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Division into cases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4279392" y="5343754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47972" y="5362042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q; p → r; q → r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8284464" y="5343754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53044" y="5362042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1078992" y="5799125"/>
            <a:ext cx="320040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147572" y="5817413"/>
            <a:ext cx="306324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Contradiction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4279392" y="5799125"/>
            <a:ext cx="4005072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347972" y="5817413"/>
            <a:ext cx="3867912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 → ⊥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8284464" y="5799125"/>
            <a:ext cx="2834640" cy="455371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353044" y="5817413"/>
            <a:ext cx="2697480" cy="418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fallacies: do not reverse the arrow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invalid even when the conclusion happens to be true.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901952"/>
            <a:ext cx="5376672" cy="3840480"/>
          </a:xfrm>
          <a:prstGeom prst="roundRect">
            <a:avLst>
              <a:gd name="adj" fmla="val 952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5084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 error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441448"/>
            <a:ext cx="5047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q;  q;  ∴ p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41248" y="3044952"/>
            <a:ext cx="5047488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number is divisible by 4, it is even.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is even; but 6 is not divisible by 4.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1901952"/>
            <a:ext cx="5358384" cy="3840480"/>
          </a:xfrm>
          <a:prstGeom prst="roundRect">
            <a:avLst>
              <a:gd name="adj" fmla="val 952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18504" y="2011680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error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36792" y="2441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q;  ¬p;  ∴ ¬q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36792" y="3044952"/>
            <a:ext cx="502920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number is divisible by 4, it is even.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is not divisible by 4, yet it is even.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PROCEDURE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disprove a proposed argument form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true-premises / false-conclusion row is enough.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8992" y="1901952"/>
            <a:ext cx="10021824" cy="804672"/>
          </a:xfrm>
          <a:prstGeom prst="roundRect">
            <a:avLst>
              <a:gd name="adj" fmla="val 4545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97864" y="19659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764792" y="1965960"/>
            <a:ext cx="9153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the argument into proposition variables.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78992" y="2807208"/>
            <a:ext cx="10021824" cy="804672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97864" y="2871216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64792" y="2871216"/>
            <a:ext cx="9153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the premise truth conditions.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78992" y="3712464"/>
            <a:ext cx="10021824" cy="804672"/>
          </a:xfrm>
          <a:prstGeom prst="roundRect">
            <a:avLst>
              <a:gd name="adj" fmla="val 4545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97864" y="3776472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64792" y="3776472"/>
            <a:ext cx="9153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a row making every premise TRUE.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78992" y="4617720"/>
            <a:ext cx="10021824" cy="804672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97864" y="4681728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64792" y="4681728"/>
            <a:ext cx="9153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conclusion is FALSE in that row, display it as a countermodel.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68756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such counter-row in the complete truth table ⇒ the form is valid.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deduction: Where are the glasses?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Reconstruct the logical statements from the original lecture.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792224"/>
            <a:ext cx="5532120" cy="3913632"/>
          </a:xfrm>
          <a:prstGeom prst="roundRect">
            <a:avLst>
              <a:gd name="adj" fmla="val 935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29384"/>
            <a:ext cx="5202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propositions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40864"/>
            <a:ext cx="520293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RK: read in the kitchen</a:t>
            </a:r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GK: glasses on the kitchen table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SB: saw glasses at breakfast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RL: read in living room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GC: glasses on coffee table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1792224"/>
            <a:ext cx="4828032" cy="3913632"/>
          </a:xfrm>
          <a:prstGeom prst="roundRect">
            <a:avLst>
              <a:gd name="adj" fmla="val 935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56832" y="1929384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56832" y="2340864"/>
            <a:ext cx="449884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RK → GK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GK → SB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¬SB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RL ∨ RK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RL → GC</a:t>
            </a:r>
            <a:endParaRPr lang="en-US" sz="2200" dirty="0"/>
          </a:p>
          <a:p>
            <a:pPr marL="0" indent="0" algn="l">
              <a:buNone/>
            </a:pP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derive GC.</a:t>
            </a:r>
            <a:endParaRPr lang="en-US" sz="2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3A35FDB-BA44-58CB-A215-7ECC01D24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9003" y="3793090"/>
            <a:ext cx="4885714" cy="1876190"/>
          </a:xfrm>
          <a:prstGeom prst="rect">
            <a:avLst/>
          </a:prstGeom>
          <a:ln w="12700" cap="sq">
            <a:solidFill>
              <a:srgbClr val="286C9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0B9C65-FBCE-A0A5-2F0A-19D6AA537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189" y="1934996"/>
            <a:ext cx="2457491" cy="3038163"/>
          </a:xfrm>
          <a:prstGeom prst="rect">
            <a:avLst/>
          </a:prstGeom>
          <a:ln w="12700" cap="sq">
            <a:solidFill>
              <a:srgbClr val="286C94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glasses: full numbered derivation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derived line names the supporting rule and prior statements.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755648"/>
            <a:ext cx="1005840" cy="452628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700" y="1773936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65960" y="1755648"/>
            <a:ext cx="3493008" cy="452628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34540" y="1773936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58968" y="1755648"/>
            <a:ext cx="5788152" cy="452628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7548" y="1773936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2208276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8700" y="2226564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965960" y="2208276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34540" y="2226564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 → GK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58968" y="2208276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27548" y="2226564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0120" y="2660904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8700" y="2679192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965960" y="2660904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034540" y="2679192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GK → SB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58968" y="2660904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27548" y="2679192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60120" y="3113532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8700" y="3131820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965960" y="3113532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34540" y="3131820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¬SB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58968" y="3113532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27548" y="3131820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960120" y="3566160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8700" y="3584448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1965960" y="3566160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034540" y="3584448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∨ RK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5458968" y="3566160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27548" y="3584448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960120" y="4018788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28700" y="4037076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965960" y="4018788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034540" y="4037076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 → GC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458968" y="4018788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527548" y="4037076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960120" y="4471416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28700" y="4489704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1965960" y="4471416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034540" y="4489704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RK → SB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5458968" y="4471416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27548" y="4489704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Transitivity, 1 and 2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960120" y="4924044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28700" y="4942332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1965960" y="4924044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034540" y="4942332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¬RK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5458968" y="4924044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527548" y="4942332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tollens, 6 and 3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960120" y="5376672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28700" y="5394960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1965960" y="5376672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034540" y="5394960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RL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5458968" y="5376672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527548" y="5394960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Elimination, 4 and 7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960120" y="5829300"/>
            <a:ext cx="1005840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028700" y="5847588"/>
            <a:ext cx="8686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1965960" y="5829300"/>
            <a:ext cx="3493008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034540" y="5847588"/>
            <a:ext cx="335584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GC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5458968" y="5829300"/>
            <a:ext cx="5788152" cy="452628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527548" y="5847588"/>
            <a:ext cx="565099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ponens, 5 and 8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 application: access-control reasoning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Applying modus tollens and elimination to policy assertions.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801368"/>
            <a:ext cx="5413248" cy="4160520"/>
          </a:xfrm>
          <a:prstGeom prst="roundRect">
            <a:avLst>
              <a:gd name="adj" fmla="val 879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93852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2350008"/>
            <a:ext cx="508406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M: multifactor authentication succeeds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T: access token is issued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privileged access granted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backup authentication used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→ T; T → A; ¬A; M ∨ B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73368" y="1801368"/>
            <a:ext cx="5120640" cy="4160520"/>
          </a:xfrm>
          <a:prstGeom prst="roundRect">
            <a:avLst>
              <a:gd name="adj" fmla="val 879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93852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Deduction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537960" y="2350008"/>
            <a:ext cx="47914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M → A  (transitivity)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¬M       (modus tollens using ¬A)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B           (elimination from M ∨ B)</a:t>
            </a:r>
            <a:endParaRPr lang="en-US" sz="1900" dirty="0"/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these stated rules, backup authentication was used.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identify the rule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which conclusion follows; justify why other conclusions do not.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3520440" cy="3154680"/>
          </a:xfrm>
          <a:prstGeom prst="roundRect">
            <a:avLst>
              <a:gd name="adj" fmla="val 1159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6596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77440"/>
            <a:ext cx="319125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?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334256" y="1828800"/>
            <a:ext cx="3520440" cy="3154680"/>
          </a:xfrm>
          <a:prstGeom prst="roundRect">
            <a:avLst>
              <a:gd name="adj" fmla="val 1159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98848" y="196596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98848" y="2377440"/>
            <a:ext cx="319125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¬q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?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982712" y="1828800"/>
            <a:ext cx="3520440" cy="3154680"/>
          </a:xfrm>
          <a:prstGeom prst="roundRect">
            <a:avLst>
              <a:gd name="adj" fmla="val 1159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47304" y="196596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47304" y="2377440"/>
            <a:ext cx="319125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¬q?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10287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A = q (MP); B = p (elimination); C is NOT a valid inference.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Synthesis: how valid deductions are built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 moves from premises to justified intermediate results.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874520"/>
            <a:ext cx="10378440" cy="1600200"/>
          </a:xfrm>
          <a:prstGeom prst="roundRect">
            <a:avLst>
              <a:gd name="adj" fmla="val 228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2011680"/>
            <a:ext cx="10049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workflow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8992" y="2423160"/>
            <a:ext cx="1004925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natural language → symbolic premises → identify useful patterns → apply valid rules → cite prior lines → derive the desired conclusion.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3758184"/>
            <a:ext cx="10378440" cy="1847088"/>
          </a:xfrm>
          <a:prstGeom prst="roundRect">
            <a:avLst>
              <a:gd name="adj" fmla="val 1980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895344"/>
            <a:ext cx="10049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78992" y="4306824"/>
            <a:ext cx="100492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≠ truth; soundness = validity + true premises.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Modus tollens ≠ inverse error; modus ponens ≠ converse error.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countermodel disproves validity.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after propositional inference?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Next, we reason about predicates and quantified statements.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1929384"/>
            <a:ext cx="5010912" cy="3035808"/>
          </a:xfrm>
          <a:prstGeom prst="roundRect">
            <a:avLst>
              <a:gd name="adj" fmla="val 1205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66544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Today: propositional logic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2478024"/>
            <a:ext cx="468172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Atoms p, q, r; connectives; arguments; inference rules.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9384"/>
            <a:ext cx="5029200" cy="3035808"/>
          </a:xfrm>
          <a:prstGeom prst="roundRect">
            <a:avLst>
              <a:gd name="adj" fmla="val 1205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2066544"/>
            <a:ext cx="4700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first-order logic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36792" y="2478024"/>
            <a:ext cx="470001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Predicates P(x), domains, ∀ and ∃; quantified inference.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" y="5504688"/>
            <a:ext cx="104241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demand for justified reasoning does not change when variables and quantifiers are introduced.</a:t>
            </a:r>
            <a:endParaRPr lang="en-US" sz="1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A52A75"/>
          </a:solidFill>
          <a:ln w="1270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840480" y="237744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ideas, worked cases, self-test and detailed solutions.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384280" y="657453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— the essentials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Facts worth recalling without a truth table.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" y="1746504"/>
            <a:ext cx="5422392" cy="4251960"/>
          </a:xfrm>
          <a:prstGeom prst="roundRect">
            <a:avLst>
              <a:gd name="adj" fmla="val 860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1883664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checklist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1248" y="2295144"/>
            <a:ext cx="5093208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premises true ⇒ conclusion true.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critical row is one with every premise true.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false conclusion in a critical row disproves validity.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Soundness additionally requires true premises.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27648" y="1746504"/>
            <a:ext cx="5184648" cy="4251960"/>
          </a:xfrm>
          <a:prstGeom prst="roundRect">
            <a:avLst>
              <a:gd name="adj" fmla="val 860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1883664"/>
            <a:ext cx="4855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checklist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92240" y="2295144"/>
            <a:ext cx="4855464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MP: p → q, p ⇒ q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MT: p → q, ¬q ⇒ ¬p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Transitivity: chain conditionals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Elimination: rule out a disjunct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Cases: prove conclusion from each case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A — misconception watch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Mistakes to detect before an exam.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773936"/>
            <a:ext cx="4937760" cy="729996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28700" y="1792224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Misconception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1773936"/>
            <a:ext cx="5303520" cy="729996"/>
          </a:xfrm>
          <a:prstGeom prst="rect">
            <a:avLst/>
          </a:prstGeom>
          <a:solidFill>
            <a:srgbClr val="EAF3F7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66460" y="1792224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503932"/>
            <a:ext cx="493776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8700" y="2522220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true conclusion implies validity.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897880" y="2503932"/>
            <a:ext cx="530352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66460" y="2522220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argument form and critical rows.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60120" y="3233928"/>
            <a:ext cx="493776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28700" y="3252216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 and q imply p.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897880" y="3233928"/>
            <a:ext cx="530352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66460" y="3252216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Converse error; q can have another cause.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60120" y="3963924"/>
            <a:ext cx="493776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28700" y="3982212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q and ¬p imply ¬q.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897880" y="3963924"/>
            <a:ext cx="530352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66460" y="3982212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Inverse error; q may still be true.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60120" y="4693920"/>
            <a:ext cx="493776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8700" y="4712208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argument has all true premises.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897880" y="4693920"/>
            <a:ext cx="530352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66460" y="4712208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condition defines soundness, not validity.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60120" y="5423916"/>
            <a:ext cx="493776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8700" y="5442204"/>
            <a:ext cx="4800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 ∨ q, exactly one is true.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897880" y="5423916"/>
            <a:ext cx="5303520" cy="729996"/>
          </a:xfrm>
          <a:prstGeom prst="rect">
            <a:avLst/>
          </a:prstGeom>
          <a:solidFill>
            <a:srgbClr val="FFFFFF"/>
          </a:solidFill>
          <a:ln w="889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66460" y="5442204"/>
            <a:ext cx="516636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∨ is inclusive OR; both may hold.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B — conceptual connections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you choose depends on which information you know.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1764792"/>
            <a:ext cx="5321808" cy="4005072"/>
          </a:xfrm>
          <a:prstGeom prst="roundRect">
            <a:avLst>
              <a:gd name="adj" fmla="val 913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1901952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an implication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7824" y="2313432"/>
            <a:ext cx="4992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Antecedent holds? → modus ponens.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Consequent denied? → modus tollens.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implications in sequence? → transitivity.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236208" y="1764792"/>
            <a:ext cx="5257800" cy="4005072"/>
          </a:xfrm>
          <a:prstGeom prst="roundRect">
            <a:avLst>
              <a:gd name="adj" fmla="val 913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901952"/>
            <a:ext cx="4928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AND / OR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00800" y="2313432"/>
            <a:ext cx="492861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 and q? → conjunction.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 have p ∧ q? → specialization.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∨ q and ¬p? → elimination.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disjunct yields r? → cases.</a:t>
            </a:r>
            <a:endParaRPr lang="en-US" sz="2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 — boundary case: no critical rows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can hold vacuously when the premises are inconsistent.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" y="1819656"/>
            <a:ext cx="3858768" cy="3383280"/>
          </a:xfrm>
          <a:prstGeom prst="roundRect">
            <a:avLst>
              <a:gd name="adj" fmla="val 1081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1956816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Premises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2368296"/>
            <a:ext cx="352958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¬p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────────</a:t>
            </a:r>
            <a:endParaRPr lang="en-US" sz="2800" dirty="0"/>
          </a:p>
          <a:p>
            <a:pPr marL="0" indent="0" algn="l">
              <a:buNone/>
            </a:pPr>
            <a:r>
              <a:rPr lang="en-US" sz="2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q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946904" y="1819656"/>
            <a:ext cx="6419088" cy="3383280"/>
          </a:xfrm>
          <a:prstGeom prst="roundRect">
            <a:avLst>
              <a:gd name="adj" fmla="val 1081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11496" y="1956816"/>
            <a:ext cx="6089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11496" y="2368296"/>
            <a:ext cx="608990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truth assignment making both p and ¬p true. Hence there cannot be a row with all premises true and q false.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argument is VALID in classical logic, even though its premises are inconsistent.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51560" y="566928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inference does not by itself establish the conclusion as a true fact.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C — additional cases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a standard deduction with a fallacy.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801368"/>
            <a:ext cx="5394960" cy="3977640"/>
          </a:xfrm>
          <a:prstGeom prst="roundRect">
            <a:avLst>
              <a:gd name="adj" fmla="val 920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38528"/>
            <a:ext cx="5065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(MT)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50008"/>
            <a:ext cx="5065776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program is correct, it passes specification checks.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pass those checks.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It is not correct.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Given conditional, valid by MT.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6181344" y="1801368"/>
            <a:ext cx="5321808" cy="3977640"/>
          </a:xfrm>
          <a:prstGeom prst="roundRect">
            <a:avLst>
              <a:gd name="adj" fmla="val 920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45936" y="1938528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(inverse)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45936" y="2350008"/>
            <a:ext cx="499262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program is correct, it passes specification checks.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not correct.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∴ It does not pass the checks.</a:t>
            </a:r>
            <a:endParaRPr lang="en-US" sz="2100" dirty="0"/>
          </a:p>
          <a:p>
            <a:pPr marL="0" indent="0" algn="l">
              <a:buNone/>
            </a:pP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justified: an incorrect program might pass.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(1–4)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without consulting the next slides.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728216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792224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1792224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MCQ · Easy · Understand: Which row invalidates an argument? A: Premise F / conclusion F; B: all premises T / conclusion F; C: all premises T / conclusion 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857500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2921508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2921508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True/False · Easy · Understand: An argument with false premises is necessarily invalid. Explain.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3986784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4050792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050792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· Medium · Apply: p → q; ¬q; ∴ ¬p. Name the rule.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116068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" y="5180076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08760" y="5180076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detection · Medium · Analyze: p → q; q; ∴ p. Identify and explain the error.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 — knowledge check (5–8)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 proof or a countermodel when appropriate.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728216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792224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1792224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Countermodel · Medium · Create: Show that p → q; ¬p; ∴ ¬q is invalid.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857500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" y="2921508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Q6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2921508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· Medium · Apply: From p ∨ q, ¬p, q → r, derive r and name each step.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3986784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4050792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4050792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· Hard · Analyze: From p → q, q → r, ¬r derive ¬p.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116068"/>
            <a:ext cx="10561320" cy="1028700"/>
          </a:xfrm>
          <a:prstGeom prst="roundRect">
            <a:avLst>
              <a:gd name="adj" fmla="val 3556"/>
            </a:avLst>
          </a:prstGeom>
          <a:solidFill>
            <a:srgbClr val="F5F6F8"/>
          </a:solidFill>
          <a:ln w="10160">
            <a:solidFill>
              <a:srgbClr val="D6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" y="5180076"/>
            <a:ext cx="41148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Q8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08760" y="5180076"/>
            <a:ext cx="969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· Hard · Evaluate: If a failed audit denies access, and access was granted, what follows? Define variables and justify.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(1–4)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the logical reason, not only the final choice.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764792"/>
            <a:ext cx="5349240" cy="1783080"/>
          </a:xfrm>
          <a:prstGeom prst="roundRect">
            <a:avLst>
              <a:gd name="adj" fmla="val 2051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901952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 — 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13432"/>
            <a:ext cx="50200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row with all premises true and a false conclusion is a counterexample. A has a false premise; C supports validity.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7920" y="1764792"/>
            <a:ext cx="5285232" cy="1783080"/>
          </a:xfrm>
          <a:prstGeom prst="roundRect">
            <a:avLst>
              <a:gd name="adj" fmla="val 2051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1901952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 — False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82512" y="2313432"/>
            <a:ext cx="49560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 argument may have false premises. Soundness requires both validity and true premises.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5349240" cy="1783080"/>
          </a:xfrm>
          <a:prstGeom prst="roundRect">
            <a:avLst>
              <a:gd name="adj" fmla="val 2051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3977640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 — Modus tollens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" y="4389120"/>
            <a:ext cx="502005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consequent q is denied, allowing us to conclude the negation of the antecedent p.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85232" cy="1783080"/>
          </a:xfrm>
          <a:prstGeom prst="roundRect">
            <a:avLst>
              <a:gd name="adj" fmla="val 2051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3977640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— Converse error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82512" y="4389120"/>
            <a:ext cx="49560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does not entail p. Example: divisible by 4 → even; 6 is even but not divisible by 4.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E — answer key (5–8)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proof step is justified by a valid inference rule.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755648"/>
            <a:ext cx="5376672" cy="1801368"/>
          </a:xfrm>
          <a:prstGeom prst="roundRect">
            <a:avLst>
              <a:gd name="adj" fmla="val 2030"/>
            </a:avLst>
          </a:prstGeom>
          <a:solidFill>
            <a:srgbClr val="F9ECEF"/>
          </a:solidFill>
          <a:ln w="10160">
            <a:solidFill>
              <a:srgbClr val="AA3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1892808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A3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A5 — countermodel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304288"/>
            <a:ext cx="50474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p = F, q = T. Then p → q and ¬p are true, while ¬q is false.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08776" y="1755648"/>
            <a:ext cx="5294376" cy="1801368"/>
          </a:xfrm>
          <a:prstGeom prst="roundRect">
            <a:avLst>
              <a:gd name="adj" fmla="val 2030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73368" y="189280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A6 — derivation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73368" y="2304288"/>
            <a:ext cx="49651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 (elimination from p ∨ q and ¬p).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 (modus ponens from q → r and q).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5376672" cy="1801368"/>
          </a:xfrm>
          <a:prstGeom prst="roundRect">
            <a:avLst>
              <a:gd name="adj" fmla="val 2030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0392" y="3977640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A7 — derivation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" y="4389120"/>
            <a:ext cx="50474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 → r (transitivity).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¬p (modus tollens using ¬r).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08776" y="3840480"/>
            <a:ext cx="5294376" cy="1801368"/>
          </a:xfrm>
          <a:prstGeom prst="roundRect">
            <a:avLst>
              <a:gd name="adj" fmla="val 2030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73368" y="3977640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A8 — contrapositive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373368" y="4389120"/>
            <a:ext cx="49651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F = audit failed, D = access denied. F → D and ¬D (access granted) yield ¬F by MT.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F — optional enrichment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this reasoning reappears in computing.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" y="1783080"/>
            <a:ext cx="3520440" cy="4005072"/>
          </a:xfrm>
          <a:prstGeom prst="roundRect">
            <a:avLst>
              <a:gd name="adj" fmla="val 1039"/>
            </a:avLst>
          </a:prstGeom>
          <a:solidFill>
            <a:srgbClr val="F0EDF7"/>
          </a:solidFill>
          <a:ln w="10160">
            <a:solidFill>
              <a:srgbClr val="7771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" y="192024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771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/ rule engines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9536" y="2331720"/>
            <a:ext cx="319125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bases encode implications; an inference engine chains facts and rules to derive new facts.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34256" y="1783080"/>
            <a:ext cx="3520440" cy="4005072"/>
          </a:xfrm>
          <a:prstGeom prst="roundRect">
            <a:avLst>
              <a:gd name="adj" fmla="val 1039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98848" y="192024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verification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98848" y="2331720"/>
            <a:ext cx="319125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invariants and preconditions, proof rules establish a required postcondition.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973568" y="1783080"/>
            <a:ext cx="3520440" cy="4005072"/>
          </a:xfrm>
          <a:prstGeom prst="roundRect">
            <a:avLst>
              <a:gd name="adj" fmla="val 1039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38160" y="1920240"/>
            <a:ext cx="3191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Cybersecurity policies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38160" y="2331720"/>
            <a:ext cx="3191256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Reasoning about access, denials and authentication conditions requires directional accuracy.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28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30352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course resources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078992"/>
            <a:ext cx="10972800" cy="0"/>
          </a:xfrm>
          <a:prstGeom prst="line">
            <a:avLst/>
          </a:prstGeom>
          <a:noFill/>
          <a:ln w="1651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2648" y="1188720"/>
            <a:ext cx="10927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scope: Epp §2.3 and the original COMP233 logical inferencing slides.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519672"/>
            <a:ext cx="10991088" cy="0"/>
          </a:xfrm>
          <a:prstGeom prst="line">
            <a:avLst/>
          </a:prstGeom>
          <a:noFill/>
          <a:ln w="8890">
            <a:solidFill>
              <a:srgbClr val="E1E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6574536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COMP233 • Discrete Mathematics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41080" y="657453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Ruwa' AbuHweidi @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0" y="657453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41248" y="1783080"/>
            <a:ext cx="10543032" cy="1207008"/>
          </a:xfrm>
          <a:prstGeom prst="roundRect">
            <a:avLst>
              <a:gd name="adj" fmla="val 3030"/>
            </a:avLst>
          </a:prstGeom>
          <a:solidFill>
            <a:srgbClr val="F7E9F1"/>
          </a:solidFill>
          <a:ln w="10160">
            <a:solidFill>
              <a:srgbClr val="A52A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10213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A52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102138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Susanna S. Epp, Discrete Mathematics with Applications, 4th edition, §2.3: Valid and Invalid Arguments.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3191256"/>
            <a:ext cx="10543032" cy="1316736"/>
          </a:xfrm>
          <a:prstGeom prst="roundRect">
            <a:avLst>
              <a:gd name="adj" fmla="val 2778"/>
            </a:avLst>
          </a:prstGeom>
          <a:solidFill>
            <a:srgbClr val="EAF3F7"/>
          </a:solidFill>
          <a:ln w="10160">
            <a:solidFill>
              <a:srgbClr val="276B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328416"/>
            <a:ext cx="10213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76B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course materials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05840" y="3739896"/>
            <a:ext cx="10213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Prof. Mustafa Jarrar — https://www.jarrar.info/courses/DMath/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lecture materials also acknowledge Dr. Radi Jarrar.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41248" y="4690872"/>
            <a:ext cx="10543032" cy="1005840"/>
          </a:xfrm>
          <a:prstGeom prst="roundRect">
            <a:avLst>
              <a:gd name="adj" fmla="val 3636"/>
            </a:avLst>
          </a:prstGeom>
          <a:solidFill>
            <a:srgbClr val="EAF5F4"/>
          </a:solidFill>
          <a:ln w="10160">
            <a:solidFill>
              <a:srgbClr val="3B8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828032"/>
            <a:ext cx="10213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course resources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05840" y="5239512"/>
            <a:ext cx="10213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828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https://github.com/RuwaYafa/BZU_Courses/tree/main/COMP233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3428</Words>
  <Application>Microsoft Office PowerPoint</Application>
  <PresentationFormat>Widescreen</PresentationFormat>
  <Paragraphs>677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Inferencing</dc:title>
  <dc:subject>COMP233 Lecture 2.3</dc:subject>
  <dc:creator>Ruwa' AbuHweidi</dc:creator>
  <cp:lastModifiedBy>RUWA Al-Ru7</cp:lastModifiedBy>
  <cp:revision>2</cp:revision>
  <dcterms:created xsi:type="dcterms:W3CDTF">2026-10-12T22:18:25Z</dcterms:created>
  <dcterms:modified xsi:type="dcterms:W3CDTF">2026-10-12T23:45:32Z</dcterms:modified>
</cp:coreProperties>
</file>