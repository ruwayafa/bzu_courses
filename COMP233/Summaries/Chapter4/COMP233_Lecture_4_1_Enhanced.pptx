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0756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22960" y="272491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Number Theory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Proof Methods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50932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Birzeit University  |  Fall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logical statements to mathematical proofs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65506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536192"/>
            <a:ext cx="10277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Propositional and predicate logic tell us what a claim means.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496312"/>
            <a:ext cx="10277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 gives precise definitions to reason with.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57530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456432"/>
            <a:ext cx="10277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methods tell us why a claim holds for every allowed case.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4416552"/>
            <a:ext cx="10277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counterexample shows exactly why a universal claim fails.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4360" y="6062472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094476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definitions → quantifiers → counterexamples → direct proof.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number theory matters to programmers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508760"/>
            <a:ext cx="5349240" cy="3547872"/>
          </a:xfrm>
          <a:prstGeom prst="roundRect">
            <a:avLst>
              <a:gd name="adj" fmla="val 386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3677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reason about integers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49469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Loops, counters, indexing, conditions, parity tests, and divisibility all involve integer properties.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349240" cy="3547872"/>
          </a:xfrm>
          <a:prstGeom prst="roundRect">
            <a:avLst>
              <a:gd name="adj" fmla="val 386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3677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requires general reasoning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73368" y="2075688"/>
            <a:ext cx="49469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several inputs is useful, but a proof gives a guarantee for all inputs satisfying its assumptions.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94360" y="539496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42696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to investigate: even × even; odd + odd; odd × odd.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an even integer?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6492240" cy="2057400"/>
          </a:xfrm>
          <a:prstGeom prst="roundRect">
            <a:avLst>
              <a:gd name="adj" fmla="val 666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934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definition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048256"/>
            <a:ext cx="60899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∈ ℤ is even ⇔ n = 2k for some k ∈ ℤ.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351776" y="1481328"/>
            <a:ext cx="4206240" cy="2057400"/>
          </a:xfrm>
          <a:prstGeom prst="roundRect">
            <a:avLst>
              <a:gd name="adj" fmla="val 666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34656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examples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52944" y="2048256"/>
            <a:ext cx="38039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2(0)  → even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 = 2(−4) → even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10917936" cy="1975104"/>
          </a:xfrm>
          <a:prstGeom prst="roundRect">
            <a:avLst>
              <a:gd name="adj" fmla="val 6944"/>
            </a:avLst>
          </a:prstGeom>
          <a:solidFill>
            <a:srgbClr val="F9EDF5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86200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the definition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" y="4325112"/>
            <a:ext cx="10515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 an expression E is even, rewrite E = 2 × (integer). You must justify the factor is an integer.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an odd integer?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6492240" cy="2057400"/>
          </a:xfrm>
          <a:prstGeom prst="roundRect">
            <a:avLst>
              <a:gd name="adj" fmla="val 666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934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definition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048256"/>
            <a:ext cx="60899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∈ ℤ is odd ⇔ n = 2k + 1 for some k ∈ ℤ.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351776" y="1481328"/>
            <a:ext cx="4206240" cy="2057400"/>
          </a:xfrm>
          <a:prstGeom prst="roundRect">
            <a:avLst>
              <a:gd name="adj" fmla="val 666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34656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examples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52944" y="2048256"/>
            <a:ext cx="38039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2(0) + 1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−301 = 2(−151) + 1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10917936" cy="1975104"/>
          </a:xfrm>
          <a:prstGeom prst="roundRect">
            <a:avLst>
              <a:gd name="adj" fmla="val 6944"/>
            </a:avLst>
          </a:prstGeom>
          <a:solidFill>
            <a:srgbClr val="F9EDF5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86200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integer has exactly one parity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" y="4325112"/>
            <a:ext cx="10515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is either even or odd, never both. Negative integers and zero are included.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algebraic expressions using definitions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572768"/>
            <a:ext cx="5449824" cy="3639312"/>
          </a:xfrm>
          <a:prstGeom prst="roundRect">
            <a:avLst>
              <a:gd name="adj" fmla="val 3769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700784"/>
            <a:ext cx="5084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even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139696"/>
            <a:ext cx="50474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a,b ∈ ℤ: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6a²b = 2(3a²b)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3a²b ∈ ℤ, the result is even.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81344" y="1572768"/>
            <a:ext cx="5367528" cy="3639312"/>
          </a:xfrm>
          <a:prstGeom prst="roundRect">
            <a:avLst>
              <a:gd name="adj" fmla="val 3769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700784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odd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82512" y="2139696"/>
            <a:ext cx="49651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a,b ∈ ℤ: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10a + 8b + 1 = 2(5a + 4b) + 1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5a + 4b ∈ ℤ, the result is odd.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5541264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7326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merely label parity: exhibit the required integer witness.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vs. composite integers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536192"/>
            <a:ext cx="5367528" cy="3584448"/>
          </a:xfrm>
          <a:prstGeom prst="roundRect">
            <a:avLst>
              <a:gd name="adj" fmla="val 382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496519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n &gt; 1 is prime if its only positive divisors are 1 and n.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2, 3, 5, 7, 11.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99632" y="1536192"/>
            <a:ext cx="5367528" cy="3584448"/>
          </a:xfrm>
          <a:prstGeom prst="roundRect">
            <a:avLst>
              <a:gd name="adj" fmla="val 382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664208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96519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n &gt; 1 is composite if it has a positive divisor other than 1 and 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4 = 2·2; 6 = 2·3; 9 = 3·3.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54864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184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cases: 1 is neither prime nor composite; this classification is for n &gt; 1.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classification and conditions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91640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72768"/>
            <a:ext cx="10506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0 even? Which integer witnesses the definition?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58952" y="2697480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578608"/>
            <a:ext cx="10506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−301 odd? Identify k in 2k + 1.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58952" y="3703320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584448"/>
            <a:ext cx="10506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1 prime? Why does n &gt; 1 matter?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58952" y="4709160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590288"/>
            <a:ext cx="10506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every integer prime or composite? State the correct domain.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594360" y="6062472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094476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state the domain before evaluating a mathematical claim.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and existential claims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1490472"/>
            <a:ext cx="5468112" cy="4251960"/>
          </a:xfrm>
          <a:prstGeom prst="roundRect">
            <a:avLst>
              <a:gd name="adj" fmla="val 322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18488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statement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4672" y="2057400"/>
            <a:ext cx="5065776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P(x)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“All elements of D have property P.”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prove: a general argument.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disprove: one counterexample.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90488" y="1490472"/>
            <a:ext cx="5404104" cy="4251960"/>
          </a:xfrm>
          <a:prstGeom prst="roundRect">
            <a:avLst>
              <a:gd name="adj" fmla="val 322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618488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statement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91656" y="2057400"/>
            <a:ext cx="500176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P(x)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“At least one element has property P.”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prove: exhibit a witness.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disprove: show no witness exists.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connects proof and disproof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10972800" cy="1901952"/>
          </a:xfrm>
          <a:prstGeom prst="roundRect">
            <a:avLst>
              <a:gd name="adj" fmla="val 7212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8249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of “all”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" y="2121408"/>
            <a:ext cx="10570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¬(∀x ∈ D, P(x)) ⇔ ∃x ∈ D, ¬P(x)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negate a universal statement, exhibit at least one failure.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94360" y="3657600"/>
            <a:ext cx="10972800" cy="1920240"/>
          </a:xfrm>
          <a:prstGeom prst="roundRect">
            <a:avLst>
              <a:gd name="adj" fmla="val 7143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8561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of “there exists”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" y="4224528"/>
            <a:ext cx="105704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¬(∃x ∈ D, P(x)) ⇔ ∀x ∈ D, ¬P(x)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 existence, establish failure for every element.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appropriate proof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5376672" cy="1975104"/>
          </a:xfrm>
          <a:prstGeom prst="roundRect">
            <a:avLst>
              <a:gd name="adj" fmla="val 6944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7276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P(x) — Prove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" y="2011680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arbitrary x ∈ D; derive P(x).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190488" y="1444752"/>
            <a:ext cx="5376672" cy="1975104"/>
          </a:xfrm>
          <a:prstGeom prst="roundRect">
            <a:avLst>
              <a:gd name="adj" fmla="val 6944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57276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P(x) — Disprove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91656" y="2011680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x ∈ D with ¬P(x).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4360" y="3602736"/>
            <a:ext cx="5376672" cy="1975104"/>
          </a:xfrm>
          <a:prstGeom prst="roundRect">
            <a:avLst>
              <a:gd name="adj" fmla="val 6944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3075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P(x) — Prove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5528" y="4169664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witness x ∈ D with P(x).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190488" y="3602736"/>
            <a:ext cx="5376672" cy="1975104"/>
          </a:xfrm>
          <a:prstGeom prst="roundRect">
            <a:avLst>
              <a:gd name="adj" fmla="val 6944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73075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P(x) — Disprove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91656" y="4169664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∀x ∈ D, ¬P(x).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disprove a universal implication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554480"/>
            <a:ext cx="10927080" cy="1965960"/>
          </a:xfrm>
          <a:prstGeom prst="roundRect">
            <a:avLst>
              <a:gd name="adj" fmla="val 697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target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121408"/>
            <a:ext cx="105247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[P(x) ⇒ Q(x)]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x ∈ D for which P(x) is TRUE and Q(x) is FALSE.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1792" y="3767328"/>
            <a:ext cx="10927080" cy="2148840"/>
          </a:xfrm>
          <a:prstGeom prst="roundRect">
            <a:avLst>
              <a:gd name="adj" fmla="val 6383"/>
            </a:avLst>
          </a:prstGeom>
          <a:solidFill>
            <a:srgbClr val="F9EDF5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895344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 checklist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334256"/>
            <a:ext cx="105247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Choose a value in the domain.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Verify the hypothesis P(x).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Verify the conclusion Q(x) fails.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State why the universal claim is false.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Counterexample: equal squares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81360" cy="1280160"/>
          </a:xfrm>
          <a:prstGeom prst="roundRect">
            <a:avLst>
              <a:gd name="adj" fmla="val 10714"/>
            </a:avLst>
          </a:prstGeom>
          <a:solidFill>
            <a:srgbClr val="FBECEB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93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claim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048256"/>
            <a:ext cx="10479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all a,b ∈ ℝ: if a² = b², then a = b.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10881360" cy="2468880"/>
          </a:xfrm>
          <a:prstGeom prst="roundRect">
            <a:avLst>
              <a:gd name="adj" fmla="val 555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36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the counterexample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" y="3575304"/>
            <a:ext cx="104790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a = 1 and b = −1.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TRUE: a² = 1 = b².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FALSE: 1 ≠ −1.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the statement is false.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 = b would NOT disprove the implication.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counterexample: squaring inequalities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81360" cy="1280160"/>
          </a:xfrm>
          <a:prstGeom prst="roundRect">
            <a:avLst>
              <a:gd name="adj" fmla="val 10714"/>
            </a:avLst>
          </a:prstGeom>
          <a:solidFill>
            <a:srgbClr val="FBECEB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93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claim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048256"/>
            <a:ext cx="10479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all a,b ∈ ℤ: if a &lt; b, then a² &lt; b².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10881360" cy="2468880"/>
          </a:xfrm>
          <a:prstGeom prst="roundRect">
            <a:avLst>
              <a:gd name="adj" fmla="val 555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36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" y="3575304"/>
            <a:ext cx="104790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= −3, b = 2.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 &lt; 2 is true, but 9 &lt; 4 is false.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Squaring does not preserve order across negative and positive inputs.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of exhaustion: finite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517904"/>
            <a:ext cx="10954512" cy="1572768"/>
          </a:xfrm>
          <a:prstGeom prst="roundRect">
            <a:avLst>
              <a:gd name="adj" fmla="val 8721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45920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exhaustive checking is a proof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10552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domain is finite, list all allowed cases and establish the claim for each case. No case may be omitted.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" y="3319272"/>
            <a:ext cx="10954512" cy="2258568"/>
          </a:xfrm>
          <a:prstGeom prst="roundRect">
            <a:avLst>
              <a:gd name="adj" fmla="val 6073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447288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lecture example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105521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even n from 4 through 26 is a sum of two primes: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4=2+2    6=3+3    8=3+5    10=5+5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12=5+7    14=3+11    16=5+11    18=7+11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20=7+13   22=5+17   24=5+19   26=7+19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5815584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84758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check does not establish a corresponding claim for all positive even integers.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proof: the five-step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444752"/>
            <a:ext cx="10643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restatement: identify the exact claim and domain.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395728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276856"/>
            <a:ext cx="10643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point: choose arbitrary elements satisfying hypotheses.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108960"/>
            <a:ext cx="10643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Unpack definitions: introduce appropriate integer witnesses.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4059936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941064"/>
            <a:ext cx="10643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Derive: use valid algebra and logical reasoning.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773168"/>
            <a:ext cx="10643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Conclude: verify the required definition or condition.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5952744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98474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direct proof of P ⇒ Q assumes P and derives Q.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proof: even + even = even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453896"/>
            <a:ext cx="10945368" cy="1133856"/>
          </a:xfrm>
          <a:prstGeom prst="roundRect">
            <a:avLst>
              <a:gd name="adj" fmla="val 1209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581912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020824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all even integers m and n, their sum m + n is even.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" y="2852928"/>
            <a:ext cx="10945368" cy="2633472"/>
          </a:xfrm>
          <a:prstGeom prst="roundRect">
            <a:avLst>
              <a:gd name="adj" fmla="val 5208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980944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419856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m and n be arbitrary even integers.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definition, m = 2k and n = 2j, for k,j ∈ ℤ.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 + n = 2k + 2j = 2(k + j).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k + j ∈ ℤ, the sum is even.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576072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79272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statement “k + j ∈ ℤ” is part of the reasoning, not optional decoration.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proof: odd × odd = odd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453896"/>
            <a:ext cx="10945368" cy="1133856"/>
          </a:xfrm>
          <a:prstGeom prst="roundRect">
            <a:avLst>
              <a:gd name="adj" fmla="val 1209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581912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020824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of any two odd integers is odd.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12648" y="2816352"/>
            <a:ext cx="10945368" cy="2843784"/>
          </a:xfrm>
          <a:prstGeom prst="roundRect">
            <a:avLst>
              <a:gd name="adj" fmla="val 4823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944368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383280"/>
            <a:ext cx="1054303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m = 2a + 1 and n = 2b + 1, where a,b ∈ ℤ.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 = (2a + 1)(2b + 1)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= 4ab + 2a + 2b + 1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= 2(2ab + a + b) + 1.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2ab + a + b ∈ ℤ, mn is odd.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discovery: sum of two odd integers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508760"/>
            <a:ext cx="5394960" cy="1837944"/>
          </a:xfrm>
          <a:prstGeom prst="roundRect">
            <a:avLst>
              <a:gd name="adj" fmla="val 7463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367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known?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075688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2a + 1 and n = 2b + 1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some integers a,b.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208776" y="1508760"/>
            <a:ext cx="5358384" cy="1837944"/>
          </a:xfrm>
          <a:prstGeom prst="roundRect">
            <a:avLst>
              <a:gd name="adj" fmla="val 7463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636776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shown?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9944" y="2075688"/>
            <a:ext cx="49560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+ n = 2k for some k ∈ ℤ.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2648" y="3602736"/>
            <a:ext cx="10954512" cy="1929384"/>
          </a:xfrm>
          <a:prstGeom prst="roundRect">
            <a:avLst>
              <a:gd name="adj" fmla="val 7109"/>
            </a:avLst>
          </a:prstGeom>
          <a:solidFill>
            <a:srgbClr val="F9EDF5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730752"/>
            <a:ext cx="10588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derivation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3816" y="4169664"/>
            <a:ext cx="105521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+ n = 2a + 1 + 2b + 1 = 2(a + b + 1).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a + b + 1 ∈ ℤ, m + n is even.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connection: why proof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1508760"/>
            <a:ext cx="5422392" cy="3621024"/>
          </a:xfrm>
          <a:prstGeom prst="roundRect">
            <a:avLst>
              <a:gd name="adj" fmla="val 3788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36776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50200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x and y are even integers, then x + y is even.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 proof establishes this for all mathematical integer inputs.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208776" y="1508760"/>
            <a:ext cx="5367528" cy="3621024"/>
          </a:xfrm>
          <a:prstGeom prst="roundRect">
            <a:avLst>
              <a:gd name="adj" fmla="val 3788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636776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caveat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9944" y="2075688"/>
            <a:ext cx="496519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programming-language integer type may have finite range or overflow behavior. The mathematical guarantee applies directly when arithmetic is exact (or overflow is excluded).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4360" y="5513832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45836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assumptions should match the program’s actual semantics.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synthesis: choose your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554480"/>
            <a:ext cx="5413248" cy="3566160"/>
          </a:xfrm>
          <a:prstGeom prst="roundRect">
            <a:avLst>
              <a:gd name="adj" fmla="val 384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8249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121408"/>
            <a:ext cx="501091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→ arbitrary element + general reasoning.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→ one verified witness.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49240" cy="3566160"/>
          </a:xfrm>
          <a:prstGeom prst="roundRect">
            <a:avLst>
              <a:gd name="adj" fmla="val 3846"/>
            </a:avLst>
          </a:prstGeom>
          <a:solidFill>
            <a:srgbClr val="FBECEB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824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disprove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9088" y="2121408"/>
            <a:ext cx="494690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→ one valid counterexample.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→ show every candidate fails.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94360" y="5541264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7326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Rational numbers — proofs using r = a/b with integers a, b ≠ 0.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— Core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72184"/>
            <a:ext cx="10945368" cy="22860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" y="2039112"/>
            <a:ext cx="105430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Even: n = 2k. Odd: n = 2k+1 (k ∈ ℤ).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Prime: n &gt; 1 with positive divisors 1,n only.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Composite: n &gt; 1 with another positive divisor.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3941064"/>
            <a:ext cx="10945368" cy="1773936"/>
          </a:xfrm>
          <a:prstGeom prst="roundRect">
            <a:avLst>
              <a:gd name="adj" fmla="val 7732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69080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essentials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" y="4507992"/>
            <a:ext cx="10543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must cover all required values.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counterexample must violate the actual claim.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algebraic factor must belong to the required domain.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 — Connections and distinctions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499616"/>
            <a:ext cx="10899648" cy="274320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10533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equivalences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066544"/>
            <a:ext cx="104973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¬∀x P(x) ⇔ ∃x ¬P(x)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¬∃x P(x) ⇔ ∀x ¬P(x)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“Even n” ⇔ ∃k ∈ ℤ: n = 2k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“Odd n” ⇔ ∃k ∈ ℤ: n = 2k+1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21792" y="4480560"/>
            <a:ext cx="10899648" cy="1216152"/>
          </a:xfrm>
          <a:prstGeom prst="roundRect">
            <a:avLst>
              <a:gd name="adj" fmla="val 11278"/>
            </a:avLst>
          </a:prstGeom>
          <a:solidFill>
            <a:srgbClr val="F9EDF5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608576"/>
            <a:ext cx="10533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examples supplies evidence; proving a universally quantified statement requires justification across its entire domain.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 — Examples and boundary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472184"/>
            <a:ext cx="5394960" cy="3895344"/>
          </a:xfrm>
          <a:prstGeom prst="roundRect">
            <a:avLst>
              <a:gd name="adj" fmla="val 3521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/ boundary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039112"/>
            <a:ext cx="499262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2(0) even; −7 = 2(−4)+1 odd.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is neither prime nor composite.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is prime and even.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90488" y="1472184"/>
            <a:ext cx="5394960" cy="3895344"/>
          </a:xfrm>
          <a:prstGeom prst="roundRect">
            <a:avLst>
              <a:gd name="adj" fmla="val 3521"/>
            </a:avLst>
          </a:prstGeom>
          <a:solidFill>
            <a:srgbClr val="FBECEB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universal claims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91656" y="2039112"/>
            <a:ext cx="499262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a²=b² does not imply a=b over ℝ.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a&lt;b does not imply a²&lt;b² over ℤ.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a=1,b=−1; and a=−3,b=2 respectively.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1/8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· Multiple choice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is an even integer?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−7      B  0      C  9      D  11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2/8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· Justified true / false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 integer greater than 1 is either prime or composite.”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relevant definition.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3/8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· Error detection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writes: “6a²b is even because it contains 6.”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the argument for arbitrary integers a,b.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4/8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· Quantifiers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negation of: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[Even(n) ⇒ Even(n²)].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5/8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· Counterexample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Disprove: For all a,b ∈ ℝ, a²=b² ⇒ a=b.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your choices meet the counterexample conditions.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6/8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· Proof construction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Prove: the sum of two odd integers is even.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integer witnesses explicitly.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7/8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 · Proof / disproof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The product of an even integer and any integer is even.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or disprove, with justification.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· NO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8/8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661904" cy="3566160"/>
          </a:xfrm>
          <a:prstGeom prst="roundRect">
            <a:avLst>
              <a:gd name="adj" fmla="val 3846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01368"/>
            <a:ext cx="10296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 · Higher-order reasoning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59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tests “every even n ≥ 4 is a sum of two primes”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 ≤ 1,000,000. Has it proved the universal claim? Explain.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0972800" cy="329184"/>
          </a:xfrm>
          <a:prstGeom prst="roundRect">
            <a:avLst>
              <a:gd name="adj" fmla="val 41667"/>
            </a:avLst>
          </a:prstGeom>
          <a:solidFill>
            <a:srgbClr val="F9EDF5"/>
          </a:solidFill>
          <a:ln w="12700">
            <a:solidFill>
              <a:srgbClr val="F9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47004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reasoning; do not provide only a final answer.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1/8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Zero is even because 0 = 2·0. Odd choices cannot be written as 2k with integer k.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2/8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True. By definition, every n &gt; 1 has either no positive divisor beyond 1 and n (prime) or at least one (composite).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3/8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6a²b = 2(3a²b). Since 3a²b ∈ ℤ, the expression is even. “Contains 6” is not a formal proof.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4/8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∃n ∈ ℤ such that Even(n) ∧ ¬Even(n²). The original implication is actually true; its negation has no witness.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5/8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= 1, b = −1. Their squares are equal but a ≠ b, so the implication fails for this pair.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6/8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m=2a+1,n=2b+1 for a,b∈ℤ. Then m+n=2(a+b+1); a+b+1∈ℤ, hence even.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7/8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A7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True. Let m=2k and n∈ℤ. Then mn=2(kn), and kn∈ℤ; thus mn is even.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INSTRUCTOR-VERIFIED ANSWERS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8/8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1069848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A8 · Explanation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258568"/>
            <a:ext cx="1029614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Finite testing proves the claim only over the checked finite range. It does not establish the statement for all even n≥4.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 — Optional enrichment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508760"/>
            <a:ext cx="5431536" cy="3584448"/>
          </a:xfrm>
          <a:prstGeom prst="roundRect">
            <a:avLst>
              <a:gd name="adj" fmla="val 3827"/>
            </a:avLst>
          </a:prstGeom>
          <a:solidFill>
            <a:srgbClr val="EAF3FC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36776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verification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075688"/>
            <a:ext cx="502920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mathematical proof of parity uses unbounded integers; programming implementations must account for finite integer types and language semantics.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90488" y="1508760"/>
            <a:ext cx="5394960" cy="3584448"/>
          </a:xfrm>
          <a:prstGeom prst="roundRect">
            <a:avLst>
              <a:gd name="adj" fmla="val 3827"/>
            </a:avLst>
          </a:prstGeom>
          <a:solidFill>
            <a:srgbClr val="E9F6F2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6367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parity to divisibility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91656" y="2075688"/>
            <a:ext cx="499262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expression n = 2k is a special case of divisibility: 2 divides n. This idea leads directly into Lecture 4.3.</a:t>
            </a:r>
            <a:endParaRPr lang="en-US" sz="2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10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FALL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course resources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188720"/>
            <a:ext cx="1115568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11128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399032"/>
            <a:ext cx="104607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reference: Susanna S. Epp, Discrete Mathematics with Applications, 4th 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395728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76856"/>
            <a:ext cx="104607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 materials: Prof. Mustafa Jarrar — www.jarrar.info/courses/DMath/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273552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154680"/>
            <a:ext cx="104607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course resources: github.com/RuwaYafa/BZU_Courses/tree/main/COMP233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109728" cy="109728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032504"/>
            <a:ext cx="104607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lecture materials also circulated with minor contributions from Dr. Radi Jarrar.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" y="57332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Number Theory and Proof Methods</dc:title>
  <dc:subject>COMP233 Lecture 4.1</dc:subject>
  <dc:creator>Ruwa' AbuHweidi</dc:creator>
  <cp:lastModifiedBy>Ruwa' AbuHweidi</cp:lastModifiedBy>
  <cp:revision>1</cp:revision>
  <dcterms:created xsi:type="dcterms:W3CDTF">2026-10-27T01:49:57Z</dcterms:created>
  <dcterms:modified xsi:type="dcterms:W3CDTF">2026-10-27T01:49:57Z</dcterms:modified>
</cp:coreProperties>
</file>