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arrar.info/courses/DMath/" TargetMode="External"/><Relationship Id="rId2" Type="http://schemas.openxmlformats.org/officeDocument/2006/relationships/hyperlink" Target="https://www.jarrar.info/courses/DMath/" TargetMode="External"/><Relationship Id="rId3" Type="http://schemas.openxmlformats.org/officeDocument/2006/relationships/hyperlink" Target="https://github.com/RuwaYafa/BZU_Courses/tree/main/COMP233" TargetMode="External"/><Relationship Id="rId4" Type="http://schemas.openxmlformats.org/officeDocument/2006/relationships/hyperlink" Target="https://github.com/RuwaYafa/BZU_Courses/tree/main/COMP233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— Discrete Mathematics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4.2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 Numbers and Direct Proofs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731520" y="3794760"/>
            <a:ext cx="10652760" cy="1005840"/>
          </a:xfrm>
          <a:prstGeom prst="roundRect">
            <a:avLst>
              <a:gd name="adj" fmla="val 10909"/>
            </a:avLst>
          </a:prstGeom>
          <a:solidFill>
            <a:srgbClr val="F9EDF4"/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50792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49808" y="562356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Birzeit University  ·  Number Theory and Methods of Proof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study rational numbers?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106984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mathematical definition is a tool for proving new statements.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532888"/>
            <a:ext cx="106984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show that a sum of arbitrary rational numbers is rational?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3557016"/>
            <a:ext cx="106984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must construct a ratio of integers with a nonzero denominator.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4581144"/>
            <a:ext cx="106984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Today: recognize → formalize → prove → reuse established theorems.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353312"/>
            <a:ext cx="10607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Distinguish rational, irrational, and undefined expressions.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77240" y="2231136"/>
            <a:ext cx="10607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Represent integers and repeating decimals as rational numbers.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10607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Construct a proof using arbitrary rational numbers.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77240" y="3986784"/>
            <a:ext cx="10607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Prove or disprove closure claims, with the correct conditions.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77240" y="4864608"/>
            <a:ext cx="10607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Derive corollaries and apply established parity properties.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 — Rational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67512" y="1417320"/>
            <a:ext cx="10835640" cy="1847088"/>
          </a:xfrm>
          <a:prstGeom prst="roundRect">
            <a:avLst>
              <a:gd name="adj" fmla="val 5941"/>
            </a:avLst>
          </a:prstGeom>
          <a:solidFill>
            <a:srgbClr val="F9EDF4"/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847088"/>
            <a:ext cx="10332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∈ ℚ  ⇔  r = a/b, where a,b ∈ ℤ and b ≠ 0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10607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Numerator: any integer (including 0).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22960" y="4315968"/>
            <a:ext cx="10607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Denominator: an integer that MUST be nonzero.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822960" y="4974336"/>
            <a:ext cx="10607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fraction does not need to be in lowest terms.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Classify: rational, irrational, undefined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587496" cy="4315968"/>
          </a:xfrm>
          <a:prstGeom prst="roundRect">
            <a:avLst>
              <a:gd name="adj" fmla="val 3059"/>
            </a:avLst>
          </a:prstGeom>
          <a:solidFill>
            <a:srgbClr val="F9EDF4"/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755648"/>
            <a:ext cx="3185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04088" y="2423160"/>
            <a:ext cx="3185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10/3, −5/39, 0.281, 7, 0, and 0.121212… (repeating).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admit integer ratios.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309872" y="1508760"/>
            <a:ext cx="3587496" cy="4315968"/>
          </a:xfrm>
          <a:prstGeom prst="roundRect">
            <a:avLst>
              <a:gd name="adj" fmla="val 3059"/>
            </a:avLst>
          </a:prstGeom>
          <a:solidFill>
            <a:srgbClr val="EAF3FA"/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1040" y="1755648"/>
            <a:ext cx="3185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IRRATIONAL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511040" y="2423160"/>
            <a:ext cx="3185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√2 is real but is not a quotient of two integers.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irrational number must be real.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116824" y="1508760"/>
            <a:ext cx="3587496" cy="4315968"/>
          </a:xfrm>
          <a:prstGeom prst="roundRect">
            <a:avLst>
              <a:gd name="adj" fmla="val 3059"/>
            </a:avLst>
          </a:prstGeom>
          <a:solidFill>
            <a:srgbClr val="F9EDF4"/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7992" y="1755648"/>
            <a:ext cx="3185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UNDEFINED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317992" y="2423160"/>
            <a:ext cx="3185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2/0 is not a number.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neither rational nor irrational.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denominator condition matters.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 decimals and integers are rational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5394960" cy="3621024"/>
          </a:xfrm>
          <a:prstGeom prst="roundRect">
            <a:avLst>
              <a:gd name="adj" fmla="val 3030"/>
            </a:avLst>
          </a:prstGeom>
          <a:solidFill>
            <a:srgbClr val="EAF3FA"/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83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 decimal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0.281 = 281/1000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60120" y="36576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terminating decimal can be written with a power of 10 as denominator.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263640" y="1508760"/>
            <a:ext cx="5303520" cy="3621024"/>
          </a:xfrm>
          <a:prstGeom prst="roundRect">
            <a:avLst>
              <a:gd name="adj" fmla="val 3030"/>
            </a:avLst>
          </a:prstGeom>
          <a:solidFill>
            <a:srgbClr val="F9EDF4"/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1783080"/>
            <a:ext cx="479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integer is rational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629400" y="26517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n/1  (n ∈ ℤ)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6537960" y="3657600"/>
            <a:ext cx="464515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−3 = −3/1; 0 = 0/1.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proves Theorem 4.2.1 for any integer n.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Repeating decimal → rational fraction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" y="1353312"/>
            <a:ext cx="105156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x = 0.121212…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50392" y="2249424"/>
            <a:ext cx="105156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Multiply by 100:    100x = 12.121212…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50392" y="3145536"/>
            <a:ext cx="105156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Subtract:                  99x = 12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50392" y="4041648"/>
            <a:ext cx="105156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Therefore:                 x = 12/99 = 4/33 ∈ ℚ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850392" y="4937760"/>
            <a:ext cx="105156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repeated block determines a power of ten for cancellation.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the boundary case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481328"/>
            <a:ext cx="10698480" cy="2194560"/>
          </a:xfrm>
          <a:prstGeom prst="roundRect">
            <a:avLst>
              <a:gd name="adj" fmla="val 5000"/>
            </a:avLst>
          </a:prstGeom>
          <a:solidFill>
            <a:srgbClr val="FCEDED"/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81051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2/0 an irrational number?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1060704" y="2688336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No. Division by zero is undefined; irrational numbers are real numbers.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41248" y="434340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distinction: “not rational” does NOT automatically mean “irrational.”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expression involving integers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104241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m,n ∈ ℤ, where m ≠ 0 and n ≠ 0.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249424"/>
            <a:ext cx="104241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(m+n)/(mn) rational?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3127248"/>
            <a:ext cx="104241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m+n and mn are integers (closure of ℤ).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4005072"/>
            <a:ext cx="104241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 ≠ 0 by the zero-product property.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4882896"/>
            <a:ext cx="104241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(m+n)/(mn) is rational by definition.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Theorem 4.2.2 — Closure under addition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10698480" cy="1645920"/>
          </a:xfrm>
          <a:prstGeom prst="roundRect">
            <a:avLst>
              <a:gd name="adj" fmla="val 6667"/>
            </a:avLst>
          </a:prstGeom>
          <a:solidFill>
            <a:srgbClr val="E9F5ED"/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773936"/>
            <a:ext cx="10241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r,s ∈ ℚ, then r+s ∈ ℚ.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prove a universal statement, take arbitrary r and s.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68680" y="4224528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Unpack the definition of rational for BOTH numbers.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868680" y="4928616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their sum as a single fraction and verify every condition.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Proof: sum of two rational numbers (I)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9536" y="1499616"/>
            <a:ext cx="106070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Suppose r and s are arbitrary rational numbers.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59536" y="2505456"/>
            <a:ext cx="106070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definition, r = a/b and s = c/d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59536" y="3511296"/>
            <a:ext cx="106070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integers a,b,c,d with b ≠ 0 and d ≠ 0.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59536" y="4517136"/>
            <a:ext cx="106070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r+s = a/b + c/d = (ad+bc)/(bd).</a:t>
            </a:r>
            <a:endParaRPr lang="en-US" sz="2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Proof: sum of two rational numbers (II)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408176"/>
            <a:ext cx="10515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numerator ad+bc is an integer.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2295144"/>
            <a:ext cx="10515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denominator bd is an integer.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3182112"/>
            <a:ext cx="10515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b ≠ 0 and d ≠ 0, their product bd ≠ 0.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68680" y="4069080"/>
            <a:ext cx="10515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Thus r+s has the form integer / nonzero integer.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8680" y="4956048"/>
            <a:ext cx="10515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∴ r+s ∈ ℚ.  Q.E.D.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Direct-proof checklist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2635758" cy="4315968"/>
          </a:xfrm>
          <a:prstGeom prst="roundRect">
            <a:avLst>
              <a:gd name="adj" fmla="val 4163"/>
            </a:avLst>
          </a:prstGeom>
          <a:solidFill>
            <a:srgbClr val="F9EDF4"/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755648"/>
            <a:ext cx="22334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04088" y="2423160"/>
            <a:ext cx="223342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arbitrary elements satisfying the hypothesis.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358134" y="1508760"/>
            <a:ext cx="2635758" cy="4315968"/>
          </a:xfrm>
          <a:prstGeom prst="roundRect">
            <a:avLst>
              <a:gd name="adj" fmla="val 4163"/>
            </a:avLst>
          </a:prstGeom>
          <a:solidFill>
            <a:srgbClr val="EAF3FA"/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9302" y="1755648"/>
            <a:ext cx="22334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UNPACK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559302" y="2423160"/>
            <a:ext cx="223342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definitions. Introduce integer witnesses and nonzero conditions.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213348" y="1508760"/>
            <a:ext cx="2635758" cy="4315968"/>
          </a:xfrm>
          <a:prstGeom prst="roundRect">
            <a:avLst>
              <a:gd name="adj" fmla="val 4163"/>
            </a:avLst>
          </a:prstGeom>
          <a:solidFill>
            <a:srgbClr val="F9EDF4"/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4516" y="1755648"/>
            <a:ext cx="22334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414516" y="2423160"/>
            <a:ext cx="223342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 the target into the required defining form.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068562" y="1508760"/>
            <a:ext cx="2635758" cy="4315968"/>
          </a:xfrm>
          <a:prstGeom prst="roundRect">
            <a:avLst>
              <a:gd name="adj" fmla="val 4163"/>
            </a:avLst>
          </a:prstGeom>
          <a:solidFill>
            <a:srgbClr val="EAF3FA"/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69730" y="1755648"/>
            <a:ext cx="22334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269730" y="2423160"/>
            <a:ext cx="223342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every condition; state the conclusion.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closure properties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" y="141732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00200"/>
            <a:ext cx="3383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617720" y="1600200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r+s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315200" y="1600200"/>
            <a:ext cx="3749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13232" y="2532888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F9EDF4"/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715768"/>
            <a:ext cx="3383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Subtraction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17720" y="2715768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r−s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7315200" y="2715768"/>
            <a:ext cx="3749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13232" y="3648456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831336"/>
            <a:ext cx="3383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Multiplication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17720" y="3831336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7315200" y="3831336"/>
            <a:ext cx="3749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13232" y="4764024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F9EDF4"/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946904"/>
            <a:ext cx="3383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Division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617720" y="4946904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r/s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7315200" y="4946904"/>
            <a:ext cx="3749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A127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if s ≠ 0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proof — Product of rationals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95528" y="1481328"/>
            <a:ext cx="106527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Given r=a/b and s=c/d, with a,b,c,d ∈ ℤ and b,d ≠ 0.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95528" y="2395728"/>
            <a:ext cx="106527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 = (ac)/(bd).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95528" y="3310128"/>
            <a:ext cx="106527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 and bd are integers; bd ≠ 0.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95528" y="4224528"/>
            <a:ext cx="106527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Hence rs ∈ ℚ.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95528" y="5138928"/>
            <a:ext cx="106527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Ask: Which fact ensures that bd cannot be zero?</a:t>
            </a:r>
            <a:endParaRPr lang="en-US" sz="2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Counterexample — An unrestricted quotient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94944" y="1417320"/>
            <a:ext cx="10826496" cy="1371600"/>
          </a:xfrm>
          <a:prstGeom prst="roundRect">
            <a:avLst>
              <a:gd name="adj" fmla="val 8000"/>
            </a:avLst>
          </a:prstGeom>
          <a:solidFill>
            <a:srgbClr val="FCEDED"/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737360"/>
            <a:ext cx="10149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claim: The quotient of any two rational numbers is rational.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10424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 r=1 and s=0. Both are rational.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68680" y="4023360"/>
            <a:ext cx="10424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r/s = 1/0 is undefined.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8680" y="4846320"/>
            <a:ext cx="10424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claim: r/s is rational when r,s ∈ ℚ and s ≠ 0.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Deriving new results from known properties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536192"/>
            <a:ext cx="105156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proving theorems, we may reuse them as established facts.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41248" y="2505456"/>
            <a:ext cx="105156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+ even = even; odd + odd = even.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41248" y="3474720"/>
            <a:ext cx="105156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+ odd = odd; odd × odd = odd.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41248" y="4443984"/>
            <a:ext cx="105156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argument must cite the property used at each step.</a:t>
            </a:r>
            <a:endParaRPr lang="en-US" sz="2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Parity example — Derive integrality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6245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Suppose a is even and b is odd. Show (a²+b²+1)/2 ∈ ℤ.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41248" y="226771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a² is even, while b² is odd.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41248" y="31729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a²+b² is odd; adding 1 makes it even.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41248" y="4078224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Thus a²+b²+1 = 2k for some k ∈ ℤ.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841248" y="4983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 (a²+b²+1)/2 = k ∈ ℤ.</a:t>
            </a:r>
            <a:endParaRPr lang="en-US" sz="2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Corollary 4.2.3 — Double of a rational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499616"/>
            <a:ext cx="10835640" cy="1645920"/>
          </a:xfrm>
          <a:prstGeom prst="roundRect">
            <a:avLst>
              <a:gd name="adj" fmla="val 6667"/>
            </a:avLst>
          </a:prstGeom>
          <a:solidFill>
            <a:srgbClr val="E9F5ED"/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10512"/>
            <a:ext cx="10332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r ∈ ℚ, then 2r ∈ ℚ.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105156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Proof: take an arbitrary rational number r.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68680" y="4389120"/>
            <a:ext cx="105156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2r = r+r is the sum of two rational numbers.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868680" y="5120640"/>
            <a:ext cx="105156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Theorem 4.2.2, 2r ∈ ℚ.</a:t>
            </a:r>
            <a:endParaRPr lang="en-US" sz="2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— Two mechanics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335024"/>
            <a:ext cx="106070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Mechanic A finishes one job in 6 h; B in 8 h.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231136"/>
            <a:ext cx="106070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Together for 2 h: rate = 1/6 + 1/8 = 7/24 job/h.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127248"/>
            <a:ext cx="106070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work = 2 × 7/24 = 14/24.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106070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Remaining work = 1 − 14/24 = 10/24.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4919472"/>
            <a:ext cx="106070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finishes alone in (10/24)/(1/8) = 10/3 h.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Computing connection — Exact versus represented values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13816" y="1508760"/>
            <a:ext cx="10607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Mathematically, 1/3 is an exact rational number.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13816" y="2542032"/>
            <a:ext cx="10607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floating-point variable generally stores only an approximation.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13816" y="3575304"/>
            <a:ext cx="10607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Integer division in many programming languages can truncate.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13816" y="4608576"/>
            <a:ext cx="10607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proof about ℚ from operations on machine representations.</a:t>
            </a:r>
            <a:endParaRPr lang="en-US" sz="2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 — Can you repair the proof?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6656" y="1444752"/>
            <a:ext cx="10817352" cy="1975104"/>
          </a:xfrm>
          <a:prstGeom prst="roundRect">
            <a:avLst>
              <a:gd name="adj" fmla="val 5556"/>
            </a:avLst>
          </a:prstGeom>
          <a:solidFill>
            <a:srgbClr val="FCEDED"/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746504"/>
            <a:ext cx="10241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“Take r=1/4 and s=1/2. Their sum is 3/4, rational. Therefore the sum of ANY two rationals is rational.”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86968" y="4023360"/>
            <a:ext cx="10351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Diagnosis: two examples cannot prove a universal claim.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86968" y="4828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Repair: choose arbitrary r=a/b and s=c/d, then verify (ad+bc)/(bd).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A — Core concepts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Rational: r=a/b for integers a,b and b ≠ 0.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23113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Irrational: real but not rational; undefined ≠ irrational.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1363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ℤ ⊆ ℚ; rational sums, differences and products are rational.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40416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Division requires a NONZERO rational divisor.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4946904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proof must verify conditions, not merely simplify symbols.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B — Conceptual connections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2104" y="1335024"/>
            <a:ext cx="105613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 → witness integers → algebra → validity conditions.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2104" y="2231136"/>
            <a:ext cx="105613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 claim → arbitrary elements; false claim → counterexample.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32104" y="3127248"/>
            <a:ext cx="105613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Theorem 4.2.2 (sum closure) → 2r=r+r (corollary).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32104" y="4023360"/>
            <a:ext cx="105613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Even/odd properties → parity proof → integer quotient.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32104" y="4919472"/>
            <a:ext cx="105613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Mathematical exactness ≠ floating-point representation.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C — Worked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587496" cy="4315968"/>
          </a:xfrm>
          <a:prstGeom prst="roundRect">
            <a:avLst>
              <a:gd name="adj" fmla="val 3059"/>
            </a:avLst>
          </a:prstGeom>
          <a:solidFill>
            <a:srgbClr val="F9EDF4"/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755648"/>
            <a:ext cx="3185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04088" y="2423160"/>
            <a:ext cx="3185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0.281=281/1000 ∈ ℚ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0=0/1 ∈ ℚ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0.1212…=4/33 ∈ ℚ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309872" y="1508760"/>
            <a:ext cx="3587496" cy="4315968"/>
          </a:xfrm>
          <a:prstGeom prst="roundRect">
            <a:avLst>
              <a:gd name="adj" fmla="val 3059"/>
            </a:avLst>
          </a:prstGeom>
          <a:solidFill>
            <a:srgbClr val="EAF3FA"/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1040" y="1755648"/>
            <a:ext cx="3185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511040" y="2423160"/>
            <a:ext cx="3185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2/0 is undefined (neither rational nor irrational).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 quotient closure fails at divisor zero.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116824" y="1508760"/>
            <a:ext cx="3587496" cy="4315968"/>
          </a:xfrm>
          <a:prstGeom prst="roundRect">
            <a:avLst>
              <a:gd name="adj" fmla="val 3059"/>
            </a:avLst>
          </a:prstGeom>
          <a:solidFill>
            <a:srgbClr val="F9EDF4"/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7992" y="1755648"/>
            <a:ext cx="3185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CONSTRUCTED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317992" y="2423160"/>
            <a:ext cx="3185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r=a/b, s=c/d;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rs=ac/bd ∈ ℚ, since ac,bd ∈ ℤ and bd≠0.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D — Knowledge check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1335024"/>
            <a:ext cx="106070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  Classify: 0, √2, 2/0, 0.625. Explain.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" y="2231136"/>
            <a:ext cx="106070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 Prove that every integer is rational.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3127248"/>
            <a:ext cx="106070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 Is every quotient of two rationals rational? Repair the claim.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04672" y="4023360"/>
            <a:ext cx="106070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  Prove that the negative of any rational number is rational.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4672" y="4919472"/>
            <a:ext cx="106070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 Explain the error in a proof using only r=1/4 and s=1/2.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D — Knowledge check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13258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  Prove that the square of a rational number is rational.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804672" y="2231136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  Derive that 3r is rational using established addition closure.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804672" y="313639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  True/False: 2/0 is irrational because it is not rational.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804672" y="404164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Q9  If r,s ∈ ℚ and r &lt; s, show (r+s)/2 ∈ ℚ.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804672" y="4946904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Q10 If a even and b odd, prove (a²+b²+1)/2 is integer.</a:t>
            </a:r>
            <a:endParaRPr lang="en-US" sz="2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E — Answer key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1371600"/>
            <a:ext cx="10607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  0,0.625 rational; √2 irrational; 2/0 undefined.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804672" y="2258568"/>
            <a:ext cx="10607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  For n ∈ ℤ, n=n/1 with 1≠0.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804672" y="3145536"/>
            <a:ext cx="10607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A3  False: 1/0. Correct if the divisor is nonzero.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804672" y="4032504"/>
            <a:ext cx="10607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A4  If r=a/b, then −r=(−a)/b; −a∈ℤ and b≠0.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804672" y="4919472"/>
            <a:ext cx="10607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A5  Examples do not justify all possible r,s.</a:t>
            </a:r>
            <a:endParaRPr lang="en-US" sz="2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E — Answer key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6384" y="137160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A6  r²=a²/b²; integers and b²≠0.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786384" y="2258568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A7  2r=r+r rational; 3r=2r+r rational.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786384" y="3145536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A8  False: 2/0 is undefined, not a real number; hence not irrational.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786384" y="4032504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A9  r+s rational, 2 rational and nonzero; quotient rational.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786384" y="4919472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A10 a² even, b² odd; a²+b²+1 even, so half integer.</a:t>
            </a:r>
            <a:endParaRPr lang="en-US" sz="2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F — Further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508760"/>
            <a:ext cx="105156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Density of rationals: if r&lt;s are rational, (r+s)/2 lies between them.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41248" y="2587752"/>
            <a:ext cx="105156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Rational closure under finite sums follows by repeatedly applying addition closure.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41248" y="3666744"/>
            <a:ext cx="105156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Exact mathematical fractions and stored binary floating-point numbers differ.</a:t>
            </a:r>
            <a:endParaRPr lang="en-US" sz="2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47472"/>
            <a:ext cx="1117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&amp; next lecture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033272"/>
            <a:ext cx="11219688" cy="0"/>
          </a:xfrm>
          <a:prstGeom prst="line">
            <a:avLst/>
          </a:prstGeom>
          <a:noFill/>
          <a:ln w="12700">
            <a:solidFill>
              <a:srgbClr val="D8DD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· Discrete Mathematics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73968" y="651967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10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822960" y="1417320"/>
            <a:ext cx="10561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u="sng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Original course materials — Prof. Mustafa Jarrar</a:t>
            </a:r>
            <a:endParaRPr lang="en-US" sz="24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822960" y="1975104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u="sng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https://www.jarrar.info/courses/DMath/</a:t>
            </a:r>
            <a:endParaRPr lang="en-US" sz="1700" dirty="0"/>
          </a:p>
        </p:txBody>
      </p:sp>
      <p:sp>
        <p:nvSpPr>
          <p:cNvPr id="9" name="Text 7">
            <a:hlinkClick r:id="rId3" tooltip=""/>
          </p:cNvPr>
          <p:cNvSpPr/>
          <p:nvPr/>
        </p:nvSpPr>
        <p:spPr>
          <a:xfrm>
            <a:off x="822960" y="2816352"/>
            <a:ext cx="10469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u="sng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Updated course resources — COMP233 GitHub</a:t>
            </a:r>
            <a:endParaRPr lang="en-US" sz="2400" dirty="0"/>
          </a:p>
        </p:txBody>
      </p:sp>
      <p:sp>
        <p:nvSpPr>
          <p:cNvPr id="10" name="Text 8">
            <a:hlinkClick r:id="rId4" tooltip=""/>
          </p:cNvPr>
          <p:cNvSpPr/>
          <p:nvPr/>
        </p:nvSpPr>
        <p:spPr>
          <a:xfrm>
            <a:off x="822960" y="3401568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u="sng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https://github.com/RuwaYafa/BZU_Courses/tree/main/COMP233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261104"/>
            <a:ext cx="10469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42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Textbook: Susanna S. Epp, Discrete Mathematics with Applications, 4th ed., §4.2.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5047488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963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materials also circulated with minor revisions by Dr. Radi Jarrar.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57424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Lecture 4.3 — Divisibility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4.2 Rational Numbers and Direct Proof</dc:title>
  <dc:subject>COMP233 Lecture 4.2 Rational Numbers</dc:subject>
  <dc:creator>Ruwa' AbuHweidi</dc:creator>
  <cp:lastModifiedBy>Ruwa' AbuHweidi</cp:lastModifiedBy>
  <cp:revision>1</cp:revision>
  <dcterms:created xsi:type="dcterms:W3CDTF">2026-10-28T00:18:56Z</dcterms:created>
  <dcterms:modified xsi:type="dcterms:W3CDTF">2026-10-28T00:18:56Z</dcterms:modified>
</cp:coreProperties>
</file>