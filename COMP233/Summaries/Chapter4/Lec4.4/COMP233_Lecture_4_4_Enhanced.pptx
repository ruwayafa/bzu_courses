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notesMasterIdLst>
    <p:notesMasterId r:id="rId3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notesMaster" Target="notesMasters/notesMaster1.xml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heme" Target="theme/theme1.xml"/><Relationship Id="rId4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 with section 4.3 divisibility.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10312" cy="6858000"/>
          </a:xfrm>
          <a:prstGeom prst="rect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078992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COMP233 — Discrete Mathematics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2084832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606B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Lecture 4.4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731520" y="269748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100" b="1" dirty="0">
                <a:solidFill>
                  <a:srgbClr val="252A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Quotient-Remainder Theorem</a:t>
            </a:r>
            <a:endParaRPr lang="en-US" sz="4100" dirty="0"/>
          </a:p>
        </p:txBody>
      </p:sp>
      <p:sp>
        <p:nvSpPr>
          <p:cNvPr id="6" name="Text 4"/>
          <p:cNvSpPr/>
          <p:nvPr/>
        </p:nvSpPr>
        <p:spPr>
          <a:xfrm>
            <a:off x="731520" y="51663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Ruwa' AbuHweidi @ 2026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5852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06B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Number Theory and Methods of Proof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A52A75"/>
          </a:solidFill>
          <a:ln w="12700">
            <a:solidFill>
              <a:srgbClr val="A52A7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MOTIVATION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1201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52A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exact division to remainders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362456"/>
            <a:ext cx="11155680" cy="0"/>
          </a:xfrm>
          <a:prstGeom prst="line">
            <a:avLst/>
          </a:prstGeom>
          <a:noFill/>
          <a:ln w="12700">
            <a:solidFill>
              <a:srgbClr val="D9DE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47104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6B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COMP233  |  Discrete Mathematics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155680" y="651052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06B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94360" y="1673352"/>
            <a:ext cx="5303520" cy="2926080"/>
          </a:xfrm>
          <a:prstGeom prst="roundRect">
            <a:avLst>
              <a:gd name="adj" fmla="val 5000"/>
            </a:avLst>
          </a:prstGeom>
          <a:solidFill>
            <a:srgbClr val="EAF4FA"/>
          </a:solidFill>
          <a:ln w="11430">
            <a:solidFill>
              <a:srgbClr val="D9DEE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80136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Exact division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77240" y="2304288"/>
            <a:ext cx="4937760" cy="2167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52A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d divides n, then n = dk for some integer k.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252A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Example: 36 = 9(4).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217920" y="1673352"/>
            <a:ext cx="5303520" cy="2926080"/>
          </a:xfrm>
          <a:prstGeom prst="roundRect">
            <a:avLst>
              <a:gd name="adj" fmla="val 5000"/>
            </a:avLst>
          </a:prstGeom>
          <a:solidFill>
            <a:srgbClr val="FFF5E2"/>
          </a:solidFill>
          <a:ln w="11430">
            <a:solidFill>
              <a:srgbClr val="D9DEE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0" y="180136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exact?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00800" y="2304288"/>
            <a:ext cx="4937760" cy="2167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52A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 integer may leave a remainder.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252A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Example: 38 = 9(4) + 2.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463040" y="4965192"/>
            <a:ext cx="9235440" cy="731520"/>
          </a:xfrm>
          <a:prstGeom prst="roundRect">
            <a:avLst>
              <a:gd name="adj" fmla="val 20000"/>
            </a:avLst>
          </a:prstGeom>
          <a:solidFill>
            <a:srgbClr val="F8EEF4"/>
          </a:solidFill>
          <a:ln w="11430">
            <a:solidFill>
              <a:srgbClr val="D9DEE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572768" y="5020056"/>
            <a:ext cx="90159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252A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can we describe ALL integers in this way?</a:t>
            </a:r>
            <a:endParaRPr lang="en-US" sz="2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A52A75"/>
          </a:solidFill>
          <a:ln w="12700">
            <a:solidFill>
              <a:srgbClr val="A52A7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THEOREM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1201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52A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Quotient-Remainder Theorem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362456"/>
            <a:ext cx="11155680" cy="0"/>
          </a:xfrm>
          <a:prstGeom prst="line">
            <a:avLst/>
          </a:prstGeom>
          <a:noFill/>
          <a:ln w="12700">
            <a:solidFill>
              <a:srgbClr val="D9DE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47104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6B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COMP233  |  Discrete Mathematics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155680" y="651052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06B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1581912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252A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every integer n and every positive integer d, there exist UNIQUE integers q and r such that: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1005840" y="2578608"/>
            <a:ext cx="10195560" cy="1097280"/>
          </a:xfrm>
          <a:prstGeom prst="roundRect">
            <a:avLst>
              <a:gd name="adj" fmla="val 13333"/>
            </a:avLst>
          </a:prstGeom>
          <a:solidFill>
            <a:srgbClr val="F8EEF4"/>
          </a:solidFill>
          <a:ln w="11430">
            <a:solidFill>
              <a:srgbClr val="D9DE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15568" y="2633472"/>
            <a:ext cx="997610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500" b="1" dirty="0">
                <a:solidFill>
                  <a:srgbClr val="252A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 = dq + r       with       0 ≤ r &lt; d</a:t>
            </a:r>
            <a:endParaRPr lang="en-US" sz="3500" dirty="0"/>
          </a:p>
        </p:txBody>
      </p:sp>
      <p:sp>
        <p:nvSpPr>
          <p:cNvPr id="11" name="Shape 9"/>
          <p:cNvSpPr/>
          <p:nvPr/>
        </p:nvSpPr>
        <p:spPr>
          <a:xfrm>
            <a:off x="731520" y="4069080"/>
            <a:ext cx="5212080" cy="1645920"/>
          </a:xfrm>
          <a:prstGeom prst="roundRect">
            <a:avLst>
              <a:gd name="adj" fmla="val 8889"/>
            </a:avLst>
          </a:prstGeom>
          <a:solidFill>
            <a:srgbClr val="EAF4FA"/>
          </a:solidFill>
          <a:ln w="11430">
            <a:solidFill>
              <a:srgbClr val="D9DEE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4197096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Quotient q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914400" y="4700016"/>
            <a:ext cx="484632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52A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integer number of complete divisor-sized groups.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190488" y="4069080"/>
            <a:ext cx="5212080" cy="1645920"/>
          </a:xfrm>
          <a:prstGeom prst="roundRect">
            <a:avLst>
              <a:gd name="adj" fmla="val 8889"/>
            </a:avLst>
          </a:prstGeom>
          <a:solidFill>
            <a:srgbClr val="DDF4EF"/>
          </a:solidFill>
          <a:ln w="11430">
            <a:solidFill>
              <a:srgbClr val="D9DEE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4197096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Remainder r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373368" y="4700016"/>
            <a:ext cx="484632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52A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leftover amount, always from 0 through d − 1.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A52A75"/>
          </a:solidFill>
          <a:ln w="12700">
            <a:solidFill>
              <a:srgbClr val="A52A7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NUMBER THEORY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1201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52A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Examples: the conditions matter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362456"/>
            <a:ext cx="11155680" cy="0"/>
          </a:xfrm>
          <a:prstGeom prst="line">
            <a:avLst/>
          </a:prstGeom>
          <a:noFill/>
          <a:ln w="12700">
            <a:solidFill>
              <a:srgbClr val="D9DE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47104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6B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COMP233  |  Discrete Mathematics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155680" y="651052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06B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1691640"/>
          <a:ext cx="10835640" cy="3474720"/>
        </p:xfrm>
        <a:graphic>
          <a:graphicData uri="http://schemas.openxmlformats.org/drawingml/2006/table">
            <a:tbl>
              <a:tblPr/>
              <a:tblGrid>
                <a:gridCol w="1234440"/>
                <a:gridCol w="1234440"/>
                <a:gridCol w="1234440"/>
                <a:gridCol w="1234440"/>
                <a:gridCol w="5897880"/>
              </a:tblGrid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252A34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</a:t>
                      </a: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252A34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</a:t>
                      </a: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252A34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q</a:t>
                      </a: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252A34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</a:t>
                      </a: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252A34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Verification</a:t>
                      </a: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252A34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54</a:t>
                      </a: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252A34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</a:t>
                      </a: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252A34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13</a:t>
                      </a: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252A34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</a:t>
                      </a: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252A34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54 = 4(13) + 2</a:t>
                      </a: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252A34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−54</a:t>
                      </a: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252A34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</a:t>
                      </a: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252A34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−14</a:t>
                      </a: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252A34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</a:t>
                      </a: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252A34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−54 = 4(−14) + 2</a:t>
                      </a: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252A34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54</a:t>
                      </a: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252A34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70</a:t>
                      </a: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252A34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</a:t>
                      </a: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252A34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54</a:t>
                      </a: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252A34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54 = 70(0) + 54</a:t>
                      </a: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252A34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−17</a:t>
                      </a: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252A34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</a:t>
                      </a: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252A34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−4</a:t>
                      </a: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252A34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</a:t>
                      </a: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252A34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−17 = 5(−4) + 3</a:t>
                      </a:r>
                      <a:endParaRPr lang="en-US" sz="2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1051560" y="5504688"/>
            <a:ext cx="10195560" cy="576072"/>
          </a:xfrm>
          <a:prstGeom prst="roundRect">
            <a:avLst>
              <a:gd name="adj" fmla="val 25397"/>
            </a:avLst>
          </a:prstGeom>
          <a:solidFill>
            <a:srgbClr val="F8EEF4"/>
          </a:solidFill>
          <a:ln w="11430">
            <a:solidFill>
              <a:srgbClr val="D9DEE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161288" y="5559552"/>
            <a:ext cx="997610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52A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Check: 0 ≤ r &lt; d   —   even when n is negative.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A52A75"/>
          </a:solidFill>
          <a:ln w="12700">
            <a:solidFill>
              <a:srgbClr val="A52A7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NUMBER THEORY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1201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52A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is the quotient-remainder pair unique?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362456"/>
            <a:ext cx="11155680" cy="0"/>
          </a:xfrm>
          <a:prstGeom prst="line">
            <a:avLst/>
          </a:prstGeom>
          <a:noFill/>
          <a:ln w="12700">
            <a:solidFill>
              <a:srgbClr val="D9DE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47104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6B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COMP233  |  Discrete Mathematics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155680" y="651052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06B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164592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52A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Suppose the same integer has two valid representations: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1143000" y="2286000"/>
            <a:ext cx="9966960" cy="777240"/>
          </a:xfrm>
          <a:prstGeom prst="roundRect">
            <a:avLst>
              <a:gd name="adj" fmla="val 18824"/>
            </a:avLst>
          </a:prstGeom>
          <a:solidFill>
            <a:srgbClr val="F8EEF4"/>
          </a:solidFill>
          <a:ln w="11430">
            <a:solidFill>
              <a:srgbClr val="D9DE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52728" y="2340864"/>
            <a:ext cx="974750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52A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 = dq + r = dq′ + r′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868680" y="3511296"/>
            <a:ext cx="100584" cy="100584"/>
          </a:xfrm>
          <a:prstGeom prst="ellipse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3337560"/>
            <a:ext cx="10543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52A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Subtract: d(q − q′) = r′ − r.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868680" y="4087368"/>
            <a:ext cx="100584" cy="100584"/>
          </a:xfrm>
          <a:prstGeom prst="ellipse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7280" y="3913632"/>
            <a:ext cx="10543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52A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Both remainders lie between 0 and d − 1.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868680" y="4663440"/>
            <a:ext cx="100584" cy="100584"/>
          </a:xfrm>
          <a:prstGeom prst="ellipse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97280" y="4489704"/>
            <a:ext cx="10543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52A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Hence |r′ − r| &lt; d; the only multiple of d in that range is 0.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868680" y="5239512"/>
            <a:ext cx="100584" cy="100584"/>
          </a:xfrm>
          <a:prstGeom prst="ellipse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97280" y="5065776"/>
            <a:ext cx="10543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52A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Therefore r = r′ and q = q′.</a:t>
            </a:r>
            <a:endParaRPr lang="en-US" sz="1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A52A75"/>
          </a:solidFill>
          <a:ln w="12700">
            <a:solidFill>
              <a:srgbClr val="A52A7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1201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52A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Integer div and mod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362456"/>
            <a:ext cx="11155680" cy="0"/>
          </a:xfrm>
          <a:prstGeom prst="line">
            <a:avLst/>
          </a:prstGeom>
          <a:noFill/>
          <a:ln w="12700">
            <a:solidFill>
              <a:srgbClr val="D9DE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47104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6B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COMP233  |  Discrete Mathematics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155680" y="651052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06B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914400" y="1673352"/>
            <a:ext cx="10332720" cy="914400"/>
          </a:xfrm>
          <a:prstGeom prst="roundRect">
            <a:avLst>
              <a:gd name="adj" fmla="val 16000"/>
            </a:avLst>
          </a:prstGeom>
          <a:solidFill>
            <a:srgbClr val="F8EEF4"/>
          </a:solidFill>
          <a:ln w="11430">
            <a:solidFill>
              <a:srgbClr val="D9DEE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24128" y="1728216"/>
            <a:ext cx="1011326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52A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 div d = q          n mod d = r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280160" y="2834640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252A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where  n = dq + r, d &gt; 0, and 0 ≤ r &lt; d.</a:t>
            </a:r>
            <a:endParaRPr lang="en-US" sz="2300" dirty="0"/>
          </a:p>
        </p:txBody>
      </p:sp>
      <p:sp>
        <p:nvSpPr>
          <p:cNvPr id="11" name="Shape 9"/>
          <p:cNvSpPr/>
          <p:nvPr/>
        </p:nvSpPr>
        <p:spPr>
          <a:xfrm>
            <a:off x="749808" y="3822192"/>
            <a:ext cx="5166360" cy="1691640"/>
          </a:xfrm>
          <a:prstGeom prst="roundRect">
            <a:avLst>
              <a:gd name="adj" fmla="val 8649"/>
            </a:avLst>
          </a:prstGeom>
          <a:solidFill>
            <a:srgbClr val="EAF4FA"/>
          </a:solidFill>
          <a:ln w="11430">
            <a:solidFill>
              <a:srgbClr val="D9DEE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3950208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Example: 32 ÷ 9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932688" y="4453128"/>
            <a:ext cx="48006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52A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32 = 9(3) + 5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252A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32 div 9 = 3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217920" y="3822192"/>
            <a:ext cx="5166360" cy="1691640"/>
          </a:xfrm>
          <a:prstGeom prst="roundRect">
            <a:avLst>
              <a:gd name="adj" fmla="val 8649"/>
            </a:avLst>
          </a:prstGeom>
          <a:solidFill>
            <a:srgbClr val="DDF4EF"/>
          </a:solidFill>
          <a:ln w="11430">
            <a:solidFill>
              <a:srgbClr val="D9DEE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3950208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remainder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400800" y="4453128"/>
            <a:ext cx="48006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52A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32 mod 9 = 5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252A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Remainder is nonnegative.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A52A75"/>
          </a:solidFill>
          <a:ln w="12700">
            <a:solidFill>
              <a:srgbClr val="A52A7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IMPORTANT DISTINCTION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1201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52A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Mathematical mod versus programming %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362456"/>
            <a:ext cx="11155680" cy="0"/>
          </a:xfrm>
          <a:prstGeom prst="line">
            <a:avLst/>
          </a:prstGeom>
          <a:noFill/>
          <a:ln w="12700">
            <a:solidFill>
              <a:srgbClr val="D9DE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47104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6B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COMP233  |  Discrete Mathematics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155680" y="651052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06B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58368" y="1700784"/>
            <a:ext cx="5394960" cy="2907792"/>
          </a:xfrm>
          <a:prstGeom prst="roundRect">
            <a:avLst>
              <a:gd name="adj" fmla="val 5031"/>
            </a:avLst>
          </a:prstGeom>
          <a:solidFill>
            <a:srgbClr val="DDF4EF"/>
          </a:solidFill>
          <a:ln w="11430">
            <a:solidFill>
              <a:srgbClr val="D9DEE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182880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Mathematics (Epp)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41248" y="2331720"/>
            <a:ext cx="50292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52A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−11 = 4(−3) + 1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252A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−11 div 4 = −3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252A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−11 mod 4 = 1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217920" y="1700784"/>
            <a:ext cx="5303520" cy="2907792"/>
          </a:xfrm>
          <a:prstGeom prst="roundRect">
            <a:avLst>
              <a:gd name="adj" fmla="val 5031"/>
            </a:avLst>
          </a:prstGeom>
          <a:solidFill>
            <a:srgbClr val="FFF5E2"/>
          </a:solidFill>
          <a:ln w="11430">
            <a:solidFill>
              <a:srgbClr val="D9DEE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0" y="1828800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C++ / Java signed integers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00800" y="2331720"/>
            <a:ext cx="49377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52A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−11 / 4 = −2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252A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−11 % 4 = −3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252A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Integer division truncates toward zero.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31520" y="5038344"/>
            <a:ext cx="10789920" cy="777240"/>
          </a:xfrm>
          <a:prstGeom prst="roundRect">
            <a:avLst>
              <a:gd name="adj" fmla="val 18824"/>
            </a:avLst>
          </a:prstGeom>
          <a:solidFill>
            <a:srgbClr val="F8EEF4"/>
          </a:solidFill>
          <a:ln w="11430">
            <a:solidFill>
              <a:srgbClr val="D9DEE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1248" y="5093208"/>
            <a:ext cx="1057046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52A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two conventions agree for nonnegative dividends and positive divisors.</a:t>
            </a:r>
            <a:endParaRPr lang="en-US" sz="1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A52A75"/>
          </a:solidFill>
          <a:ln w="12700">
            <a:solidFill>
              <a:srgbClr val="A52A7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COMPUTING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1201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52A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Application: day of the week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362456"/>
            <a:ext cx="11155680" cy="0"/>
          </a:xfrm>
          <a:prstGeom prst="line">
            <a:avLst/>
          </a:prstGeom>
          <a:noFill/>
          <a:ln w="12700">
            <a:solidFill>
              <a:srgbClr val="D9DE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47104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6B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COMP233  |  Discrete Mathematics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155680" y="651052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06B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" y="1664208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252A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Seven days form one complete cycle.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1143000" y="2322576"/>
            <a:ext cx="9784080" cy="868680"/>
          </a:xfrm>
          <a:prstGeom prst="roundRect">
            <a:avLst>
              <a:gd name="adj" fmla="val 16842"/>
            </a:avLst>
          </a:prstGeom>
          <a:solidFill>
            <a:srgbClr val="F8EEF4"/>
          </a:solidFill>
          <a:ln w="11430">
            <a:solidFill>
              <a:srgbClr val="D9DE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52728" y="2377440"/>
            <a:ext cx="956462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252A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365 = 7(52) + 1</a:t>
            </a:r>
            <a:endParaRPr lang="en-US" sz="3300" dirty="0"/>
          </a:p>
        </p:txBody>
      </p:sp>
      <p:sp>
        <p:nvSpPr>
          <p:cNvPr id="11" name="Shape 9"/>
          <p:cNvSpPr/>
          <p:nvPr/>
        </p:nvSpPr>
        <p:spPr>
          <a:xfrm>
            <a:off x="914400" y="3767328"/>
            <a:ext cx="100584" cy="100584"/>
          </a:xfrm>
          <a:prstGeom prst="ellipse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43000" y="3593592"/>
            <a:ext cx="1008583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52A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After 364 days: the weekday is unchanged.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914400" y="4453128"/>
            <a:ext cx="100584" cy="100584"/>
          </a:xfrm>
          <a:prstGeom prst="ellipse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43000" y="4279392"/>
            <a:ext cx="1008583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52A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After 365 days: the weekday moves forward by one.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914400" y="5138928"/>
            <a:ext cx="100584" cy="100584"/>
          </a:xfrm>
          <a:prstGeom prst="ellipse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43000" y="4965192"/>
            <a:ext cx="1008583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52A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Only the remainder modulo 7 determines the shift.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A52A75"/>
          </a:solidFill>
          <a:ln w="12700">
            <a:solidFill>
              <a:srgbClr val="A52A7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APPLICATION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1201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52A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Worked calendar example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362456"/>
            <a:ext cx="11155680" cy="0"/>
          </a:xfrm>
          <a:prstGeom prst="line">
            <a:avLst/>
          </a:prstGeom>
          <a:noFill/>
          <a:ln w="12700">
            <a:solidFill>
              <a:srgbClr val="D9DE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47104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6B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COMP233  |  Discrete Mathematics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155680" y="651052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06B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04088" y="1618488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252A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 16 October 2021 it was Saturday. What day was 20 February 2022?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1005840" y="2651760"/>
            <a:ext cx="10104120" cy="822960"/>
          </a:xfrm>
          <a:prstGeom prst="roundRect">
            <a:avLst>
              <a:gd name="adj" fmla="val 17778"/>
            </a:avLst>
          </a:prstGeom>
          <a:solidFill>
            <a:srgbClr val="F8EEF4"/>
          </a:solidFill>
          <a:ln w="11430">
            <a:solidFill>
              <a:srgbClr val="D9DE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15568" y="2706624"/>
            <a:ext cx="98846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252A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 + 30 + 31 + 31 + 20 = 127 days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1005840" y="3767328"/>
            <a:ext cx="10104120" cy="804672"/>
          </a:xfrm>
          <a:prstGeom prst="roundRect">
            <a:avLst>
              <a:gd name="adj" fmla="val 18182"/>
            </a:avLst>
          </a:prstGeom>
          <a:solidFill>
            <a:srgbClr val="EAF4FA"/>
          </a:solidFill>
          <a:ln w="11430">
            <a:solidFill>
              <a:srgbClr val="D9DEE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15568" y="3822192"/>
            <a:ext cx="988466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252A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127 = 7(18) + 1</a:t>
            </a:r>
            <a:endParaRPr lang="en-US" sz="2900" dirty="0"/>
          </a:p>
        </p:txBody>
      </p:sp>
      <p:sp>
        <p:nvSpPr>
          <p:cNvPr id="13" name="Text 11"/>
          <p:cNvSpPr/>
          <p:nvPr/>
        </p:nvSpPr>
        <p:spPr>
          <a:xfrm>
            <a:off x="1143000" y="5056632"/>
            <a:ext cx="9966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 full weeks plus 1 day: Sunday.</a:t>
            </a:r>
            <a:endParaRPr lang="en-US" sz="2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A52A75"/>
          </a:solidFill>
          <a:ln w="12700">
            <a:solidFill>
              <a:srgbClr val="A52A7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MODULAR REASONING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1201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52A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Using a known remainder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362456"/>
            <a:ext cx="11155680" cy="0"/>
          </a:xfrm>
          <a:prstGeom prst="line">
            <a:avLst/>
          </a:prstGeom>
          <a:noFill/>
          <a:ln w="12700">
            <a:solidFill>
              <a:srgbClr val="D9DE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47104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6B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COMP233  |  Discrete Mathematics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155680" y="651052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06B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68096" y="1700784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252A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Given m mod 11 = 6, find 4m mod 11.</a:t>
            </a:r>
            <a:endParaRPr lang="en-US" sz="2500" dirty="0"/>
          </a:p>
        </p:txBody>
      </p:sp>
      <p:sp>
        <p:nvSpPr>
          <p:cNvPr id="9" name="Shape 7"/>
          <p:cNvSpPr/>
          <p:nvPr/>
        </p:nvSpPr>
        <p:spPr>
          <a:xfrm>
            <a:off x="914400" y="2505456"/>
            <a:ext cx="10332720" cy="749808"/>
          </a:xfrm>
          <a:prstGeom prst="roundRect">
            <a:avLst>
              <a:gd name="adj" fmla="val 19512"/>
            </a:avLst>
          </a:prstGeom>
          <a:solidFill>
            <a:srgbClr val="F8EEF4"/>
          </a:solidFill>
          <a:ln w="11430">
            <a:solidFill>
              <a:srgbClr val="D9DE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24128" y="2560320"/>
            <a:ext cx="101132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252A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 = 11q + 6</a:t>
            </a:r>
            <a:endParaRPr lang="en-US" sz="2900" dirty="0"/>
          </a:p>
        </p:txBody>
      </p:sp>
      <p:sp>
        <p:nvSpPr>
          <p:cNvPr id="11" name="Shape 9"/>
          <p:cNvSpPr/>
          <p:nvPr/>
        </p:nvSpPr>
        <p:spPr>
          <a:xfrm>
            <a:off x="813816" y="3593592"/>
            <a:ext cx="10561320" cy="832104"/>
          </a:xfrm>
          <a:prstGeom prst="roundRect">
            <a:avLst>
              <a:gd name="adj" fmla="val 17582"/>
            </a:avLst>
          </a:prstGeom>
          <a:solidFill>
            <a:srgbClr val="EAF4FA"/>
          </a:solidFill>
          <a:ln w="11430">
            <a:solidFill>
              <a:srgbClr val="D9DEE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23544" y="3648456"/>
            <a:ext cx="10341864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52A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4m = 44q + 24 = 11(4q + 2) + 2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1188720" y="4910328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878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Because 0 ≤ 2 &lt; 11, the remainder is 2.</a:t>
            </a:r>
            <a:endParaRPr lang="en-US" sz="2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A52A75"/>
          </a:solidFill>
          <a:ln w="12700">
            <a:solidFill>
              <a:srgbClr val="A52A7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INTEGER CLASSIFICATION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1201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52A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integer is even or odd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362456"/>
            <a:ext cx="11155680" cy="0"/>
          </a:xfrm>
          <a:prstGeom prst="line">
            <a:avLst/>
          </a:prstGeom>
          <a:noFill/>
          <a:ln w="12700">
            <a:solidFill>
              <a:srgbClr val="D9DE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47104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6B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COMP233  |  Discrete Mathematics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155680" y="651052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06B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68680" y="1737360"/>
            <a:ext cx="10424160" cy="868680"/>
          </a:xfrm>
          <a:prstGeom prst="roundRect">
            <a:avLst>
              <a:gd name="adj" fmla="val 16842"/>
            </a:avLst>
          </a:prstGeom>
          <a:solidFill>
            <a:srgbClr val="F8EEF4"/>
          </a:solidFill>
          <a:ln w="11430">
            <a:solidFill>
              <a:srgbClr val="D9DEE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78408" y="1792224"/>
            <a:ext cx="1020470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252A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 = 2q + r       0 ≤ r &lt; 2</a:t>
            </a:r>
            <a:endParaRPr lang="en-US" sz="2900" dirty="0"/>
          </a:p>
        </p:txBody>
      </p:sp>
      <p:sp>
        <p:nvSpPr>
          <p:cNvPr id="10" name="Shape 8"/>
          <p:cNvSpPr/>
          <p:nvPr/>
        </p:nvSpPr>
        <p:spPr>
          <a:xfrm>
            <a:off x="777240" y="3017520"/>
            <a:ext cx="5148072" cy="2011680"/>
          </a:xfrm>
          <a:prstGeom prst="roundRect">
            <a:avLst>
              <a:gd name="adj" fmla="val 7273"/>
            </a:avLst>
          </a:prstGeom>
          <a:solidFill>
            <a:srgbClr val="EAF4FA"/>
          </a:solidFill>
          <a:ln w="11430">
            <a:solidFill>
              <a:srgbClr val="D9DEE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3145536"/>
            <a:ext cx="4782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Case 1: r = 0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960120" y="3648456"/>
            <a:ext cx="4782312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52A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 = 2q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252A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 integer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227064" y="3017520"/>
            <a:ext cx="5148072" cy="2011680"/>
          </a:xfrm>
          <a:prstGeom prst="roundRect">
            <a:avLst>
              <a:gd name="adj" fmla="val 7273"/>
            </a:avLst>
          </a:prstGeom>
          <a:solidFill>
            <a:srgbClr val="DDF4EF"/>
          </a:solidFill>
          <a:ln w="11430">
            <a:solidFill>
              <a:srgbClr val="D9DEE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9944" y="3145536"/>
            <a:ext cx="4782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Case 2: r = 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09944" y="3648456"/>
            <a:ext cx="4782312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52A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 = 2q + 1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252A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Odd integer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78992" y="5486400"/>
            <a:ext cx="99669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52A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Exactly one case applies to every integer.</a:t>
            </a:r>
            <a:endParaRPr lang="en-US" sz="2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A52A75"/>
          </a:solidFill>
          <a:ln w="12700">
            <a:solidFill>
              <a:srgbClr val="A52A7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PROOF BY CASES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1201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52A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Proving the parity of consecutive integers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362456"/>
            <a:ext cx="11155680" cy="0"/>
          </a:xfrm>
          <a:prstGeom prst="line">
            <a:avLst/>
          </a:prstGeom>
          <a:noFill/>
          <a:ln w="12700">
            <a:solidFill>
              <a:srgbClr val="D9DE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47104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6B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COMP233  |  Discrete Mathematics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155680" y="651052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06B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67512" y="1618488"/>
            <a:ext cx="107899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52A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Claim: For every integer m, m and m + 1 have opposite parity.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85800" y="2633472"/>
            <a:ext cx="5276088" cy="2514600"/>
          </a:xfrm>
          <a:prstGeom prst="roundRect">
            <a:avLst>
              <a:gd name="adj" fmla="val 5818"/>
            </a:avLst>
          </a:prstGeom>
          <a:solidFill>
            <a:srgbClr val="EAF4FA"/>
          </a:solidFill>
          <a:ln w="11430">
            <a:solidFill>
              <a:srgbClr val="D9DE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761488"/>
            <a:ext cx="4910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Case 1: m is even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68680" y="3264408"/>
            <a:ext cx="4910328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52A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 = 2k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252A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 + 1 = 2k + 1 (odd)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236208" y="2633472"/>
            <a:ext cx="5276088" cy="2514600"/>
          </a:xfrm>
          <a:prstGeom prst="roundRect">
            <a:avLst>
              <a:gd name="adj" fmla="val 5818"/>
            </a:avLst>
          </a:prstGeom>
          <a:solidFill>
            <a:srgbClr val="DDF4EF"/>
          </a:solidFill>
          <a:ln w="11430">
            <a:solidFill>
              <a:srgbClr val="D9DEE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19088" y="2761488"/>
            <a:ext cx="4910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Case 2: m is odd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419088" y="3264408"/>
            <a:ext cx="4910328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52A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 = 2k + 1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252A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 + 1 = 2(k + 1) (even)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22960" y="5522976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Cases exhaust all integers, so the claim holds.</a:t>
            </a:r>
            <a:endParaRPr lang="en-US" sz="2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A52A75"/>
          </a:solidFill>
          <a:ln w="12700">
            <a:solidFill>
              <a:srgbClr val="A52A7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NUMBER THEORY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1201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52A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Proof method: divide into exhaustive cases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362456"/>
            <a:ext cx="11155680" cy="0"/>
          </a:xfrm>
          <a:prstGeom prst="line">
            <a:avLst/>
          </a:prstGeom>
          <a:noFill/>
          <a:ln w="12700">
            <a:solidFill>
              <a:srgbClr val="D9DE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47104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6B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COMP233  |  Discrete Mathematics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155680" y="651052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06B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914400" y="1636776"/>
            <a:ext cx="10314432" cy="786384"/>
          </a:xfrm>
          <a:prstGeom prst="roundRect">
            <a:avLst>
              <a:gd name="adj" fmla="val 18605"/>
            </a:avLst>
          </a:prstGeom>
          <a:solidFill>
            <a:srgbClr val="F8EEF4"/>
          </a:solidFill>
          <a:ln w="11430">
            <a:solidFill>
              <a:srgbClr val="D9DEE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0" y="1819656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52A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 State the claim and choose cases.</a:t>
            </a:r>
            <a:endParaRPr lang="en-US" sz="2300" dirty="0"/>
          </a:p>
        </p:txBody>
      </p:sp>
      <p:sp>
        <p:nvSpPr>
          <p:cNvPr id="10" name="Shape 8"/>
          <p:cNvSpPr/>
          <p:nvPr/>
        </p:nvSpPr>
        <p:spPr>
          <a:xfrm>
            <a:off x="914400" y="2660904"/>
            <a:ext cx="10314432" cy="786384"/>
          </a:xfrm>
          <a:prstGeom prst="roundRect">
            <a:avLst>
              <a:gd name="adj" fmla="val 18605"/>
            </a:avLst>
          </a:prstGeom>
          <a:solidFill>
            <a:srgbClr val="EAF4FA"/>
          </a:solidFill>
          <a:ln w="11430">
            <a:solidFill>
              <a:srgbClr val="D9DEE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88720" y="2843784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252A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 Justify that all possibilities are covered.</a:t>
            </a:r>
            <a:endParaRPr lang="en-US" sz="2300" dirty="0"/>
          </a:p>
        </p:txBody>
      </p:sp>
      <p:sp>
        <p:nvSpPr>
          <p:cNvPr id="12" name="Shape 10"/>
          <p:cNvSpPr/>
          <p:nvPr/>
        </p:nvSpPr>
        <p:spPr>
          <a:xfrm>
            <a:off x="914400" y="3685032"/>
            <a:ext cx="10314432" cy="786384"/>
          </a:xfrm>
          <a:prstGeom prst="roundRect">
            <a:avLst>
              <a:gd name="adj" fmla="val 18605"/>
            </a:avLst>
          </a:prstGeom>
          <a:solidFill>
            <a:srgbClr val="F8EEF4"/>
          </a:solidFill>
          <a:ln w="11430">
            <a:solidFill>
              <a:srgbClr val="D9DEE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88720" y="3867912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252A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 Prove the claim separately in each case.</a:t>
            </a:r>
            <a:endParaRPr lang="en-US" sz="2300" dirty="0"/>
          </a:p>
        </p:txBody>
      </p:sp>
      <p:sp>
        <p:nvSpPr>
          <p:cNvPr id="14" name="Shape 12"/>
          <p:cNvSpPr/>
          <p:nvPr/>
        </p:nvSpPr>
        <p:spPr>
          <a:xfrm>
            <a:off x="914400" y="4709160"/>
            <a:ext cx="10314432" cy="786384"/>
          </a:xfrm>
          <a:prstGeom prst="roundRect">
            <a:avLst>
              <a:gd name="adj" fmla="val 18605"/>
            </a:avLst>
          </a:prstGeom>
          <a:solidFill>
            <a:srgbClr val="EAF4FA"/>
          </a:solidFill>
          <a:ln w="11430">
            <a:solidFill>
              <a:srgbClr val="D9DEE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88720" y="489204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252A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 Combine the conclusions.</a:t>
            </a:r>
            <a:endParaRPr lang="en-US" sz="2300" dirty="0"/>
          </a:p>
        </p:txBody>
      </p:sp>
      <p:sp>
        <p:nvSpPr>
          <p:cNvPr id="16" name="Text 14"/>
          <p:cNvSpPr/>
          <p:nvPr/>
        </p:nvSpPr>
        <p:spPr>
          <a:xfrm>
            <a:off x="1143000" y="5897880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D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case split is valid only when no possible input is omitted.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A52A75"/>
          </a:solidFill>
          <a:ln w="12700">
            <a:solidFill>
              <a:srgbClr val="A52A7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NUMBER THEORY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1201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52A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Four possible remainders modulo 4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362456"/>
            <a:ext cx="11155680" cy="0"/>
          </a:xfrm>
          <a:prstGeom prst="line">
            <a:avLst/>
          </a:prstGeom>
          <a:noFill/>
          <a:ln w="12700">
            <a:solidFill>
              <a:srgbClr val="D9DE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47104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6B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COMP233  |  Discrete Mathematics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155680" y="651052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06B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914400" y="1700784"/>
            <a:ext cx="10332720" cy="905256"/>
          </a:xfrm>
          <a:prstGeom prst="roundRect">
            <a:avLst>
              <a:gd name="adj" fmla="val 16162"/>
            </a:avLst>
          </a:prstGeom>
          <a:solidFill>
            <a:srgbClr val="F8EEF4"/>
          </a:solidFill>
          <a:ln w="11430">
            <a:solidFill>
              <a:srgbClr val="D9DEE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24128" y="1755648"/>
            <a:ext cx="10113264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52A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 = 4q + r,       r ∈ {0, 1, 2, 3}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649224" y="3054096"/>
            <a:ext cx="2624328" cy="1920240"/>
          </a:xfrm>
          <a:prstGeom prst="roundRect">
            <a:avLst>
              <a:gd name="adj" fmla="val 7619"/>
            </a:avLst>
          </a:prstGeom>
          <a:solidFill>
            <a:srgbClr val="EAF4FA"/>
          </a:solidFill>
          <a:ln w="11430">
            <a:solidFill>
              <a:srgbClr val="D9DEE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2104" y="3182112"/>
            <a:ext cx="2258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 = 0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32104" y="3685032"/>
            <a:ext cx="2258568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52A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 = 4q + 0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575304" y="3054096"/>
            <a:ext cx="2624328" cy="1920240"/>
          </a:xfrm>
          <a:prstGeom prst="roundRect">
            <a:avLst>
              <a:gd name="adj" fmla="val 7619"/>
            </a:avLst>
          </a:prstGeom>
          <a:solidFill>
            <a:srgbClr val="DDF4EF"/>
          </a:solidFill>
          <a:ln w="11430">
            <a:solidFill>
              <a:srgbClr val="D9DEE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58184" y="3182112"/>
            <a:ext cx="2258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 = 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758184" y="3685032"/>
            <a:ext cx="2258568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52A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 = 4q + 1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501384" y="3054096"/>
            <a:ext cx="2624328" cy="1920240"/>
          </a:xfrm>
          <a:prstGeom prst="roundRect">
            <a:avLst>
              <a:gd name="adj" fmla="val 7619"/>
            </a:avLst>
          </a:prstGeom>
          <a:solidFill>
            <a:srgbClr val="FFF5E2"/>
          </a:solidFill>
          <a:ln w="11430">
            <a:solidFill>
              <a:srgbClr val="D9DEE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84264" y="3182112"/>
            <a:ext cx="2258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 = 2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684264" y="3685032"/>
            <a:ext cx="2258568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52A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 = 4q + 2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9427464" y="3054096"/>
            <a:ext cx="2624328" cy="1920240"/>
          </a:xfrm>
          <a:prstGeom prst="roundRect">
            <a:avLst>
              <a:gd name="adj" fmla="val 7619"/>
            </a:avLst>
          </a:prstGeom>
          <a:solidFill>
            <a:srgbClr val="F8EEF4"/>
          </a:solidFill>
          <a:ln w="11430">
            <a:solidFill>
              <a:srgbClr val="D9DEE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10344" y="3182112"/>
            <a:ext cx="2258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 = 3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9610344" y="3685032"/>
            <a:ext cx="2258568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52A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 = 4q + 3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14400" y="5513832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52A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four cases are mutually exclusive and exhaustive.</a:t>
            </a:r>
            <a:endParaRPr lang="en-US" sz="2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A52A75"/>
          </a:solidFill>
          <a:ln w="12700">
            <a:solidFill>
              <a:srgbClr val="A52A7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NUMBER THEORY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1201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52A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useful classification of odd integers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362456"/>
            <a:ext cx="11155680" cy="0"/>
          </a:xfrm>
          <a:prstGeom prst="line">
            <a:avLst/>
          </a:prstGeom>
          <a:noFill/>
          <a:ln w="12700">
            <a:solidFill>
              <a:srgbClr val="D9DE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47104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6B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COMP233  |  Discrete Mathematics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155680" y="651052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06B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13232" y="1655064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252A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When divided by 4, an odd integer cannot leave remainder 0 or 2.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914400" y="2788920"/>
            <a:ext cx="4800600" cy="1965960"/>
          </a:xfrm>
          <a:prstGeom prst="roundRect">
            <a:avLst>
              <a:gd name="adj" fmla="val 7442"/>
            </a:avLst>
          </a:prstGeom>
          <a:solidFill>
            <a:srgbClr val="EAF4FA"/>
          </a:solidFill>
          <a:ln w="11430">
            <a:solidFill>
              <a:srgbClr val="D9DE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2916936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Odd case A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097280" y="3419856"/>
            <a:ext cx="443484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52A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 = 4q + 1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446520" y="2788920"/>
            <a:ext cx="4800600" cy="1965960"/>
          </a:xfrm>
          <a:prstGeom prst="roundRect">
            <a:avLst>
              <a:gd name="adj" fmla="val 7442"/>
            </a:avLst>
          </a:prstGeom>
          <a:solidFill>
            <a:srgbClr val="DDF4EF"/>
          </a:solidFill>
          <a:ln w="11430">
            <a:solidFill>
              <a:srgbClr val="D9DEE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29400" y="2916936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Odd case B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629400" y="3419856"/>
            <a:ext cx="443484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52A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 = 4q + 3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188720" y="5294376"/>
            <a:ext cx="9784080" cy="640080"/>
          </a:xfrm>
          <a:prstGeom prst="roundRect">
            <a:avLst>
              <a:gd name="adj" fmla="val 22857"/>
            </a:avLst>
          </a:prstGeom>
          <a:solidFill>
            <a:srgbClr val="F8EEF4"/>
          </a:solidFill>
          <a:ln w="11430">
            <a:solidFill>
              <a:srgbClr val="D9DEE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98448" y="5349240"/>
            <a:ext cx="95646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52A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These two cases support proofs about odd squares.</a:t>
            </a:r>
            <a:endParaRPr lang="en-US" sz="2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A52A75"/>
          </a:solidFill>
          <a:ln w="12700">
            <a:solidFill>
              <a:srgbClr val="A52A7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STATEMENT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1201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52A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Theorem: squares of odd integers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362456"/>
            <a:ext cx="11155680" cy="0"/>
          </a:xfrm>
          <a:prstGeom prst="line">
            <a:avLst/>
          </a:prstGeom>
          <a:noFill/>
          <a:ln w="12700">
            <a:solidFill>
              <a:srgbClr val="D9DE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47104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6B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COMP233  |  Discrete Mathematics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155680" y="651052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06B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13232" y="1664208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52A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Claim: Every odd integer has a square one more than a multiple of 8.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777240" y="2825496"/>
            <a:ext cx="10634472" cy="1033272"/>
          </a:xfrm>
          <a:prstGeom prst="roundRect">
            <a:avLst>
              <a:gd name="adj" fmla="val 14159"/>
            </a:avLst>
          </a:prstGeom>
          <a:solidFill>
            <a:srgbClr val="F8EEF4"/>
          </a:solidFill>
          <a:ln w="11430">
            <a:solidFill>
              <a:srgbClr val="D9DE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86968" y="2880360"/>
            <a:ext cx="10415016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252A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n is odd, then n² = 8m + 1 for some integer m.</a:t>
            </a:r>
            <a:endParaRPr lang="en-US" sz="2900" dirty="0"/>
          </a:p>
        </p:txBody>
      </p:sp>
      <p:sp>
        <p:nvSpPr>
          <p:cNvPr id="11" name="Text 9"/>
          <p:cNvSpPr/>
          <p:nvPr/>
        </p:nvSpPr>
        <p:spPr>
          <a:xfrm>
            <a:off x="1078992" y="4681728"/>
            <a:ext cx="996696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Proof plan: n = 4q + 1 OR n = 4q + 3.</a:t>
            </a:r>
            <a:endParaRPr lang="en-US" sz="2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A52A75"/>
          </a:solidFill>
          <a:ln w="12700">
            <a:solidFill>
              <a:srgbClr val="A52A7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1201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52A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Odd-square proof: first case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362456"/>
            <a:ext cx="11155680" cy="0"/>
          </a:xfrm>
          <a:prstGeom prst="line">
            <a:avLst/>
          </a:prstGeom>
          <a:noFill/>
          <a:ln w="12700">
            <a:solidFill>
              <a:srgbClr val="D9DE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47104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6B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COMP233  |  Discrete Mathematics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155680" y="651052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06B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005840" y="1719072"/>
            <a:ext cx="10149840" cy="786384"/>
          </a:xfrm>
          <a:prstGeom prst="roundRect">
            <a:avLst>
              <a:gd name="adj" fmla="val 18605"/>
            </a:avLst>
          </a:prstGeom>
          <a:solidFill>
            <a:srgbClr val="EAF4FA"/>
          </a:solidFill>
          <a:ln w="11430">
            <a:solidFill>
              <a:srgbClr val="D9DEE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5568" y="1773936"/>
            <a:ext cx="993038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252A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Case 1: n = 4q + 1</a:t>
            </a:r>
            <a:endParaRPr lang="en-US" sz="2900" dirty="0"/>
          </a:p>
        </p:txBody>
      </p:sp>
      <p:sp>
        <p:nvSpPr>
          <p:cNvPr id="10" name="Shape 8"/>
          <p:cNvSpPr/>
          <p:nvPr/>
        </p:nvSpPr>
        <p:spPr>
          <a:xfrm>
            <a:off x="1005840" y="2779776"/>
            <a:ext cx="10149840" cy="786384"/>
          </a:xfrm>
          <a:prstGeom prst="roundRect">
            <a:avLst>
              <a:gd name="adj" fmla="val 18605"/>
            </a:avLst>
          </a:prstGeom>
          <a:solidFill>
            <a:srgbClr val="F8EEF4"/>
          </a:solidFill>
          <a:ln w="11430">
            <a:solidFill>
              <a:srgbClr val="D9DEE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15568" y="2834640"/>
            <a:ext cx="993038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52A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n² = (4q + 1)²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1005840" y="3831336"/>
            <a:ext cx="10149840" cy="786384"/>
          </a:xfrm>
          <a:prstGeom prst="roundRect">
            <a:avLst>
              <a:gd name="adj" fmla="val 18605"/>
            </a:avLst>
          </a:prstGeom>
          <a:solidFill>
            <a:srgbClr val="F8EEF4"/>
          </a:solidFill>
          <a:ln w="11430">
            <a:solidFill>
              <a:srgbClr val="D9DEE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15568" y="3886200"/>
            <a:ext cx="993038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52A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= 16q² + 8q + 1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1005840" y="4901184"/>
            <a:ext cx="10149840" cy="786384"/>
          </a:xfrm>
          <a:prstGeom prst="roundRect">
            <a:avLst>
              <a:gd name="adj" fmla="val 18605"/>
            </a:avLst>
          </a:prstGeom>
          <a:solidFill>
            <a:srgbClr val="DDF4EF"/>
          </a:solidFill>
          <a:ln w="11430">
            <a:solidFill>
              <a:srgbClr val="D9DEE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15568" y="4956048"/>
            <a:ext cx="993038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52A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= 8(2q² + q) + 1</a:t>
            </a:r>
            <a:endParaRPr lang="en-US" sz="2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A52A75"/>
          </a:solidFill>
          <a:ln w="12700">
            <a:solidFill>
              <a:srgbClr val="A52A7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1201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52A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Odd-square proof: second case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362456"/>
            <a:ext cx="11155680" cy="0"/>
          </a:xfrm>
          <a:prstGeom prst="line">
            <a:avLst/>
          </a:prstGeom>
          <a:noFill/>
          <a:ln w="12700">
            <a:solidFill>
              <a:srgbClr val="D9DE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47104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6B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COMP233  |  Discrete Mathematics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155680" y="651052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06B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005840" y="1719072"/>
            <a:ext cx="10149840" cy="786384"/>
          </a:xfrm>
          <a:prstGeom prst="roundRect">
            <a:avLst>
              <a:gd name="adj" fmla="val 18605"/>
            </a:avLst>
          </a:prstGeom>
          <a:solidFill>
            <a:srgbClr val="EAF4FA"/>
          </a:solidFill>
          <a:ln w="11430">
            <a:solidFill>
              <a:srgbClr val="D9DEE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5568" y="1773936"/>
            <a:ext cx="993038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252A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Case 2: n = 4q + 3</a:t>
            </a:r>
            <a:endParaRPr lang="en-US" sz="2900" dirty="0"/>
          </a:p>
        </p:txBody>
      </p:sp>
      <p:sp>
        <p:nvSpPr>
          <p:cNvPr id="10" name="Shape 8"/>
          <p:cNvSpPr/>
          <p:nvPr/>
        </p:nvSpPr>
        <p:spPr>
          <a:xfrm>
            <a:off x="1005840" y="2779776"/>
            <a:ext cx="10149840" cy="786384"/>
          </a:xfrm>
          <a:prstGeom prst="roundRect">
            <a:avLst>
              <a:gd name="adj" fmla="val 18605"/>
            </a:avLst>
          </a:prstGeom>
          <a:solidFill>
            <a:srgbClr val="F8EEF4"/>
          </a:solidFill>
          <a:ln w="11430">
            <a:solidFill>
              <a:srgbClr val="D9DEE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15568" y="2834640"/>
            <a:ext cx="993038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52A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n² = (4q + 3)²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1005840" y="3831336"/>
            <a:ext cx="10149840" cy="786384"/>
          </a:xfrm>
          <a:prstGeom prst="roundRect">
            <a:avLst>
              <a:gd name="adj" fmla="val 18605"/>
            </a:avLst>
          </a:prstGeom>
          <a:solidFill>
            <a:srgbClr val="F8EEF4"/>
          </a:solidFill>
          <a:ln w="11430">
            <a:solidFill>
              <a:srgbClr val="D9DEE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15568" y="3886200"/>
            <a:ext cx="993038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52A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= 16q² + 24q + 9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1005840" y="4901184"/>
            <a:ext cx="10149840" cy="786384"/>
          </a:xfrm>
          <a:prstGeom prst="roundRect">
            <a:avLst>
              <a:gd name="adj" fmla="val 18605"/>
            </a:avLst>
          </a:prstGeom>
          <a:solidFill>
            <a:srgbClr val="DDF4EF"/>
          </a:solidFill>
          <a:ln w="11430">
            <a:solidFill>
              <a:srgbClr val="D9DEE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15568" y="4956048"/>
            <a:ext cx="993038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52A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= 8(2q² + 3q + 1) + 1</a:t>
            </a:r>
            <a:endParaRPr lang="en-US" sz="2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A52A75"/>
          </a:solidFill>
          <a:ln w="12700">
            <a:solidFill>
              <a:srgbClr val="A52A7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NUMBER THEORY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1201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52A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Concluding the proof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362456"/>
            <a:ext cx="11155680" cy="0"/>
          </a:xfrm>
          <a:prstGeom prst="line">
            <a:avLst/>
          </a:prstGeom>
          <a:noFill/>
          <a:ln w="12700">
            <a:solidFill>
              <a:srgbClr val="D9DE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47104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6B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COMP233  |  Discrete Mathematics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155680" y="651052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06B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" y="1746504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252A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either case, the term multiplying 8 is an integer: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749808" y="2715768"/>
            <a:ext cx="5184648" cy="1920240"/>
          </a:xfrm>
          <a:prstGeom prst="roundRect">
            <a:avLst>
              <a:gd name="adj" fmla="val 7619"/>
            </a:avLst>
          </a:prstGeom>
          <a:solidFill>
            <a:srgbClr val="EAF4FA"/>
          </a:solidFill>
          <a:ln w="11430">
            <a:solidFill>
              <a:srgbClr val="D9DE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2843784"/>
            <a:ext cx="4818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Case 1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932688" y="3346704"/>
            <a:ext cx="4818888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52A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 = 2q² + q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227064" y="2715768"/>
            <a:ext cx="5184648" cy="1920240"/>
          </a:xfrm>
          <a:prstGeom prst="roundRect">
            <a:avLst>
              <a:gd name="adj" fmla="val 7619"/>
            </a:avLst>
          </a:prstGeom>
          <a:solidFill>
            <a:srgbClr val="DDF4EF"/>
          </a:solidFill>
          <a:ln w="11430">
            <a:solidFill>
              <a:srgbClr val="D9DEE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9944" y="2843784"/>
            <a:ext cx="4818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Case 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409944" y="3346704"/>
            <a:ext cx="4818888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52A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 = 2q² + 3q + 1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804672" y="5212080"/>
            <a:ext cx="10570464" cy="768096"/>
          </a:xfrm>
          <a:prstGeom prst="roundRect">
            <a:avLst>
              <a:gd name="adj" fmla="val 19048"/>
            </a:avLst>
          </a:prstGeom>
          <a:solidFill>
            <a:srgbClr val="F8EEF4"/>
          </a:solidFill>
          <a:ln w="11430">
            <a:solidFill>
              <a:srgbClr val="D9DEE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5266944"/>
            <a:ext cx="103510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252A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Therefore, n² = 8m + 1 for every odd integer n.</a:t>
            </a:r>
            <a:endParaRPr lang="en-US" sz="2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A52A75"/>
          </a:solidFill>
          <a:ln w="12700">
            <a:solidFill>
              <a:srgbClr val="A52A7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ABSOLUTE VALUE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1201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52A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Absolute value: definition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362456"/>
            <a:ext cx="11155680" cy="0"/>
          </a:xfrm>
          <a:prstGeom prst="line">
            <a:avLst/>
          </a:prstGeom>
          <a:noFill/>
          <a:ln w="12700">
            <a:solidFill>
              <a:srgbClr val="D9DE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47104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6B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COMP233  |  Discrete Mathematics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155680" y="651052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06B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86384" y="1737360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52A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every real number x: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822960" y="2496312"/>
            <a:ext cx="10607040" cy="1051560"/>
          </a:xfrm>
          <a:prstGeom prst="roundRect">
            <a:avLst>
              <a:gd name="adj" fmla="val 13913"/>
            </a:avLst>
          </a:prstGeom>
          <a:solidFill>
            <a:srgbClr val="F8EEF4"/>
          </a:solidFill>
          <a:ln w="11430">
            <a:solidFill>
              <a:srgbClr val="D9DE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2551176"/>
            <a:ext cx="10387584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252A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|x| = x   if x ≥ 0;          |x| = −x   if x &lt; 0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822960" y="4014216"/>
            <a:ext cx="5074920" cy="1618488"/>
          </a:xfrm>
          <a:prstGeom prst="roundRect">
            <a:avLst>
              <a:gd name="adj" fmla="val 9040"/>
            </a:avLst>
          </a:prstGeom>
          <a:solidFill>
            <a:srgbClr val="EAF4FA"/>
          </a:solidFill>
          <a:ln w="11430">
            <a:solidFill>
              <a:srgbClr val="D9DEE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4142232"/>
            <a:ext cx="4709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Positive / zero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005840" y="4645152"/>
            <a:ext cx="47091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52A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|2| = 2,  |0| = 0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245352" y="4014216"/>
            <a:ext cx="5074920" cy="1618488"/>
          </a:xfrm>
          <a:prstGeom prst="roundRect">
            <a:avLst>
              <a:gd name="adj" fmla="val 9040"/>
            </a:avLst>
          </a:prstGeom>
          <a:solidFill>
            <a:srgbClr val="DDF4EF"/>
          </a:solidFill>
          <a:ln w="11430">
            <a:solidFill>
              <a:srgbClr val="D9DEE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28232" y="4142232"/>
            <a:ext cx="4709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Negative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428232" y="4645152"/>
            <a:ext cx="47091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52A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|−2| = 2</a:t>
            </a:r>
            <a:endParaRPr lang="en-US" sz="1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A52A75"/>
          </a:solidFill>
          <a:ln w="12700">
            <a:solidFill>
              <a:srgbClr val="A52A7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NUMBER THEORY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1201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52A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Absolute value is nonnegative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362456"/>
            <a:ext cx="11155680" cy="0"/>
          </a:xfrm>
          <a:prstGeom prst="line">
            <a:avLst/>
          </a:prstGeom>
          <a:noFill/>
          <a:ln w="12700">
            <a:solidFill>
              <a:srgbClr val="D9DE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47104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6B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COMP233  |  Discrete Mathematics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155680" y="651052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06B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77240" y="1691640"/>
            <a:ext cx="10616184" cy="923544"/>
          </a:xfrm>
          <a:prstGeom prst="roundRect">
            <a:avLst>
              <a:gd name="adj" fmla="val 15842"/>
            </a:avLst>
          </a:prstGeom>
          <a:solidFill>
            <a:srgbClr val="F8EEF4"/>
          </a:solidFill>
          <a:ln w="11430">
            <a:solidFill>
              <a:srgbClr val="D9DEE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86968" y="1746504"/>
            <a:ext cx="10396728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52A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|x| ≥ 0     and     |x| = 0 iff x = 0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758952" y="3063240"/>
            <a:ext cx="5212080" cy="2011680"/>
          </a:xfrm>
          <a:prstGeom prst="roundRect">
            <a:avLst>
              <a:gd name="adj" fmla="val 7273"/>
            </a:avLst>
          </a:prstGeom>
          <a:solidFill>
            <a:srgbClr val="EAF4FA"/>
          </a:solidFill>
          <a:ln w="11430">
            <a:solidFill>
              <a:srgbClr val="D9DEE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1832" y="3191256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x ≥ 0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941832" y="3694176"/>
            <a:ext cx="4846320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52A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|x| = x ≥ 0.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236208" y="3063240"/>
            <a:ext cx="5212080" cy="2011680"/>
          </a:xfrm>
          <a:prstGeom prst="roundRect">
            <a:avLst>
              <a:gd name="adj" fmla="val 7273"/>
            </a:avLst>
          </a:prstGeom>
          <a:solidFill>
            <a:srgbClr val="DDF4EF"/>
          </a:solidFill>
          <a:ln w="11430">
            <a:solidFill>
              <a:srgbClr val="D9DEE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19088" y="3191256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x &lt; 0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19088" y="3694176"/>
            <a:ext cx="4846320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52A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|x| = −x &gt; 0.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14400" y="5532120"/>
            <a:ext cx="10424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252A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follows directly from the piecewise definition.</a:t>
            </a:r>
            <a:endParaRPr lang="en-US" sz="2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A52A75"/>
          </a:solidFill>
          <a:ln w="12700">
            <a:solidFill>
              <a:srgbClr val="A52A7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PROOF BY CASES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1201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52A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Absolute-value bounds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362456"/>
            <a:ext cx="11155680" cy="0"/>
          </a:xfrm>
          <a:prstGeom prst="line">
            <a:avLst/>
          </a:prstGeom>
          <a:noFill/>
          <a:ln w="12700">
            <a:solidFill>
              <a:srgbClr val="D9DE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47104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6B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COMP233  |  Discrete Mathematics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155680" y="651052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06B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923544" y="1691640"/>
            <a:ext cx="10332720" cy="960120"/>
          </a:xfrm>
          <a:prstGeom prst="roundRect">
            <a:avLst>
              <a:gd name="adj" fmla="val 15238"/>
            </a:avLst>
          </a:prstGeom>
          <a:solidFill>
            <a:srgbClr val="F8EEF4"/>
          </a:solidFill>
          <a:ln w="11430">
            <a:solidFill>
              <a:srgbClr val="D9DEE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33272" y="1746504"/>
            <a:ext cx="101132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252A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−|r| ≤ r ≤ |r|</a:t>
            </a:r>
            <a:endParaRPr lang="en-US" sz="3300" dirty="0"/>
          </a:p>
        </p:txBody>
      </p:sp>
      <p:sp>
        <p:nvSpPr>
          <p:cNvPr id="10" name="Shape 8"/>
          <p:cNvSpPr/>
          <p:nvPr/>
        </p:nvSpPr>
        <p:spPr>
          <a:xfrm>
            <a:off x="722376" y="3054096"/>
            <a:ext cx="5248656" cy="2194560"/>
          </a:xfrm>
          <a:prstGeom prst="roundRect">
            <a:avLst>
              <a:gd name="adj" fmla="val 6667"/>
            </a:avLst>
          </a:prstGeom>
          <a:solidFill>
            <a:srgbClr val="EAF4FA"/>
          </a:solidFill>
          <a:ln w="11430">
            <a:solidFill>
              <a:srgbClr val="D9DEE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05256" y="3182112"/>
            <a:ext cx="4882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Case 1: r ≥ 0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905256" y="3685032"/>
            <a:ext cx="4882896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52A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|r| = r. Therefore −|r| ≤ r = |r|.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227064" y="3054096"/>
            <a:ext cx="5248656" cy="2194560"/>
          </a:xfrm>
          <a:prstGeom prst="roundRect">
            <a:avLst>
              <a:gd name="adj" fmla="val 6667"/>
            </a:avLst>
          </a:prstGeom>
          <a:solidFill>
            <a:srgbClr val="DDF4EF"/>
          </a:solidFill>
          <a:ln w="11430">
            <a:solidFill>
              <a:srgbClr val="D9DEE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9944" y="3182112"/>
            <a:ext cx="4882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Case 2: r &lt; 0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09944" y="3685032"/>
            <a:ext cx="4882896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52A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|r| = −r. Therefore −|r| = r &lt; |r|.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22960" y="5632704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9D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replace ≤ by &lt; : equality occurs at a boundary.</a:t>
            </a:r>
            <a:endParaRPr lang="en-US" sz="1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A52A75"/>
          </a:solidFill>
          <a:ln w="12700">
            <a:solidFill>
              <a:srgbClr val="A52A7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NUMBER THEORY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1201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52A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Absolute value is unchanged by negation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362456"/>
            <a:ext cx="11155680" cy="0"/>
          </a:xfrm>
          <a:prstGeom prst="line">
            <a:avLst/>
          </a:prstGeom>
          <a:noFill/>
          <a:ln w="12700">
            <a:solidFill>
              <a:srgbClr val="D9DE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47104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6B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COMP233  |  Discrete Mathematics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155680" y="651052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06B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23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950976" y="1737360"/>
            <a:ext cx="10287000" cy="914400"/>
          </a:xfrm>
          <a:prstGeom prst="roundRect">
            <a:avLst>
              <a:gd name="adj" fmla="val 16000"/>
            </a:avLst>
          </a:prstGeom>
          <a:solidFill>
            <a:srgbClr val="F8EEF4"/>
          </a:solidFill>
          <a:ln w="11430">
            <a:solidFill>
              <a:srgbClr val="D9DEE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60704" y="1792224"/>
            <a:ext cx="100675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52A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|−r| = |r|</a:t>
            </a:r>
            <a:endParaRPr lang="en-US" sz="3400" dirty="0"/>
          </a:p>
        </p:txBody>
      </p:sp>
      <p:sp>
        <p:nvSpPr>
          <p:cNvPr id="10" name="Shape 8"/>
          <p:cNvSpPr/>
          <p:nvPr/>
        </p:nvSpPr>
        <p:spPr>
          <a:xfrm>
            <a:off x="731520" y="3127248"/>
            <a:ext cx="5193792" cy="1965960"/>
          </a:xfrm>
          <a:prstGeom prst="roundRect">
            <a:avLst>
              <a:gd name="adj" fmla="val 7442"/>
            </a:avLst>
          </a:prstGeom>
          <a:solidFill>
            <a:srgbClr val="EAF4FA"/>
          </a:solidFill>
          <a:ln w="11430">
            <a:solidFill>
              <a:srgbClr val="D9DEE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255264"/>
            <a:ext cx="4828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 ≥ 0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914400" y="3758184"/>
            <a:ext cx="4828032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52A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|r| = r; |−r| = r.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217920" y="3127248"/>
            <a:ext cx="5193792" cy="1965960"/>
          </a:xfrm>
          <a:prstGeom prst="roundRect">
            <a:avLst>
              <a:gd name="adj" fmla="val 7442"/>
            </a:avLst>
          </a:prstGeom>
          <a:solidFill>
            <a:srgbClr val="DDF4EF"/>
          </a:solidFill>
          <a:ln w="11430">
            <a:solidFill>
              <a:srgbClr val="D9DEE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3255264"/>
            <a:ext cx="4828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 &lt; 0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00800" y="3758184"/>
            <a:ext cx="4828032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52A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|r| = −r; |−r| = −r.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60120" y="5522976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252A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Both sides measure the same distance from zero.</a:t>
            </a:r>
            <a:endParaRPr lang="en-US" sz="2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A52A75"/>
          </a:solidFill>
          <a:ln w="12700">
            <a:solidFill>
              <a:srgbClr val="A52A7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ABSOLUTE VALUE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1201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52A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triangle inequality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362456"/>
            <a:ext cx="11155680" cy="0"/>
          </a:xfrm>
          <a:prstGeom prst="line">
            <a:avLst/>
          </a:prstGeom>
          <a:noFill/>
          <a:ln w="12700">
            <a:solidFill>
              <a:srgbClr val="D9DE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47104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6B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COMP233  |  Discrete Mathematics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155680" y="651052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06B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22960" y="1691640"/>
            <a:ext cx="10607040" cy="932688"/>
          </a:xfrm>
          <a:prstGeom prst="roundRect">
            <a:avLst>
              <a:gd name="adj" fmla="val 15686"/>
            </a:avLst>
          </a:prstGeom>
          <a:solidFill>
            <a:srgbClr val="F8EEF4"/>
          </a:solidFill>
          <a:ln w="11430">
            <a:solidFill>
              <a:srgbClr val="D9DEE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2688" y="1746504"/>
            <a:ext cx="103875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500" b="1" dirty="0">
                <a:solidFill>
                  <a:srgbClr val="252A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|x + y| ≤ |x| + |y|</a:t>
            </a:r>
            <a:endParaRPr lang="en-US" sz="3500" dirty="0"/>
          </a:p>
        </p:txBody>
      </p:sp>
      <p:sp>
        <p:nvSpPr>
          <p:cNvPr id="10" name="Shape 8"/>
          <p:cNvSpPr/>
          <p:nvPr/>
        </p:nvSpPr>
        <p:spPr>
          <a:xfrm>
            <a:off x="722376" y="3081528"/>
            <a:ext cx="5239512" cy="2276856"/>
          </a:xfrm>
          <a:prstGeom prst="roundRect">
            <a:avLst>
              <a:gd name="adj" fmla="val 6426"/>
            </a:avLst>
          </a:prstGeom>
          <a:solidFill>
            <a:srgbClr val="EAF4FA"/>
          </a:solidFill>
          <a:ln w="11430">
            <a:solidFill>
              <a:srgbClr val="D9DEE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05256" y="3209544"/>
            <a:ext cx="4873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Case 1: x + y ≥ 0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905256" y="3712464"/>
            <a:ext cx="4873752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52A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|x + y| = x + y ≤ |x| + |y|.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236208" y="3081528"/>
            <a:ext cx="5239512" cy="2276856"/>
          </a:xfrm>
          <a:prstGeom prst="roundRect">
            <a:avLst>
              <a:gd name="adj" fmla="val 6426"/>
            </a:avLst>
          </a:prstGeom>
          <a:solidFill>
            <a:srgbClr val="DDF4EF"/>
          </a:solidFill>
          <a:ln w="11430">
            <a:solidFill>
              <a:srgbClr val="D9DEE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19088" y="3209544"/>
            <a:ext cx="4873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Case 2: x + y &lt; 0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19088" y="3712464"/>
            <a:ext cx="4873752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52A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|x + y| = −x − y ≤ |x| + |y|.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14400" y="5687568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252A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Example: |−3 + 5| = 2 ≤ 3 + 5 = 8.</a:t>
            </a:r>
            <a:endParaRPr lang="en-US" sz="1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A52A75"/>
          </a:solidFill>
          <a:ln w="12700">
            <a:solidFill>
              <a:srgbClr val="A52A7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CHECKPOINT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1201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52A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 check: find the invalid argument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362456"/>
            <a:ext cx="11155680" cy="0"/>
          </a:xfrm>
          <a:prstGeom prst="line">
            <a:avLst/>
          </a:prstGeom>
          <a:noFill/>
          <a:ln w="12700">
            <a:solidFill>
              <a:srgbClr val="D9DE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47104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6B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COMP233  |  Discrete Mathematics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155680" y="651052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06B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58952" y="1636776"/>
            <a:ext cx="10698480" cy="1920240"/>
          </a:xfrm>
          <a:prstGeom prst="roundRect">
            <a:avLst>
              <a:gd name="adj" fmla="val 7619"/>
            </a:avLst>
          </a:prstGeom>
          <a:solidFill>
            <a:srgbClr val="FFF5E2"/>
          </a:solidFill>
          <a:ln w="11430">
            <a:solidFill>
              <a:srgbClr val="D9DEE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41832" y="1764792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Student claim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41832" y="2267712"/>
            <a:ext cx="1033272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52A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“−19 = 6(−3) − 1, so −19 mod 6 = −1.”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23544" y="4014216"/>
            <a:ext cx="101498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52A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condition has been violated?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1901952" y="4892040"/>
            <a:ext cx="8321040" cy="740664"/>
          </a:xfrm>
          <a:prstGeom prst="roundRect">
            <a:avLst>
              <a:gd name="adj" fmla="val 19753"/>
            </a:avLst>
          </a:prstGeom>
          <a:solidFill>
            <a:srgbClr val="DDF4EF"/>
          </a:solidFill>
          <a:ln w="11430">
            <a:solidFill>
              <a:srgbClr val="D9DEE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11680" y="4946904"/>
            <a:ext cx="8101584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252A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 ≤ r &lt; d</a:t>
            </a:r>
            <a:endParaRPr lang="en-US" sz="3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A52A75"/>
          </a:solidFill>
          <a:ln w="12700">
            <a:solidFill>
              <a:srgbClr val="A52A7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 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1201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52A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concepts and common pitfalls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362456"/>
            <a:ext cx="11155680" cy="0"/>
          </a:xfrm>
          <a:prstGeom prst="line">
            <a:avLst/>
          </a:prstGeom>
          <a:noFill/>
          <a:ln w="12700">
            <a:solidFill>
              <a:srgbClr val="D9DE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47104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6B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COMP233  |  Discrete Mathematics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155680" y="651052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06B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26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77240" y="1892808"/>
            <a:ext cx="100584" cy="100584"/>
          </a:xfrm>
          <a:prstGeom prst="ellipse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719072"/>
            <a:ext cx="10405872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52A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 = dq + r; d must be positive, and 0 ≤ r &lt; d.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777240" y="2688336"/>
            <a:ext cx="100584" cy="100584"/>
          </a:xfrm>
          <a:prstGeom prst="ellipse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2514600"/>
            <a:ext cx="10405872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52A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quotient and remainder are unique.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777240" y="3483864"/>
            <a:ext cx="100584" cy="100584"/>
          </a:xfrm>
          <a:prstGeom prst="ellipse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3310128"/>
            <a:ext cx="10405872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52A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Possible remainders modulo d are 0, 1, …, d − 1.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777240" y="4279392"/>
            <a:ext cx="100584" cy="100584"/>
          </a:xfrm>
          <a:prstGeom prst="ellipse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4105656"/>
            <a:ext cx="10405872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52A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Cases in a proof must cover every possibility.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777240" y="5074920"/>
            <a:ext cx="100584" cy="100584"/>
          </a:xfrm>
          <a:prstGeom prst="ellipse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4901184"/>
            <a:ext cx="10405872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52A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Absolute value is nonnegative; ≤ may be an equality.</a:t>
            </a:r>
            <a:endParaRPr lang="en-US" sz="1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A52A75"/>
          </a:solidFill>
          <a:ln w="12700">
            <a:solidFill>
              <a:srgbClr val="A52A7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 B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1201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52A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Conceptual connections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362456"/>
            <a:ext cx="11155680" cy="0"/>
          </a:xfrm>
          <a:prstGeom prst="line">
            <a:avLst/>
          </a:prstGeom>
          <a:noFill/>
          <a:ln w="12700">
            <a:solidFill>
              <a:srgbClr val="D9DE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47104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6B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COMP233  |  Discrete Mathematics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155680" y="651052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06B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27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58952" y="1673352"/>
            <a:ext cx="10716768" cy="640080"/>
          </a:xfrm>
          <a:prstGeom prst="roundRect">
            <a:avLst>
              <a:gd name="adj" fmla="val 22857"/>
            </a:avLst>
          </a:prstGeom>
          <a:solidFill>
            <a:srgbClr val="F8EEF4"/>
          </a:solidFill>
          <a:ln w="11430">
            <a:solidFill>
              <a:srgbClr val="D9DEE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1792224"/>
            <a:ext cx="1022299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52A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Divisibility: d | n  ⇔  n mod d = 0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758952" y="2487168"/>
            <a:ext cx="10716768" cy="640080"/>
          </a:xfrm>
          <a:prstGeom prst="roundRect">
            <a:avLst>
              <a:gd name="adj" fmla="val 22857"/>
            </a:avLst>
          </a:prstGeom>
          <a:solidFill>
            <a:srgbClr val="EAF4FA"/>
          </a:solidFill>
          <a:ln w="11430">
            <a:solidFill>
              <a:srgbClr val="D9DEE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2606040"/>
            <a:ext cx="1022299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52A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Parity: n mod 2 classifies even / odd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758952" y="3300984"/>
            <a:ext cx="10716768" cy="640080"/>
          </a:xfrm>
          <a:prstGeom prst="roundRect">
            <a:avLst>
              <a:gd name="adj" fmla="val 22857"/>
            </a:avLst>
          </a:prstGeom>
          <a:solidFill>
            <a:srgbClr val="F8EEF4"/>
          </a:solidFill>
          <a:ln w="11430">
            <a:solidFill>
              <a:srgbClr val="D9DEE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3419856"/>
            <a:ext cx="1022299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52A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Modulo 4: odd n = 4q + 1 OR 4q + 3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758952" y="4114800"/>
            <a:ext cx="10716768" cy="640080"/>
          </a:xfrm>
          <a:prstGeom prst="roundRect">
            <a:avLst>
              <a:gd name="adj" fmla="val 22857"/>
            </a:avLst>
          </a:prstGeom>
          <a:solidFill>
            <a:srgbClr val="EAF4FA"/>
          </a:solidFill>
          <a:ln w="11430">
            <a:solidFill>
              <a:srgbClr val="D9DEE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4233672"/>
            <a:ext cx="1022299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52A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Proof by cases: exhaustive remainders give exhaustive cases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758952" y="4928616"/>
            <a:ext cx="10716768" cy="640080"/>
          </a:xfrm>
          <a:prstGeom prst="roundRect">
            <a:avLst>
              <a:gd name="adj" fmla="val 22857"/>
            </a:avLst>
          </a:prstGeom>
          <a:solidFill>
            <a:srgbClr val="F8EEF4"/>
          </a:solidFill>
          <a:ln w="11430">
            <a:solidFill>
              <a:srgbClr val="D9DEE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5047488"/>
            <a:ext cx="1022299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52A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Absolute value: sign-based case split proves inequalities</a:t>
            </a:r>
            <a:endParaRPr lang="en-US" sz="2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A52A75"/>
          </a:solidFill>
          <a:ln w="12700">
            <a:solidFill>
              <a:srgbClr val="A52A7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 C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1201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52A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Worked examples: contrasting cases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362456"/>
            <a:ext cx="11155680" cy="0"/>
          </a:xfrm>
          <a:prstGeom prst="line">
            <a:avLst/>
          </a:prstGeom>
          <a:noFill/>
          <a:ln w="12700">
            <a:solidFill>
              <a:srgbClr val="D9DE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47104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6B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COMP233  |  Discrete Mathematics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155680" y="651052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06B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28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94944" y="1664208"/>
            <a:ext cx="5257800" cy="1700784"/>
          </a:xfrm>
          <a:prstGeom prst="roundRect">
            <a:avLst>
              <a:gd name="adj" fmla="val 8602"/>
            </a:avLst>
          </a:prstGeom>
          <a:solidFill>
            <a:srgbClr val="DDF4EF"/>
          </a:solidFill>
          <a:ln w="11430">
            <a:solidFill>
              <a:srgbClr val="D9DEE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7824" y="1792224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 negative dividend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77824" y="2295144"/>
            <a:ext cx="489204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52A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−17 = 5(−4) + 3; remainder 3.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199632" y="1664208"/>
            <a:ext cx="5257800" cy="1700784"/>
          </a:xfrm>
          <a:prstGeom prst="roundRect">
            <a:avLst>
              <a:gd name="adj" fmla="val 8602"/>
            </a:avLst>
          </a:prstGeom>
          <a:solidFill>
            <a:srgbClr val="FFF5E2"/>
          </a:solidFill>
          <a:ln w="11430">
            <a:solidFill>
              <a:srgbClr val="D9DEE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82512" y="1792224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Invalid proposed remainder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382512" y="2295144"/>
            <a:ext cx="489204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52A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−17 = 5(−3) − 2; r &lt; 0, invalid.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94944" y="3730752"/>
            <a:ext cx="5257800" cy="1700784"/>
          </a:xfrm>
          <a:prstGeom prst="roundRect">
            <a:avLst>
              <a:gd name="adj" fmla="val 8602"/>
            </a:avLst>
          </a:prstGeom>
          <a:solidFill>
            <a:srgbClr val="EAF4FA"/>
          </a:solidFill>
          <a:ln w="11430">
            <a:solidFill>
              <a:srgbClr val="D9DEE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7824" y="3858768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Zero remainder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77824" y="4361688"/>
            <a:ext cx="489204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52A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 = 7(3) + 0; 7 divides 21.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199632" y="3730752"/>
            <a:ext cx="5257800" cy="1700784"/>
          </a:xfrm>
          <a:prstGeom prst="roundRect">
            <a:avLst>
              <a:gd name="adj" fmla="val 8602"/>
            </a:avLst>
          </a:prstGeom>
          <a:solidFill>
            <a:srgbClr val="F8EEF4"/>
          </a:solidFill>
          <a:ln w="11430">
            <a:solidFill>
              <a:srgbClr val="D9DEE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82512" y="3858768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Boundary: d &gt; n ≥ 0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382512" y="4361688"/>
            <a:ext cx="489204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52A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= 9(0) + 5; q = 0, r = 5.</a:t>
            </a:r>
            <a:endParaRPr lang="en-US" sz="1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A52A75"/>
          </a:solidFill>
          <a:ln w="12700">
            <a:solidFill>
              <a:srgbClr val="A52A7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 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1201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52A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Knowledge check — questions 1–4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362456"/>
            <a:ext cx="11155680" cy="0"/>
          </a:xfrm>
          <a:prstGeom prst="line">
            <a:avLst/>
          </a:prstGeom>
          <a:noFill/>
          <a:ln w="12700">
            <a:solidFill>
              <a:srgbClr val="D9DE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47104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6B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COMP233  |  Discrete Mathematics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155680" y="651052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06B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29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04672" y="1773936"/>
            <a:ext cx="100584" cy="100584"/>
          </a:xfrm>
          <a:prstGeom prst="ellipse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33272" y="1600200"/>
            <a:ext cx="1045159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252A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 Compute −29 div 6 and −29 mod 6.</a:t>
            </a:r>
            <a:endParaRPr lang="en-US" sz="23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A52A75"/>
          </a:solidFill>
          <a:ln w="12700">
            <a:solidFill>
              <a:srgbClr val="A52A7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 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1201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52A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Knowledge check — questions 5–8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362456"/>
            <a:ext cx="11155680" cy="0"/>
          </a:xfrm>
          <a:prstGeom prst="line">
            <a:avLst/>
          </a:prstGeom>
          <a:noFill/>
          <a:ln w="12700">
            <a:solidFill>
              <a:srgbClr val="D9DE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47104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6B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COMP233  |  Discrete Mathematics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155680" y="651052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06B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A52A75"/>
          </a:solidFill>
          <a:ln w="12700">
            <a:solidFill>
              <a:srgbClr val="A52A7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 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1201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52A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Answer key — questions 1–4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362456"/>
            <a:ext cx="11155680" cy="0"/>
          </a:xfrm>
          <a:prstGeom prst="line">
            <a:avLst/>
          </a:prstGeom>
          <a:noFill/>
          <a:ln w="12700">
            <a:solidFill>
              <a:srgbClr val="D9DE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47104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6B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COMP233  |  Discrete Mathematics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155680" y="651052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06B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49808" y="1755648"/>
            <a:ext cx="100584" cy="100584"/>
          </a:xfrm>
          <a:prstGeom prst="ellipse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78408" y="1581912"/>
            <a:ext cx="1057960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252A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 −29 = 6(−5) + 1. Quotient −5, remainder 1.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749808" y="2816352"/>
            <a:ext cx="100584" cy="100584"/>
          </a:xfrm>
          <a:prstGeom prst="ellipse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78408" y="2642616"/>
            <a:ext cx="1057960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252A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 False. The upper bound is strict: r &lt; d.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749808" y="3877056"/>
            <a:ext cx="100584" cy="100584"/>
          </a:xfrm>
          <a:prstGeom prst="ellipse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78408" y="3703320"/>
            <a:ext cx="1057960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252A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 B. Option A has the wrong general sign; C excludes zero.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749808" y="4937760"/>
            <a:ext cx="100584" cy="100584"/>
          </a:xfrm>
          <a:prstGeom prst="ellipse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78408" y="4764024"/>
            <a:ext cx="1057960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252A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 m = 7q + 3 ⇒ 5m = 7(5q + 2) + 1. Result: 1.</a:t>
            </a:r>
            <a:endParaRPr lang="en-US" sz="2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A52A75"/>
          </a:solidFill>
          <a:ln w="12700">
            <a:solidFill>
              <a:srgbClr val="A52A7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 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1201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52A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Answer key — questions 5–8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362456"/>
            <a:ext cx="11155680" cy="0"/>
          </a:xfrm>
          <a:prstGeom prst="line">
            <a:avLst/>
          </a:prstGeom>
          <a:noFill/>
          <a:ln w="12700">
            <a:solidFill>
              <a:srgbClr val="D9DE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47104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6B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COMP233  |  Discrete Mathematics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155680" y="651052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06B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32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49808" y="1755648"/>
            <a:ext cx="100584" cy="100584"/>
          </a:xfrm>
          <a:prstGeom prst="ellipse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78408" y="1581912"/>
            <a:ext cx="105796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52A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 Split m = 2k and m = 2k + 1; m + 1 flips parity.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749808" y="2834640"/>
            <a:ext cx="100584" cy="100584"/>
          </a:xfrm>
          <a:prstGeom prst="ellipse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78408" y="2660904"/>
            <a:ext cx="105796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52A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 Remainder −1 violates 0 ≤ r &lt; 4. Correct: −13 = 4(−4) + 3.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749808" y="3913632"/>
            <a:ext cx="100584" cy="100584"/>
          </a:xfrm>
          <a:prstGeom prst="ellipse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78408" y="3739896"/>
            <a:ext cx="105796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52A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 Even n = 2k ⇒ n² divisible by 4; odd n = 2k+1 ⇒ n² = 4(k²+k)+1.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749808" y="4992624"/>
            <a:ext cx="100584" cy="100584"/>
          </a:xfrm>
          <a:prstGeom prst="ellipse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78408" y="4818888"/>
            <a:ext cx="105796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52A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 False. x = 1, y = −1 gives 0 ≠ 2; the ≤ inequality holds.</a:t>
            </a:r>
            <a:endParaRPr lang="en-US" sz="2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A52A75"/>
          </a:solidFill>
          <a:ln w="12700">
            <a:solidFill>
              <a:srgbClr val="A52A7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 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1201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52A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Optional enrichment: why remainders matter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362456"/>
            <a:ext cx="11155680" cy="0"/>
          </a:xfrm>
          <a:prstGeom prst="line">
            <a:avLst/>
          </a:prstGeom>
          <a:noFill/>
          <a:ln w="12700">
            <a:solidFill>
              <a:srgbClr val="D9DE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47104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6B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COMP233  |  Discrete Mathematics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155680" y="651052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06B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33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31520" y="1673352"/>
            <a:ext cx="5285232" cy="2862072"/>
          </a:xfrm>
          <a:prstGeom prst="roundRect">
            <a:avLst>
              <a:gd name="adj" fmla="val 5112"/>
            </a:avLst>
          </a:prstGeom>
          <a:solidFill>
            <a:srgbClr val="EAF4FA"/>
          </a:solidFill>
          <a:ln w="11430">
            <a:solidFill>
              <a:srgbClr val="D9DEE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801368"/>
            <a:ext cx="4919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Circular indexing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14400" y="2304288"/>
            <a:ext cx="491947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52A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 rotate through seven weekdays or a fixed-size circular buffer, reduce offsets modulo the cycle length.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199632" y="1673352"/>
            <a:ext cx="5285232" cy="2862072"/>
          </a:xfrm>
          <a:prstGeom prst="roundRect">
            <a:avLst>
              <a:gd name="adj" fmla="val 5112"/>
            </a:avLst>
          </a:prstGeom>
          <a:solidFill>
            <a:srgbClr val="DDF4EF"/>
          </a:solidFill>
          <a:ln w="11430">
            <a:solidFill>
              <a:srgbClr val="D9DEE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82512" y="1801368"/>
            <a:ext cx="4919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Computing and security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382512" y="2304288"/>
            <a:ext cx="491947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52A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Remainder classes appear in hash bucket indexing and modular computations used in cryptography.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77824" y="5166360"/>
            <a:ext cx="10451592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Next: sequences and mathematical induction extend reasoning to infinitely many cases.</a:t>
            </a:r>
            <a:endParaRPr lang="en-US" sz="2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A52A75"/>
          </a:solidFill>
          <a:ln w="12700">
            <a:solidFill>
              <a:srgbClr val="A52A7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1201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52A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References and course resources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362456"/>
            <a:ext cx="11155680" cy="0"/>
          </a:xfrm>
          <a:prstGeom prst="line">
            <a:avLst/>
          </a:prstGeom>
          <a:noFill/>
          <a:ln w="12700">
            <a:solidFill>
              <a:srgbClr val="D9DE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47104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6B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COMP233  |  Discrete Mathematics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155680" y="651052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06B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34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49808" y="1892808"/>
            <a:ext cx="100584" cy="100584"/>
          </a:xfrm>
          <a:prstGeom prst="ellipse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78408" y="1719072"/>
            <a:ext cx="1045159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52A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textbook: Susanna S. Epp, Discrete Mathematics with Applications, 4th ed.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749808" y="2807208"/>
            <a:ext cx="100584" cy="100584"/>
          </a:xfrm>
          <a:prstGeom prst="ellipse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78408" y="2633472"/>
            <a:ext cx="1045159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52A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Original course materials: Prof. Mustafa Jarrar — www.jarrar.info/courses/DMath/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749808" y="3721608"/>
            <a:ext cx="100584" cy="100584"/>
          </a:xfrm>
          <a:prstGeom prst="ellipse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78408" y="3547872"/>
            <a:ext cx="1045159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52A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Updated course resources: github.com/RuwaYafa/BZU_Courses/tree/main/COMP233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749808" y="4636008"/>
            <a:ext cx="100584" cy="100584"/>
          </a:xfrm>
          <a:prstGeom prst="ellipse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78408" y="4462272"/>
            <a:ext cx="1045159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52A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Original slides circulated with assistance from Dr. Radi Jarrar.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32104" y="5925312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Ruwa' AbuHweidi @ 2026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Quotient-Remainder Theorem</dc:title>
  <dc:subject>COMP233 Lecture 4.4</dc:subject>
  <dc:creator>Ruwa' AbuHweidi</dc:creator>
  <cp:lastModifiedBy>Ruwa' AbuHweidi</cp:lastModifiedBy>
  <cp:revision>1</cp:revision>
  <dcterms:created xsi:type="dcterms:W3CDTF">2026-10-28T02:13:27Z</dcterms:created>
  <dcterms:modified xsi:type="dcterms:W3CDTF">2026-10-28T02:13:27Z</dcterms:modified>
</cp:coreProperties>
</file>