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078992"/>
            <a:ext cx="10149840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— Discrete Mathematics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05840" y="2157984"/>
            <a:ext cx="1014984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4.3 — Divisibility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05840" y="365760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05840" y="4892040"/>
            <a:ext cx="10149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171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Birzeit University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Divisibility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70078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508760"/>
            <a:ext cx="102412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Divisibility is a relationship between integers—not merely a calculation.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22960" y="2505456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13432"/>
            <a:ext cx="102412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supports precise mathematical proofs and algorithmic reasoning.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22960" y="3310128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118104"/>
            <a:ext cx="102412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factors help explain properties of numbers without large calculations.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922776"/>
            <a:ext cx="102412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Later: quotient–remainder, modular arithmetic, and computing applications.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56362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1014984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“a divides b” into an equation with an integer witness.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12848"/>
            <a:ext cx="1014984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valid, invalid, and boundary cases of divisibility.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054096"/>
            <a:ext cx="1014984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algebraic divisibility claims and transitivity directly.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22960" y="4087368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895344"/>
            <a:ext cx="1014984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Refute false statements with a counterexample.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4928616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736592"/>
            <a:ext cx="1014984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prime divisors and unique factorization to solve problems.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Definition: Divisibility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536192"/>
            <a:ext cx="10515600" cy="2286000"/>
          </a:xfrm>
          <a:prstGeom prst="roundRect">
            <a:avLst>
              <a:gd name="adj" fmla="val 4000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55648"/>
            <a:ext cx="9875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integers a and b, with a ≠ 0: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15568" y="2423160"/>
            <a:ext cx="98298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| b    ⇔    b = ak  for some integer 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10424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is a divisor (factor) of b; b is a multiple of a.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104241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6171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integer witness k establishes the divisibility claim.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Words, Symbols, and Integer Witnesses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4FA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relationship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4681728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“3 divides 21”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| 21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= 3 × 7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Witness: k = 7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73952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distinction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73952" y="2148840"/>
            <a:ext cx="466344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| b is a statement (true or false).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/ b is a number (when b ≠ 0).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≠ 0: a | b iff b/a is an integer.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Classification: Divides or Does Not Divide?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4FA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examples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4681728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| 21   because 21 = 3 × 7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| 40   because 40 = 5 × 8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| 42   because 42 = 7 × 6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73952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examples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73952" y="2148840"/>
            <a:ext cx="466344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−16 | 32   because 32 = (−16)(−2)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| −7   because −7 = 7(−1)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 | 66   because 66 = (−3)(−22)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Boundary Cases: Zero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4FA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as a multiple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4681728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nonzero integer a: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| 0 because 0 = a × 0.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5 | 0.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73952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as a divisor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73952" y="2148840"/>
            <a:ext cx="466344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the convention a ≠ 0, zero is not an allowed divisor.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write “0 | b” as a permitted divisibility claim.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condition on the divisor matters.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Positive Divisors: An Important Bound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10652760" cy="1353312"/>
          </a:xfrm>
          <a:prstGeom prst="roundRect">
            <a:avLst>
              <a:gd name="adj" fmla="val 6757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91640"/>
            <a:ext cx="98755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a,b &gt; 0 and a | b, then a ≤ b.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96112" y="3282696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090672"/>
            <a:ext cx="97840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Proof: b = ak for some integer k.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96112" y="394106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749040"/>
            <a:ext cx="97840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Since a,b &gt; 0, the integer k must satisfy k ≥ 1.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96112" y="4599432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407408"/>
            <a:ext cx="97840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 by a &gt; 0: b = ak ≥ a.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96112" y="525780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5065776"/>
            <a:ext cx="97840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b ≠ 0 and a &gt; 0, the general bound is a ≤ |b|.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Proving Divisibility: The Core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79222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00200"/>
            <a:ext cx="101498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what must be proved: d | 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270662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514600"/>
            <a:ext cx="101498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Rewrite the target expression as E = d × k.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68680" y="362102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29000"/>
            <a:ext cx="101498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that k is an integer using integer closure.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68680" y="453542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343400"/>
            <a:ext cx="101498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Conclude d | E by the definition of divisibility.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554480" y="5522976"/>
            <a:ext cx="9144000" cy="484632"/>
          </a:xfrm>
          <a:prstGeom prst="roundRect">
            <a:avLst>
              <a:gd name="adj" fmla="val 18868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5568696"/>
            <a:ext cx="877824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proof is not complete until the multiplier is known to be an integer.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Example: 3 Divides 3a + 3b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10515600" cy="4343400"/>
          </a:xfrm>
          <a:prstGeom prst="roundRect">
            <a:avLst>
              <a:gd name="adj" fmla="val 2105"/>
            </a:avLst>
          </a:prstGeom>
          <a:solidFill>
            <a:srgbClr val="EAF4FA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46504"/>
            <a:ext cx="97840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For all integers a,b, 3 | (3a + 3b).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417320" y="2761488"/>
            <a:ext cx="9144000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3a + 3b = 3(a + b)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216152" y="3886200"/>
            <a:ext cx="978408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a+b is an integer, it is a valid multiplier.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16152" y="4709160"/>
            <a:ext cx="96926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Therefore, 3 divides 3a + 3b.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Example: Another Algebraic Expression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389888"/>
            <a:ext cx="10561320" cy="4480560"/>
          </a:xfrm>
          <a:prstGeom prst="roundRect">
            <a:avLst>
              <a:gd name="adj" fmla="val 2041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728216"/>
            <a:ext cx="9692640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For all integers k,m, 5 | (10km).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417320" y="2834640"/>
            <a:ext cx="914400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10km = 5(2km)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188720" y="3986784"/>
            <a:ext cx="97840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2km is an integer.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4864608"/>
            <a:ext cx="97840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Therefore, 5 | 10km.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Divisibility Fails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4FA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Non-example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4681728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4 divide 15?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15/4 = 3.75 is not an integer.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4 ∤ 15.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73952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73952" y="2148840"/>
            <a:ext cx="466344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4 divide 16?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= 4 × 4, with integer multiplier 4.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4 | 16.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 Numbers and Divisibility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26464"/>
            <a:ext cx="10378440" cy="1920240"/>
          </a:xfrm>
          <a:prstGeom prst="roundRect">
            <a:avLst>
              <a:gd name="adj" fmla="val 4762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01368"/>
            <a:ext cx="9784080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integer p &gt; 1 is prime iff its only positive divisors are 1 and p.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60120" y="3858768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666744"/>
            <a:ext cx="97840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2, 3, 5, 7, 11 are prime.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60120" y="4462272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4270248"/>
            <a:ext cx="97840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is composite because 6 = 2 × 3.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60120" y="5065776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873752"/>
            <a:ext cx="97840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is neither prime nor composite.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60120" y="566928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5477256"/>
            <a:ext cx="97840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integers are not called prime under this definition.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Transitivity of Divisibility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04672" y="1408176"/>
            <a:ext cx="10561320" cy="1225296"/>
          </a:xfrm>
          <a:prstGeom prst="roundRect">
            <a:avLst>
              <a:gd name="adj" fmla="val 7463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627632"/>
            <a:ext cx="9784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| b and b | c, then a | c.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41832" y="333756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3145536"/>
            <a:ext cx="98298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b = ar and c = bs for integers r,s.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941832" y="4197096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4005072"/>
            <a:ext cx="98298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Substitute: c = bs = (ar)s = a(rs).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941832" y="5056632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4864608"/>
            <a:ext cx="98298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rs is an integer, a | c.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Discover the Transitivity Proof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4FA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4681728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| b means b = a × (integer).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| c means c = b × (integer).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express c as a times an integer.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73952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equations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73952" y="2148840"/>
            <a:ext cx="466344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ar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= bs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= (ar)s = a(rs)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Witness for a | c: k = rs.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 Divisor Theorem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4173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27632"/>
            <a:ext cx="1005840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integer n &gt; 1 has at least one prime divisor.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86968" y="325526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3063240"/>
            <a:ext cx="99212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 is prime, then the prime divisor is n itself.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86968" y="394106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749040"/>
            <a:ext cx="99212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 is composite, write n = ab with 1 &lt; a &lt; n.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86968" y="462686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434840"/>
            <a:ext cx="99212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 a further until a prime factor p appears.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86968" y="531266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5120640"/>
            <a:ext cx="99212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transitivity, p | a and a | n imply p | n.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 Prime Divisor Must Exist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545336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53312"/>
            <a:ext cx="10149840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 a nonempty set S of integers &gt; 1 with no prime divisor.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359152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67128"/>
            <a:ext cx="10149840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well-ordering, choose the least member m of 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3172968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980944"/>
            <a:ext cx="10149840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cannot be prime, so m = ab with 1 &lt; a &lt; m.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398678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794760"/>
            <a:ext cx="10149840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Minimality: a has a prime divisor p, hence p | m.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608576"/>
            <a:ext cx="10149840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Contradiction: m does have a prime divisor.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5742432"/>
            <a:ext cx="10241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minimal-counterexample / well-ordering proof idea.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Counterexample: A False Generalization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0392" y="1426464"/>
            <a:ext cx="10424160" cy="1207008"/>
          </a:xfrm>
          <a:prstGeom prst="roundRect">
            <a:avLst>
              <a:gd name="adj" fmla="val 7576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1618488"/>
            <a:ext cx="99212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If a | b and b | a, then a = b.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96112" y="3273552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081528"/>
            <a:ext cx="987552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a = 2 and b = −2.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96112" y="397764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785616"/>
            <a:ext cx="987552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| −2 because −2 = 2(−1).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96112" y="4681728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489704"/>
            <a:ext cx="987552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−2 | 2 because 2 = (−2)(−1).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96112" y="5385816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5193792"/>
            <a:ext cx="987552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2 ≠ −2: therefore the universal claim is false.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Repairing the False Claim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4FA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conclusion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4681728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nonzero integers a,b: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| b and b | a, then |a| = |b|.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Equivalently, a = ±b.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73952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Positive-integer special case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73952" y="2148840"/>
            <a:ext cx="466344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a,b &gt; 0 and a | b and b | a, then a = b.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a ≤ b and b ≤ a.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Fundamental Theorem of Arithmetic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453896"/>
            <a:ext cx="10652760" cy="2148840"/>
          </a:xfrm>
          <a:prstGeom prst="roundRect">
            <a:avLst>
              <a:gd name="adj" fmla="val 4255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46504"/>
            <a:ext cx="9966960" cy="1517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integer greater than 1 is prime or can be written as a product of prime numbers, uniquely up to the order of factors.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104241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72 = 2 × 2 × 2 × 3 × 3 = 2³ × 3²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0120" y="5111496"/>
            <a:ext cx="102870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6171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Reordering prime factors does not change the factorization.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Prime-Factored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77824" y="1508760"/>
            <a:ext cx="10351008" cy="4297680"/>
          </a:xfrm>
          <a:prstGeom prst="roundRect">
            <a:avLst>
              <a:gd name="adj" fmla="val 2128"/>
            </a:avLst>
          </a:prstGeom>
          <a:solidFill>
            <a:srgbClr val="EAF4FA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9576" y="1755648"/>
            <a:ext cx="9829800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3300 in standard prime-factored form.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280160" y="2660904"/>
            <a:ext cx="9601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3300 = 33 × 100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3410712"/>
            <a:ext cx="9601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(3 × 11)(4 × 25)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4160520"/>
            <a:ext cx="9601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(3 × 11)(2² × 5²)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80160" y="4919472"/>
            <a:ext cx="9601200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2² × 3 × 5² × 11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Application: Must 17 Divide 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35024"/>
            <a:ext cx="10789920" cy="1408176"/>
          </a:xfrm>
          <a:prstGeom prst="roundRect">
            <a:avLst>
              <a:gd name="adj" fmla="val 6494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64208"/>
            <a:ext cx="10469880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8×7×6×5×4×3×2×m = 17×16×15×14×13×12×11×10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3273552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081528"/>
            <a:ext cx="100126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right-hand side contains the prime factor 17.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68680" y="3950208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758184"/>
            <a:ext cx="100126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of the explicit left-hand factors 2,3,4,5,6,7,8 contains a factor 17.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68680" y="462686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434840"/>
            <a:ext cx="100126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prime factorization forces the factor 17 to occur in m.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68680" y="530352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5111496"/>
            <a:ext cx="100126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17 | m.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Check: Test the Claim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4FA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4681728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Does 7 | 0?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Does 0 | 7? (standard convention)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Does −6 | 42?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Does 4 | 15?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73952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73952" y="2148840"/>
            <a:ext cx="466344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claim: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an integer witness, or show why no integer witness exists.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zero and sign conventions.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Visual Decision Procedure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88720" y="1435608"/>
            <a:ext cx="9784080" cy="685800"/>
          </a:xfrm>
          <a:prstGeom prst="roundRect">
            <a:avLst>
              <a:gd name="adj" fmla="val 13333"/>
            </a:avLst>
          </a:prstGeom>
          <a:solidFill>
            <a:srgbClr val="EAF4FA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527048"/>
            <a:ext cx="9326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integers a,b: is a an allowed nonzero divisor?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 rot="5400000">
            <a:off x="5797296" y="2185416"/>
            <a:ext cx="530352" cy="292608"/>
          </a:xfrm>
          <a:prstGeom prst="chevron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2615184"/>
            <a:ext cx="7223760" cy="777240"/>
          </a:xfrm>
          <a:prstGeom prst="roundRect">
            <a:avLst>
              <a:gd name="adj" fmla="val 11765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706624"/>
            <a:ext cx="68580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 be written as a×k, with k ∈ Z?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38928" y="3429000"/>
            <a:ext cx="0" cy="356616"/>
          </a:xfrm>
          <a:prstGeom prst="line">
            <a:avLst/>
          </a:prstGeom>
          <a:noFill/>
          <a:ln w="25400">
            <a:solidFill>
              <a:srgbClr val="16825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0" y="3429000"/>
            <a:ext cx="0" cy="356616"/>
          </a:xfrm>
          <a:prstGeom prst="line">
            <a:avLst/>
          </a:prstGeom>
          <a:noFill/>
          <a:ln w="25400">
            <a:solidFill>
              <a:srgbClr val="BC384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03120" y="3849624"/>
            <a:ext cx="3749040" cy="722376"/>
          </a:xfrm>
          <a:prstGeom prst="roundRect">
            <a:avLst>
              <a:gd name="adj" fmla="val 12658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3849624"/>
            <a:ext cx="3749040" cy="722376"/>
          </a:xfrm>
          <a:prstGeom prst="roundRect">
            <a:avLst>
              <a:gd name="adj" fmla="val 12658"/>
            </a:avLst>
          </a:prstGeom>
          <a:solidFill>
            <a:srgbClr val="FBEAED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3941064"/>
            <a:ext cx="352044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86C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 → a | b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565392" y="3941064"/>
            <a:ext cx="347472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02C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→ a ∤ b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417320" y="5239512"/>
            <a:ext cx="93268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171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= 0: excluded under this lecture’s nonzero-divisor convention.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A — Core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0934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17320"/>
            <a:ext cx="10104120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| b ⇔ b = ak for some k ∈ Z, with a ≠ 0.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12848"/>
            <a:ext cx="10104120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a ≠ 0, a | 0; a divisor may be negative.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008376"/>
            <a:ext cx="10104120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proof: construct an integer multiplier.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22960" y="3995928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803904"/>
            <a:ext cx="10104120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Transitivity: a | b and b | c imply a | c.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4791456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599432"/>
            <a:ext cx="10104120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n &gt; 1 has a prime divisor and unique prime factorization.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B — Conceptual Connections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08176"/>
            <a:ext cx="101498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→ algebraic factorization → existence of integer witness.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85416"/>
            <a:ext cx="101498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Mutual divisibility → equal absolute values (nonzero integers).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962656"/>
            <a:ext cx="101498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mutual divisibility → equality.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739896"/>
            <a:ext cx="101498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Transitivity → transfer of prime factors across a product.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517136"/>
            <a:ext cx="101498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factorization → reasoning about divisibility without multiplying.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C — Contrasting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4FA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cases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4681728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| 54 because 54 = 6×9.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| −7 because −7 = 7(−1).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| 0 because 0 = 5×0.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73952" y="1618488"/>
            <a:ext cx="480060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or special cases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73952" y="2148840"/>
            <a:ext cx="466344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∤ 15 because 15/4 ∉ Z.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is not an allowed divisor.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Mutual divisibility does not force a=b for signed integers.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D — Knowledge Check 1/8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0392" y="1545336"/>
            <a:ext cx="10396728" cy="1965960"/>
          </a:xfrm>
          <a:prstGeom prst="roundRect">
            <a:avLst>
              <a:gd name="adj" fmla="val 4651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856232"/>
            <a:ext cx="983894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proves 5 | (15x−10) for all integers x?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78992" y="4160520"/>
            <a:ext cx="9966960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171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15x−10 is positive.     B. 15x−10=5(3x−2).     C. 5&lt;15.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33272" y="5577840"/>
            <a:ext cx="100584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 before checking the answer key.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D — Knowledge Check 2/8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29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0392" y="1545336"/>
            <a:ext cx="10396728" cy="1965960"/>
          </a:xfrm>
          <a:prstGeom prst="roundRect">
            <a:avLst>
              <a:gd name="adj" fmla="val 4651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856232"/>
            <a:ext cx="983894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or false? Every nonzero integer divides 0.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78992" y="4160520"/>
            <a:ext cx="9966960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171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an integer witness.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33272" y="5577840"/>
            <a:ext cx="100584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 before checking the answer key.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D — Knowledge Check 3/8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0392" y="1545336"/>
            <a:ext cx="10396728" cy="1965960"/>
          </a:xfrm>
          <a:prstGeom prst="roundRect">
            <a:avLst>
              <a:gd name="adj" fmla="val 4651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856232"/>
            <a:ext cx="983894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or false? If a | b, then b | a.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78992" y="4160520"/>
            <a:ext cx="9966960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171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or give a counterexample.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33272" y="5577840"/>
            <a:ext cx="100584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 before checking the answer key.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D — Knowledge Check 4/8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31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0392" y="1545336"/>
            <a:ext cx="10396728" cy="1965960"/>
          </a:xfrm>
          <a:prstGeom prst="roundRect">
            <a:avLst>
              <a:gd name="adj" fmla="val 4651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856232"/>
            <a:ext cx="983894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error: 6 | (6a+3) because both terms are multiples of 3.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78992" y="4160520"/>
            <a:ext cx="9966960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171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what divisor is actually supported.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33272" y="5577840"/>
            <a:ext cx="100584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 before checking the answer key.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D — Knowledge Check 5/8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32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0392" y="1545336"/>
            <a:ext cx="10396728" cy="1965960"/>
          </a:xfrm>
          <a:prstGeom prst="roundRect">
            <a:avLst>
              <a:gd name="adj" fmla="val 4651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856232"/>
            <a:ext cx="983894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| b and b | c, show a | c.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78992" y="4160520"/>
            <a:ext cx="9966960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171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integer multipliers.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33272" y="5577840"/>
            <a:ext cx="100584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 before checking the answer key.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D — Knowledge Check 6/8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33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0392" y="1545336"/>
            <a:ext cx="10396728" cy="1965960"/>
          </a:xfrm>
          <a:prstGeom prst="roundRect">
            <a:avLst>
              <a:gd name="adj" fmla="val 4651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856232"/>
            <a:ext cx="983894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 prime integer greater than 1 have two distinct positive divisors?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78992" y="4160520"/>
            <a:ext cx="9966960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171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meaning of “distinct”.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33272" y="5577840"/>
            <a:ext cx="100584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 before checking the answer key.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D — Knowledge Check 7/8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34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0392" y="1545336"/>
            <a:ext cx="10396728" cy="1965960"/>
          </a:xfrm>
          <a:prstGeom prst="roundRect">
            <a:avLst>
              <a:gd name="adj" fmla="val 4651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856232"/>
            <a:ext cx="983894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360 in standard prime-factored form.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78992" y="4160520"/>
            <a:ext cx="9966960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171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prime powers.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33272" y="5577840"/>
            <a:ext cx="100584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 before checking the answer key.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D — Knowledge Check 8/8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35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0392" y="1545336"/>
            <a:ext cx="10396728" cy="1965960"/>
          </a:xfrm>
          <a:prstGeom prst="roundRect">
            <a:avLst>
              <a:gd name="adj" fmla="val 4651"/>
            </a:avLst>
          </a:prstGeom>
          <a:solidFill>
            <a:srgbClr val="F9EFF5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856232"/>
            <a:ext cx="9838944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p is prime, p | xy does p | x or p | y follow?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78992" y="4160520"/>
            <a:ext cx="9966960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171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your reasoning (Euclid’s lemma).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33272" y="5577840"/>
            <a:ext cx="100584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 before checking the answer key.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E — Answer Key 1/8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36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05872" cy="4297680"/>
          </a:xfrm>
          <a:prstGeom prst="roundRect">
            <a:avLst>
              <a:gd name="adj" fmla="val 2128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9576" y="1810512"/>
            <a:ext cx="983894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1: B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79576" y="2788920"/>
            <a:ext cx="982065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witness is k=3x−2 ∈ Z. Options A and C do not establish an integer multiple.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E — Answer Key 2/8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37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05872" cy="4297680"/>
          </a:xfrm>
          <a:prstGeom prst="roundRect">
            <a:avLst>
              <a:gd name="adj" fmla="val 2128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9576" y="1810512"/>
            <a:ext cx="983894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2: True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79576" y="2788920"/>
            <a:ext cx="982065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0=a×0 for every nonzero integer a. This does not permit zero as a divisor.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E — Answer Key 3/8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38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05872" cy="4297680"/>
          </a:xfrm>
          <a:prstGeom prst="roundRect">
            <a:avLst>
              <a:gd name="adj" fmla="val 2128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9576" y="1810512"/>
            <a:ext cx="983894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3: False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79576" y="2788920"/>
            <a:ext cx="982065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| 6, but 6 ∤ 2. Divisibility does not generally reverse.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E — Answer Key 4/8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39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05872" cy="4297680"/>
          </a:xfrm>
          <a:prstGeom prst="roundRect">
            <a:avLst>
              <a:gd name="adj" fmla="val 2128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9576" y="1810512"/>
            <a:ext cx="983894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4: The conclusion is unsupported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79576" y="2788920"/>
            <a:ext cx="982065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6a+3=3(2a+1), so 3 divides it. Taking a=0 gives 3, which 6 does not divide.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E — Answer Key 5/8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40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05872" cy="4297680"/>
          </a:xfrm>
          <a:prstGeom prst="roundRect">
            <a:avLst>
              <a:gd name="adj" fmla="val 2128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9576" y="1810512"/>
            <a:ext cx="983894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5: Direct proof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79576" y="2788920"/>
            <a:ext cx="982065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b=ar, c=bs. Then c=a(rs), and rs ∈ Z.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E — Answer Key 6/8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41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05872" cy="4297680"/>
          </a:xfrm>
          <a:prstGeom prst="roundRect">
            <a:avLst>
              <a:gd name="adj" fmla="val 2128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9576" y="1810512"/>
            <a:ext cx="983894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6: Yes—exactly two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79576" y="2788920"/>
            <a:ext cx="982065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prime p, positive divisors are precisely 1 and p; they are distinct because p&gt;1.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E — Answer Key 7/8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42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05872" cy="4297680"/>
          </a:xfrm>
          <a:prstGeom prst="roundRect">
            <a:avLst>
              <a:gd name="adj" fmla="val 2128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9576" y="1810512"/>
            <a:ext cx="983894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7: 360 = 2³ × 3² × 5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79576" y="2788920"/>
            <a:ext cx="982065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360=36×10=(2²×3²)(2×5).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E — Answer Key 8/8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43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05872" cy="4297680"/>
          </a:xfrm>
          <a:prstGeom prst="roundRect">
            <a:avLst>
              <a:gd name="adj" fmla="val 2128"/>
            </a:avLst>
          </a:prstGeom>
          <a:solidFill>
            <a:srgbClr val="EAF7F0"/>
          </a:solidFill>
          <a:ln w="12700">
            <a:solidFill>
              <a:srgbClr val="D5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9576" y="1810512"/>
            <a:ext cx="983894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8: Yes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79576" y="2788920"/>
            <a:ext cx="982065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Euclid’s lemma: for prime p, p | xy implies p | x or p | y. This is an enrichment beyond the original main lecture.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F — Applications and Enrichment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44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9536" y="1627632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1435608"/>
            <a:ext cx="1010412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science: divisibility checks appear in loops and integer algorithms.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59536" y="2523744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331720"/>
            <a:ext cx="1010412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Cybersecurity: primes and factorization underpin important number-theoretic constructions.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59536" y="3419856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3227832"/>
            <a:ext cx="1010412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Euclid’s lemma: for prime p, p | ab implies p | a or p | b.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59536" y="4315968"/>
            <a:ext cx="91440" cy="91440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4123944"/>
            <a:ext cx="1010412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lecture: n = dq + r, where d &gt; 0 and 0 ≤ r &lt; d.</a:t>
            </a:r>
            <a:endParaRPr lang="en-US" sz="2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Course Resources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0972800" cy="0"/>
          </a:xfrm>
          <a:prstGeom prst="line">
            <a:avLst/>
          </a:prstGeom>
          <a:noFill/>
          <a:ln w="12700">
            <a:solidFill>
              <a:srgbClr val="D4B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COMP233  •  Number Theory and Proof 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F"/>
                </a:solidFill>
              </a:rPr>
              <a:t>45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332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reference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105156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Susanna S. Epp, Discrete Mathematics with Applications, 4th ed., §4.3.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10332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course materials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346704"/>
            <a:ext cx="1051560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Mustafa Jarrar  ·  https://www.jarrar.info/courses/DMath/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261104"/>
            <a:ext cx="10332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course resources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4681728"/>
            <a:ext cx="1051560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6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https://github.com/RuwaYafa/BZU_Courses/tree/main/COMP233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1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Acknowledgment: Dr. Radi Jarrar for sharing and adapting course slides.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COMP233 Lecture 4.3 Divisibility</dc:title>
  <dc:subject>COMP233 Lecture 4.3 Divisibility</dc:subject>
  <dc:creator>Ruwa' AbuHweidi</dc:creator>
  <cp:lastModifiedBy>Ruwa' AbuHweidi</cp:lastModifiedBy>
  <cp:revision>1</cp:revision>
  <dcterms:created xsi:type="dcterms:W3CDTF">2026-10-28T01:45:56Z</dcterms:created>
  <dcterms:modified xsi:type="dcterms:W3CDTF">2026-10-28T01:45:56Z</dcterms:modified>
</cp:coreProperties>
</file>